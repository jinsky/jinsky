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35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4754880" cy="68580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2286000" y="-2286000"/>
            <a:ext cx="4572000" cy="4572000"/>
          </a:xfrm>
          <a:prstGeom prst="ellipse">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71600" y="5029200"/>
            <a:ext cx="3200400" cy="3200400"/>
          </a:xfrm>
          <a:prstGeom prst="ellipse">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3200400" y="5486400"/>
            <a:ext cx="2286000" cy="2286000"/>
          </a:xfrm>
          <a:prstGeom prst="ellipse">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371600" y="1645920"/>
            <a:ext cx="914400" cy="914400"/>
          </a:xfrm>
          <a:prstGeom prst="ellipse">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657600" y="2286000"/>
            <a:ext cx="548640" cy="548640"/>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48640" y="548640"/>
            <a:ext cx="640080" cy="640080"/>
          </a:xfrm>
          <a:prstGeom prst="ellipse">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48640"/>
            <a:ext cx="640080" cy="640080"/>
          </a:xfrm>
          <a:prstGeom prst="rect">
            <a:avLst/>
          </a:prstGeom>
          <a:noFill/>
        </p:spPr>
        <p:txBody>
          <a:bodyPr wrap="square" lIns="0" rIns="0" tIns="0" bIns="0" anchor="ctr">
            <a:spAutoFit/>
          </a:bodyPr>
          <a:lstStyle/>
          <a:p>
            <a:pPr algn="ctr">
              <a:lnSpc>
                <a:spcPct val="115000"/>
              </a:lnSpc>
              <a:spcAft>
                <a:spcPts val="0"/>
              </a:spcAft>
            </a:pPr>
            <a:r>
              <a:rPr sz="2800" b="1" i="0">
                <a:solidFill>
                  <a:srgbClr val="093542"/>
                </a:solidFill>
                <a:latin typeface="Georgia"/>
              </a:rPr>
              <a:t>M</a:t>
            </a:r>
          </a:p>
        </p:txBody>
      </p:sp>
      <p:sp>
        <p:nvSpPr>
          <p:cNvPr id="11" name="TextBox 10"/>
          <p:cNvSpPr txBox="1"/>
          <p:nvPr/>
        </p:nvSpPr>
        <p:spPr>
          <a:xfrm>
            <a:off x="1280160" y="640080"/>
            <a:ext cx="3200400" cy="457200"/>
          </a:xfrm>
          <a:prstGeom prst="rect">
            <a:avLst/>
          </a:prstGeom>
          <a:noFill/>
        </p:spPr>
        <p:txBody>
          <a:bodyPr wrap="square" lIns="0" rIns="0" tIns="0" bIns="0" anchor="t">
            <a:spAutoFit/>
          </a:bodyPr>
          <a:lstStyle/>
          <a:p>
            <a:pPr algn="l">
              <a:lnSpc>
                <a:spcPct val="115000"/>
              </a:lnSpc>
              <a:spcAft>
                <a:spcPts val="0"/>
              </a:spcAft>
            </a:pPr>
            <a:r>
              <a:rPr sz="1200" b="1" i="0">
                <a:solidFill>
                  <a:srgbClr val="F7F3EC"/>
                </a:solidFill>
                <a:latin typeface="Calibri"/>
              </a:rPr>
              <a:t>KLINIK MERPATI</a:t>
            </a:r>
          </a:p>
        </p:txBody>
      </p:sp>
      <p:sp>
        <p:nvSpPr>
          <p:cNvPr id="12" name="TextBox 11"/>
          <p:cNvSpPr txBox="1"/>
          <p:nvPr/>
        </p:nvSpPr>
        <p:spPr>
          <a:xfrm>
            <a:off x="1280160" y="868680"/>
            <a:ext cx="3200400" cy="274320"/>
          </a:xfrm>
          <a:prstGeom prst="rect">
            <a:avLst/>
          </a:prstGeom>
          <a:noFill/>
        </p:spPr>
        <p:txBody>
          <a:bodyPr wrap="square" lIns="0" rIns="0" tIns="0" bIns="0" anchor="t">
            <a:spAutoFit/>
          </a:bodyPr>
          <a:lstStyle/>
          <a:p>
            <a:pPr algn="l">
              <a:lnSpc>
                <a:spcPct val="115000"/>
              </a:lnSpc>
              <a:spcAft>
                <a:spcPts val="0"/>
              </a:spcAft>
            </a:pPr>
            <a:r>
              <a:rPr sz="900" b="0" i="1">
                <a:solidFill>
                  <a:srgbClr val="E8D8C4"/>
                </a:solidFill>
                <a:latin typeface="Calibri"/>
              </a:rPr>
              <a:t>Avian Diagnostic Expert System</a:t>
            </a:r>
          </a:p>
        </p:txBody>
      </p:sp>
      <p:sp>
        <p:nvSpPr>
          <p:cNvPr id="13" name="Oval 12"/>
          <p:cNvSpPr/>
          <p:nvPr/>
        </p:nvSpPr>
        <p:spPr>
          <a:xfrm>
            <a:off x="1463040" y="2377440"/>
            <a:ext cx="1828800" cy="1828800"/>
          </a:xfrm>
          <a:prstGeom prst="ellipse">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691640" y="2606040"/>
            <a:ext cx="1371600" cy="1371600"/>
          </a:xfrm>
          <a:prstGeom prst="ellipse">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691640" y="2606040"/>
            <a:ext cx="1371600" cy="1371600"/>
          </a:xfrm>
          <a:prstGeom prst="rect">
            <a:avLst/>
          </a:prstGeom>
          <a:noFill/>
        </p:spPr>
        <p:txBody>
          <a:bodyPr wrap="square" lIns="0" rIns="0" tIns="0" bIns="0" anchor="ctr">
            <a:spAutoFit/>
          </a:bodyPr>
          <a:lstStyle/>
          <a:p>
            <a:pPr algn="ctr">
              <a:lnSpc>
                <a:spcPct val="115000"/>
              </a:lnSpc>
              <a:spcAft>
                <a:spcPts val="0"/>
              </a:spcAft>
            </a:pPr>
            <a:r>
              <a:rPr sz="7000" b="1" i="0">
                <a:solidFill>
                  <a:srgbClr val="E9C46A"/>
                </a:solidFill>
                <a:latin typeface="Georgia"/>
              </a:rPr>
              <a:t>+</a:t>
            </a:r>
          </a:p>
        </p:txBody>
      </p:sp>
      <p:sp>
        <p:nvSpPr>
          <p:cNvPr id="16" name="TextBox 15"/>
          <p:cNvSpPr txBox="1"/>
          <p:nvPr/>
        </p:nvSpPr>
        <p:spPr>
          <a:xfrm>
            <a:off x="548640" y="4572000"/>
            <a:ext cx="4023360" cy="365760"/>
          </a:xfrm>
          <a:prstGeom prst="rect">
            <a:avLst/>
          </a:prstGeom>
          <a:noFill/>
        </p:spPr>
        <p:txBody>
          <a:bodyPr wrap="square" lIns="0" rIns="0" tIns="0" bIns="0" anchor="t">
            <a:spAutoFit/>
          </a:bodyPr>
          <a:lstStyle/>
          <a:p>
            <a:pPr algn="l">
              <a:lnSpc>
                <a:spcPct val="115000"/>
              </a:lnSpc>
              <a:spcAft>
                <a:spcPts val="0"/>
              </a:spcAft>
            </a:pPr>
            <a:r>
              <a:rPr sz="1100" b="1" i="0">
                <a:solidFill>
                  <a:srgbClr val="E9C46A"/>
                </a:solidFill>
                <a:latin typeface="Calibri"/>
              </a:rPr>
              <a:t>SISTEM PAKAR</a:t>
            </a:r>
          </a:p>
        </p:txBody>
      </p:sp>
      <p:sp>
        <p:nvSpPr>
          <p:cNvPr id="17" name="TextBox 16"/>
          <p:cNvSpPr txBox="1"/>
          <p:nvPr/>
        </p:nvSpPr>
        <p:spPr>
          <a:xfrm>
            <a:off x="548640" y="4892040"/>
            <a:ext cx="4023360" cy="1554480"/>
          </a:xfrm>
          <a:prstGeom prst="rect">
            <a:avLst/>
          </a:prstGeom>
          <a:noFill/>
        </p:spPr>
        <p:txBody>
          <a:bodyPr wrap="square" lIns="0" rIns="0" tIns="0" bIns="0" anchor="t">
            <a:spAutoFit/>
          </a:bodyPr>
          <a:lstStyle/>
          <a:p>
            <a:pPr algn="l">
              <a:lnSpc>
                <a:spcPct val="105000"/>
              </a:lnSpc>
              <a:spcAft>
                <a:spcPts val="0"/>
              </a:spcAft>
            </a:pPr>
            <a:r>
              <a:rPr sz="2800" b="1" i="0">
                <a:solidFill>
                  <a:srgbClr val="F7F3EC"/>
                </a:solidFill>
                <a:latin typeface="Georgia"/>
              </a:rPr>
              <a:t>Diagnosa</a:t>
            </a:r>
          </a:p>
          <a:p>
            <a:pPr algn="l">
              <a:lnSpc>
                <a:spcPct val="105000"/>
              </a:lnSpc>
              <a:spcAft>
                <a:spcPts val="0"/>
              </a:spcAft>
            </a:pPr>
            <a:r>
              <a:rPr sz="2800" b="1" i="0">
                <a:solidFill>
                  <a:srgbClr val="F7F3EC"/>
                </a:solidFill>
                <a:latin typeface="Georgia"/>
              </a:rPr>
              <a:t>Penyakit</a:t>
            </a:r>
          </a:p>
          <a:p>
            <a:pPr algn="l">
              <a:lnSpc>
                <a:spcPct val="105000"/>
              </a:lnSpc>
              <a:spcAft>
                <a:spcPts val="0"/>
              </a:spcAft>
            </a:pPr>
            <a:r>
              <a:rPr sz="2800" b="1" i="0">
                <a:solidFill>
                  <a:srgbClr val="F7F3EC"/>
                </a:solidFill>
                <a:latin typeface="Georgia"/>
              </a:rPr>
              <a:t>Avian</a:t>
            </a:r>
          </a:p>
        </p:txBody>
      </p:sp>
      <p:sp>
        <p:nvSpPr>
          <p:cNvPr id="18" name="Rectangle 17"/>
          <p:cNvSpPr/>
          <p:nvPr/>
        </p:nvSpPr>
        <p:spPr>
          <a:xfrm>
            <a:off x="548640" y="6263640"/>
            <a:ext cx="548640" cy="4572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303520" y="731520"/>
            <a:ext cx="6400800" cy="365760"/>
          </a:xfrm>
          <a:prstGeom prst="rect">
            <a:avLst/>
          </a:prstGeom>
          <a:noFill/>
        </p:spPr>
        <p:txBody>
          <a:bodyPr wrap="square" lIns="0" rIns="0" tIns="0" bIns="0" anchor="t">
            <a:spAutoFit/>
          </a:bodyPr>
          <a:lstStyle/>
          <a:p>
            <a:pPr algn="l">
              <a:lnSpc>
                <a:spcPct val="115000"/>
              </a:lnSpc>
              <a:spcAft>
                <a:spcPts val="0"/>
              </a:spcAft>
            </a:pPr>
            <a:r>
              <a:rPr sz="1100" b="1" i="0">
                <a:solidFill>
                  <a:srgbClr val="E76F51"/>
                </a:solidFill>
                <a:latin typeface="Calibri"/>
              </a:rPr>
              <a:t>SKRIPSI / TUGAS AKHIR</a:t>
            </a:r>
          </a:p>
        </p:txBody>
      </p:sp>
      <p:sp>
        <p:nvSpPr>
          <p:cNvPr id="20" name="Rectangle 19"/>
          <p:cNvSpPr/>
          <p:nvPr/>
        </p:nvSpPr>
        <p:spPr>
          <a:xfrm>
            <a:off x="5303520" y="1051560"/>
            <a:ext cx="365760" cy="36576"/>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303520" y="1280160"/>
            <a:ext cx="6583680" cy="2377440"/>
          </a:xfrm>
          <a:prstGeom prst="rect">
            <a:avLst/>
          </a:prstGeom>
          <a:noFill/>
        </p:spPr>
        <p:txBody>
          <a:bodyPr wrap="square" lIns="0" rIns="0" tIns="0" bIns="0" anchor="t">
            <a:spAutoFit/>
          </a:bodyPr>
          <a:lstStyle/>
          <a:p>
            <a:pPr algn="l">
              <a:lnSpc>
                <a:spcPct val="100000"/>
              </a:lnSpc>
              <a:spcAft>
                <a:spcPts val="0"/>
              </a:spcAft>
            </a:pPr>
            <a:r>
              <a:rPr sz="6400" b="1" i="0">
                <a:solidFill>
                  <a:srgbClr val="F7F3EC"/>
                </a:solidFill>
                <a:latin typeface="Georgia"/>
              </a:rPr>
              <a:t>Klinik Merpati</a:t>
            </a:r>
          </a:p>
        </p:txBody>
      </p:sp>
      <p:sp>
        <p:nvSpPr>
          <p:cNvPr id="22" name="TextBox 21"/>
          <p:cNvSpPr txBox="1"/>
          <p:nvPr/>
        </p:nvSpPr>
        <p:spPr>
          <a:xfrm>
            <a:off x="5303520" y="2834640"/>
            <a:ext cx="6583680" cy="1828800"/>
          </a:xfrm>
          <a:prstGeom prst="rect">
            <a:avLst/>
          </a:prstGeom>
          <a:noFill/>
        </p:spPr>
        <p:txBody>
          <a:bodyPr wrap="square" lIns="0" rIns="0" tIns="0" bIns="0" anchor="t">
            <a:spAutoFit/>
          </a:bodyPr>
          <a:lstStyle/>
          <a:p>
            <a:pPr algn="l">
              <a:lnSpc>
                <a:spcPct val="115000"/>
              </a:lnSpc>
              <a:spcAft>
                <a:spcPts val="0"/>
              </a:spcAft>
            </a:pPr>
            <a:r>
              <a:rPr sz="2600" b="0" i="1">
                <a:solidFill>
                  <a:srgbClr val="E8D8C4"/>
                </a:solidFill>
                <a:latin typeface="Georgia"/>
              </a:rPr>
              <a:t>Sistem Pakar Diagnosa</a:t>
            </a:r>
          </a:p>
          <a:p>
            <a:pPr algn="l">
              <a:lnSpc>
                <a:spcPct val="115000"/>
              </a:lnSpc>
              <a:spcAft>
                <a:spcPts val="0"/>
              </a:spcAft>
            </a:pPr>
            <a:r>
              <a:rPr sz="2600" b="0" i="1">
                <a:solidFill>
                  <a:srgbClr val="E8D8C4"/>
                </a:solidFill>
                <a:latin typeface="Georgia"/>
              </a:rPr>
              <a:t>Penyakit Avian dengan</a:t>
            </a:r>
          </a:p>
          <a:p>
            <a:pPr algn="l">
              <a:lnSpc>
                <a:spcPct val="115000"/>
              </a:lnSpc>
              <a:spcAft>
                <a:spcPts val="0"/>
              </a:spcAft>
            </a:pPr>
            <a:r>
              <a:rPr sz="2600" b="0" i="1">
                <a:solidFill>
                  <a:srgbClr val="E8D8C4"/>
                </a:solidFill>
                <a:latin typeface="Georgia"/>
              </a:rPr>
              <a:t>Metode Forward Chaining</a:t>
            </a:r>
          </a:p>
        </p:txBody>
      </p:sp>
      <p:sp>
        <p:nvSpPr>
          <p:cNvPr id="23" name="Rectangle 22"/>
          <p:cNvSpPr/>
          <p:nvPr/>
        </p:nvSpPr>
        <p:spPr>
          <a:xfrm>
            <a:off x="10058400" y="1280160"/>
            <a:ext cx="1554480" cy="36576"/>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303520" y="4937760"/>
            <a:ext cx="6309360" cy="36576"/>
          </a:xfrm>
          <a:prstGeom prst="rect">
            <a:avLst/>
          </a:prstGeom>
          <a:solidFill>
            <a:srgbClr val="5C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303520" y="5074920"/>
            <a:ext cx="3200400" cy="274320"/>
          </a:xfrm>
          <a:prstGeom prst="rect">
            <a:avLst/>
          </a:prstGeom>
          <a:noFill/>
        </p:spPr>
        <p:txBody>
          <a:bodyPr wrap="square" lIns="0" rIns="0" tIns="0" bIns="0" anchor="t">
            <a:spAutoFit/>
          </a:bodyPr>
          <a:lstStyle/>
          <a:p>
            <a:pPr algn="l">
              <a:lnSpc>
                <a:spcPct val="115000"/>
              </a:lnSpc>
              <a:spcAft>
                <a:spcPts val="0"/>
              </a:spcAft>
            </a:pPr>
            <a:r>
              <a:rPr sz="1000" b="1" i="0">
                <a:solidFill>
                  <a:srgbClr val="5C6B7A"/>
                </a:solidFill>
                <a:latin typeface="Calibri"/>
              </a:rPr>
              <a:t>DISUSUN OLEH</a:t>
            </a:r>
          </a:p>
        </p:txBody>
      </p:sp>
      <p:sp>
        <p:nvSpPr>
          <p:cNvPr id="26" name="TextBox 25"/>
          <p:cNvSpPr txBox="1"/>
          <p:nvPr/>
        </p:nvSpPr>
        <p:spPr>
          <a:xfrm>
            <a:off x="5303520" y="5349240"/>
            <a:ext cx="3200400" cy="365760"/>
          </a:xfrm>
          <a:prstGeom prst="rect">
            <a:avLst/>
          </a:prstGeom>
          <a:noFill/>
        </p:spPr>
        <p:txBody>
          <a:bodyPr wrap="square" lIns="0" rIns="0" tIns="0" bIns="0" anchor="t">
            <a:spAutoFit/>
          </a:bodyPr>
          <a:lstStyle/>
          <a:p>
            <a:pPr algn="l">
              <a:lnSpc>
                <a:spcPct val="115000"/>
              </a:lnSpc>
              <a:spcAft>
                <a:spcPts val="0"/>
              </a:spcAft>
            </a:pPr>
            <a:r>
              <a:rPr sz="1500" b="1" i="0">
                <a:solidFill>
                  <a:srgbClr val="F7F3EC"/>
                </a:solidFill>
                <a:latin typeface="Georgia"/>
              </a:rPr>
              <a:t>Nama Mahasiswa</a:t>
            </a:r>
          </a:p>
        </p:txBody>
      </p:sp>
      <p:sp>
        <p:nvSpPr>
          <p:cNvPr id="27" name="TextBox 26"/>
          <p:cNvSpPr txBox="1"/>
          <p:nvPr/>
        </p:nvSpPr>
        <p:spPr>
          <a:xfrm>
            <a:off x="5303520" y="5623560"/>
            <a:ext cx="3200400" cy="274320"/>
          </a:xfrm>
          <a:prstGeom prst="rect">
            <a:avLst/>
          </a:prstGeom>
          <a:noFill/>
        </p:spPr>
        <p:txBody>
          <a:bodyPr wrap="square" lIns="0" rIns="0" tIns="0" bIns="0" anchor="t">
            <a:spAutoFit/>
          </a:bodyPr>
          <a:lstStyle/>
          <a:p>
            <a:pPr algn="l">
              <a:lnSpc>
                <a:spcPct val="115000"/>
              </a:lnSpc>
              <a:spcAft>
                <a:spcPts val="0"/>
              </a:spcAft>
            </a:pPr>
            <a:r>
              <a:rPr sz="1100" b="0" i="0">
                <a:solidFill>
                  <a:srgbClr val="E8D8C4"/>
                </a:solidFill>
                <a:latin typeface="Calibri"/>
              </a:rPr>
              <a:t>NIM. 123456789</a:t>
            </a:r>
          </a:p>
        </p:txBody>
      </p:sp>
      <p:sp>
        <p:nvSpPr>
          <p:cNvPr id="28" name="TextBox 27"/>
          <p:cNvSpPr txBox="1"/>
          <p:nvPr/>
        </p:nvSpPr>
        <p:spPr>
          <a:xfrm>
            <a:off x="8686800" y="5074920"/>
            <a:ext cx="2926080" cy="274320"/>
          </a:xfrm>
          <a:prstGeom prst="rect">
            <a:avLst/>
          </a:prstGeom>
          <a:noFill/>
        </p:spPr>
        <p:txBody>
          <a:bodyPr wrap="square" lIns="0" rIns="0" tIns="0" bIns="0" anchor="t">
            <a:spAutoFit/>
          </a:bodyPr>
          <a:lstStyle/>
          <a:p>
            <a:pPr algn="l">
              <a:lnSpc>
                <a:spcPct val="115000"/>
              </a:lnSpc>
              <a:spcAft>
                <a:spcPts val="0"/>
              </a:spcAft>
            </a:pPr>
            <a:r>
              <a:rPr sz="1000" b="1" i="0">
                <a:solidFill>
                  <a:srgbClr val="5C6B7A"/>
                </a:solidFill>
                <a:latin typeface="Calibri"/>
              </a:rPr>
              <a:t>PEMBIMBING</a:t>
            </a:r>
          </a:p>
        </p:txBody>
      </p:sp>
      <p:sp>
        <p:nvSpPr>
          <p:cNvPr id="29" name="TextBox 28"/>
          <p:cNvSpPr txBox="1"/>
          <p:nvPr/>
        </p:nvSpPr>
        <p:spPr>
          <a:xfrm>
            <a:off x="8686800" y="5349240"/>
            <a:ext cx="2926080" cy="365760"/>
          </a:xfrm>
          <a:prstGeom prst="rect">
            <a:avLst/>
          </a:prstGeom>
          <a:noFill/>
        </p:spPr>
        <p:txBody>
          <a:bodyPr wrap="square" lIns="0" rIns="0" tIns="0" bIns="0" anchor="t">
            <a:spAutoFit/>
          </a:bodyPr>
          <a:lstStyle/>
          <a:p>
            <a:pPr algn="l">
              <a:lnSpc>
                <a:spcPct val="115000"/>
              </a:lnSpc>
              <a:spcAft>
                <a:spcPts val="0"/>
              </a:spcAft>
            </a:pPr>
            <a:r>
              <a:rPr sz="1500" b="1" i="0">
                <a:solidFill>
                  <a:srgbClr val="F7F3EC"/>
                </a:solidFill>
                <a:latin typeface="Georgia"/>
              </a:rPr>
              <a:t>Nama Dosen, M.Kom</a:t>
            </a:r>
          </a:p>
        </p:txBody>
      </p:sp>
      <p:sp>
        <p:nvSpPr>
          <p:cNvPr id="30" name="TextBox 29"/>
          <p:cNvSpPr txBox="1"/>
          <p:nvPr/>
        </p:nvSpPr>
        <p:spPr>
          <a:xfrm>
            <a:off x="8686800" y="5623560"/>
            <a:ext cx="2926080" cy="274320"/>
          </a:xfrm>
          <a:prstGeom prst="rect">
            <a:avLst/>
          </a:prstGeom>
          <a:noFill/>
        </p:spPr>
        <p:txBody>
          <a:bodyPr wrap="square" lIns="0" rIns="0" tIns="0" bIns="0" anchor="t">
            <a:spAutoFit/>
          </a:bodyPr>
          <a:lstStyle/>
          <a:p>
            <a:pPr algn="l">
              <a:lnSpc>
                <a:spcPct val="115000"/>
              </a:lnSpc>
              <a:spcAft>
                <a:spcPts val="0"/>
              </a:spcAft>
            </a:pPr>
            <a:r>
              <a:rPr sz="1100" b="0" i="0">
                <a:solidFill>
                  <a:srgbClr val="E8D8C4"/>
                </a:solidFill>
                <a:latin typeface="Calibri"/>
              </a:rPr>
              <a:t>Program Studi Sistem Informasi</a:t>
            </a:r>
          </a:p>
        </p:txBody>
      </p:sp>
      <p:sp>
        <p:nvSpPr>
          <p:cNvPr id="31" name="TextBox 30"/>
          <p:cNvSpPr txBox="1"/>
          <p:nvPr/>
        </p:nvSpPr>
        <p:spPr>
          <a:xfrm>
            <a:off x="5303520" y="6263640"/>
            <a:ext cx="6309360" cy="365760"/>
          </a:xfrm>
          <a:prstGeom prst="rect">
            <a:avLst/>
          </a:prstGeom>
          <a:noFill/>
        </p:spPr>
        <p:txBody>
          <a:bodyPr wrap="square" lIns="0" rIns="0" tIns="0" bIns="0" anchor="t">
            <a:spAutoFit/>
          </a:bodyPr>
          <a:lstStyle/>
          <a:p>
            <a:pPr algn="l">
              <a:lnSpc>
                <a:spcPct val="115000"/>
              </a:lnSpc>
              <a:spcAft>
                <a:spcPts val="0"/>
              </a:spcAft>
            </a:pPr>
            <a:r>
              <a:rPr sz="1100" b="1" i="0">
                <a:solidFill>
                  <a:srgbClr val="5C6B7A"/>
                </a:solidFill>
                <a:latin typeface="Calibri"/>
              </a:rPr>
              <a:t>Tahun 2025  •  Universitas Anda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502920"/>
            <a:ext cx="164592" cy="1645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11480"/>
            <a:ext cx="7315200" cy="320040"/>
          </a:xfrm>
          <a:prstGeom prst="rect">
            <a:avLst/>
          </a:prstGeom>
          <a:noFill/>
        </p:spPr>
        <p:txBody>
          <a:bodyPr wrap="square" lIns="0" rIns="0" tIns="0" bIns="0" anchor="t">
            <a:spAutoFit/>
          </a:bodyPr>
          <a:lstStyle/>
          <a:p>
            <a:pPr algn="l">
              <a:lnSpc>
                <a:spcPct val="115000"/>
              </a:lnSpc>
              <a:spcAft>
                <a:spcPts val="0"/>
              </a:spcAft>
            </a:pPr>
            <a:r>
              <a:rPr sz="1100" b="1" i="0">
                <a:solidFill>
                  <a:srgbClr val="E76F51"/>
                </a:solidFill>
                <a:latin typeface="Calibri"/>
              </a:rPr>
              <a:t>BAB I  •  PENDAHULUAN</a:t>
            </a:r>
          </a:p>
        </p:txBody>
      </p:sp>
      <p:sp>
        <p:nvSpPr>
          <p:cNvPr id="5" name="TextBox 4"/>
          <p:cNvSpPr txBox="1"/>
          <p:nvPr/>
        </p:nvSpPr>
        <p:spPr>
          <a:xfrm>
            <a:off x="548640" y="777240"/>
            <a:ext cx="10515600" cy="640080"/>
          </a:xfrm>
          <a:prstGeom prst="rect">
            <a:avLst/>
          </a:prstGeom>
          <a:noFill/>
        </p:spPr>
        <p:txBody>
          <a:bodyPr wrap="square" lIns="0" rIns="0" tIns="0" bIns="0" anchor="t">
            <a:spAutoFit/>
          </a:bodyPr>
          <a:lstStyle/>
          <a:p>
            <a:pPr algn="l">
              <a:lnSpc>
                <a:spcPct val="115000"/>
              </a:lnSpc>
              <a:spcAft>
                <a:spcPts val="0"/>
              </a:spcAft>
            </a:pPr>
            <a:r>
              <a:rPr sz="3200" b="1" i="0">
                <a:solidFill>
                  <a:srgbClr val="0F4C5C"/>
                </a:solidFill>
                <a:latin typeface="Georgia"/>
              </a:rPr>
              <a:t>Latar Belakang Penelitian</a:t>
            </a:r>
          </a:p>
        </p:txBody>
      </p:sp>
      <p:sp>
        <p:nvSpPr>
          <p:cNvPr id="6" name="TextBox 5"/>
          <p:cNvSpPr txBox="1"/>
          <p:nvPr/>
        </p:nvSpPr>
        <p:spPr>
          <a:xfrm>
            <a:off x="548640" y="1554480"/>
            <a:ext cx="11064240" cy="731520"/>
          </a:xfrm>
          <a:prstGeom prst="rect">
            <a:avLst/>
          </a:prstGeom>
          <a:noFill/>
        </p:spPr>
        <p:txBody>
          <a:bodyPr wrap="square" lIns="0" rIns="0" tIns="0" bIns="0" anchor="t">
            <a:spAutoFit/>
          </a:bodyPr>
          <a:lstStyle/>
          <a:p>
            <a:pPr algn="l">
              <a:lnSpc>
                <a:spcPct val="140000"/>
              </a:lnSpc>
              <a:spcAft>
                <a:spcPts val="0"/>
              </a:spcAft>
            </a:pPr>
            <a:r>
              <a:rPr sz="1400" b="0" i="1">
                <a:solidFill>
                  <a:srgbClr val="5C6B7A"/>
                </a:solidFill>
                <a:latin typeface="Calibri"/>
              </a:rPr>
              <a:t>Merpati merupakan unggas yang rentan terhadap berbagai penyakit. Keterlambatan penanganan sering berujung pada kematian karena gejala awal sulit dikenali oleh peternak awam.</a:t>
            </a:r>
          </a:p>
        </p:txBody>
      </p:sp>
      <p:sp>
        <p:nvSpPr>
          <p:cNvPr id="7" name="Rectangle 6"/>
          <p:cNvSpPr/>
          <p:nvPr/>
        </p:nvSpPr>
        <p:spPr>
          <a:xfrm>
            <a:off x="548640" y="2560320"/>
            <a:ext cx="3520440" cy="182880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48640" y="2560320"/>
            <a:ext cx="73152" cy="182880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68680" y="2788920"/>
            <a:ext cx="3063240" cy="822960"/>
          </a:xfrm>
          <a:prstGeom prst="rect">
            <a:avLst/>
          </a:prstGeom>
          <a:noFill/>
        </p:spPr>
        <p:txBody>
          <a:bodyPr wrap="square" lIns="0" rIns="0" tIns="0" bIns="0" anchor="t">
            <a:spAutoFit/>
          </a:bodyPr>
          <a:lstStyle/>
          <a:p>
            <a:pPr algn="l">
              <a:lnSpc>
                <a:spcPct val="100000"/>
              </a:lnSpc>
              <a:spcAft>
                <a:spcPts val="0"/>
              </a:spcAft>
            </a:pPr>
            <a:r>
              <a:rPr sz="5800" b="1" i="0">
                <a:solidFill>
                  <a:srgbClr val="E76F51"/>
                </a:solidFill>
                <a:latin typeface="Georgia"/>
              </a:rPr>
              <a:t>30</a:t>
            </a:r>
          </a:p>
        </p:txBody>
      </p:sp>
      <p:sp>
        <p:nvSpPr>
          <p:cNvPr id="10" name="TextBox 9"/>
          <p:cNvSpPr txBox="1"/>
          <p:nvPr/>
        </p:nvSpPr>
        <p:spPr>
          <a:xfrm>
            <a:off x="868680" y="3611880"/>
            <a:ext cx="3063240" cy="365760"/>
          </a:xfrm>
          <a:prstGeom prst="rect">
            <a:avLst/>
          </a:prstGeom>
          <a:noFill/>
        </p:spPr>
        <p:txBody>
          <a:bodyPr wrap="square" lIns="0" rIns="0" tIns="0" bIns="0" anchor="t">
            <a:spAutoFit/>
          </a:bodyPr>
          <a:lstStyle/>
          <a:p>
            <a:pPr algn="l">
              <a:lnSpc>
                <a:spcPct val="115000"/>
              </a:lnSpc>
              <a:spcAft>
                <a:spcPts val="0"/>
              </a:spcAft>
            </a:pPr>
            <a:r>
              <a:rPr sz="1500" b="1" i="0">
                <a:solidFill>
                  <a:srgbClr val="0F4C5C"/>
                </a:solidFill>
                <a:latin typeface="Calibri"/>
              </a:rPr>
              <a:t>Gejala</a:t>
            </a:r>
          </a:p>
        </p:txBody>
      </p:sp>
      <p:sp>
        <p:nvSpPr>
          <p:cNvPr id="11" name="TextBox 10"/>
          <p:cNvSpPr txBox="1"/>
          <p:nvPr/>
        </p:nvSpPr>
        <p:spPr>
          <a:xfrm>
            <a:off x="868680" y="3931920"/>
            <a:ext cx="3063240" cy="457200"/>
          </a:xfrm>
          <a:prstGeom prst="rect">
            <a:avLst/>
          </a:prstGeom>
          <a:noFill/>
        </p:spPr>
        <p:txBody>
          <a:bodyPr wrap="square" lIns="0" rIns="0" tIns="0" bIns="0" anchor="t">
            <a:spAutoFit/>
          </a:bodyPr>
          <a:lstStyle/>
          <a:p>
            <a:pPr algn="l">
              <a:lnSpc>
                <a:spcPct val="125000"/>
              </a:lnSpc>
              <a:spcAft>
                <a:spcPts val="0"/>
              </a:spcAft>
            </a:pPr>
            <a:r>
              <a:rPr sz="1100" b="0" i="0">
                <a:solidFill>
                  <a:srgbClr val="5C6B7A"/>
                </a:solidFill>
                <a:latin typeface="Calibri"/>
              </a:rPr>
              <a:t>tercatat dalam basis pengetahuan sistem</a:t>
            </a:r>
          </a:p>
        </p:txBody>
      </p:sp>
      <p:sp>
        <p:nvSpPr>
          <p:cNvPr id="12" name="Rectangle 11"/>
          <p:cNvSpPr/>
          <p:nvPr/>
        </p:nvSpPr>
        <p:spPr>
          <a:xfrm>
            <a:off x="4251960" y="2560320"/>
            <a:ext cx="3520440" cy="182880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251960" y="2560320"/>
            <a:ext cx="73152" cy="1828800"/>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72000" y="2788920"/>
            <a:ext cx="3063240" cy="822960"/>
          </a:xfrm>
          <a:prstGeom prst="rect">
            <a:avLst/>
          </a:prstGeom>
          <a:noFill/>
        </p:spPr>
        <p:txBody>
          <a:bodyPr wrap="square" lIns="0" rIns="0" tIns="0" bIns="0" anchor="t">
            <a:spAutoFit/>
          </a:bodyPr>
          <a:lstStyle/>
          <a:p>
            <a:pPr algn="l">
              <a:lnSpc>
                <a:spcPct val="100000"/>
              </a:lnSpc>
              <a:spcAft>
                <a:spcPts val="0"/>
              </a:spcAft>
            </a:pPr>
            <a:r>
              <a:rPr sz="5800" b="1" i="0">
                <a:solidFill>
                  <a:srgbClr val="E9C46A"/>
                </a:solidFill>
                <a:latin typeface="Georgia"/>
              </a:rPr>
              <a:t>10</a:t>
            </a:r>
          </a:p>
        </p:txBody>
      </p:sp>
      <p:sp>
        <p:nvSpPr>
          <p:cNvPr id="15" name="TextBox 14"/>
          <p:cNvSpPr txBox="1"/>
          <p:nvPr/>
        </p:nvSpPr>
        <p:spPr>
          <a:xfrm>
            <a:off x="4572000" y="3611880"/>
            <a:ext cx="3063240" cy="365760"/>
          </a:xfrm>
          <a:prstGeom prst="rect">
            <a:avLst/>
          </a:prstGeom>
          <a:noFill/>
        </p:spPr>
        <p:txBody>
          <a:bodyPr wrap="square" lIns="0" rIns="0" tIns="0" bIns="0" anchor="t">
            <a:spAutoFit/>
          </a:bodyPr>
          <a:lstStyle/>
          <a:p>
            <a:pPr algn="l">
              <a:lnSpc>
                <a:spcPct val="115000"/>
              </a:lnSpc>
              <a:spcAft>
                <a:spcPts val="0"/>
              </a:spcAft>
            </a:pPr>
            <a:r>
              <a:rPr sz="1500" b="1" i="0">
                <a:solidFill>
                  <a:srgbClr val="0F4C5C"/>
                </a:solidFill>
                <a:latin typeface="Calibri"/>
              </a:rPr>
              <a:t>Penyakit</a:t>
            </a:r>
          </a:p>
        </p:txBody>
      </p:sp>
      <p:sp>
        <p:nvSpPr>
          <p:cNvPr id="16" name="TextBox 15"/>
          <p:cNvSpPr txBox="1"/>
          <p:nvPr/>
        </p:nvSpPr>
        <p:spPr>
          <a:xfrm>
            <a:off x="4572000" y="3931920"/>
            <a:ext cx="3063240" cy="457200"/>
          </a:xfrm>
          <a:prstGeom prst="rect">
            <a:avLst/>
          </a:prstGeom>
          <a:noFill/>
        </p:spPr>
        <p:txBody>
          <a:bodyPr wrap="square" lIns="0" rIns="0" tIns="0" bIns="0" anchor="t">
            <a:spAutoFit/>
          </a:bodyPr>
          <a:lstStyle/>
          <a:p>
            <a:pPr algn="l">
              <a:lnSpc>
                <a:spcPct val="125000"/>
              </a:lnSpc>
              <a:spcAft>
                <a:spcPts val="0"/>
              </a:spcAft>
            </a:pPr>
            <a:r>
              <a:rPr sz="1100" b="0" i="0">
                <a:solidFill>
                  <a:srgbClr val="5C6B7A"/>
                </a:solidFill>
                <a:latin typeface="Calibri"/>
              </a:rPr>
              <a:t>Avian yang dapat didiagnosa secara akurat</a:t>
            </a:r>
          </a:p>
        </p:txBody>
      </p:sp>
      <p:sp>
        <p:nvSpPr>
          <p:cNvPr id="17" name="Rectangle 16"/>
          <p:cNvSpPr/>
          <p:nvPr/>
        </p:nvSpPr>
        <p:spPr>
          <a:xfrm>
            <a:off x="7955280" y="2560320"/>
            <a:ext cx="3520440" cy="182880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955280" y="2560320"/>
            <a:ext cx="73152" cy="1828800"/>
          </a:xfrm>
          <a:prstGeom prst="rect">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275320" y="2788920"/>
            <a:ext cx="3063240" cy="822960"/>
          </a:xfrm>
          <a:prstGeom prst="rect">
            <a:avLst/>
          </a:prstGeom>
          <a:noFill/>
        </p:spPr>
        <p:txBody>
          <a:bodyPr wrap="square" lIns="0" rIns="0" tIns="0" bIns="0" anchor="t">
            <a:spAutoFit/>
          </a:bodyPr>
          <a:lstStyle/>
          <a:p>
            <a:pPr algn="l">
              <a:lnSpc>
                <a:spcPct val="100000"/>
              </a:lnSpc>
              <a:spcAft>
                <a:spcPts val="0"/>
              </a:spcAft>
            </a:pPr>
            <a:r>
              <a:rPr sz="5800" b="1" i="0">
                <a:solidFill>
                  <a:srgbClr val="5EB89A"/>
                </a:solidFill>
                <a:latin typeface="Georgia"/>
              </a:rPr>
              <a:t>92%</a:t>
            </a:r>
          </a:p>
        </p:txBody>
      </p:sp>
      <p:sp>
        <p:nvSpPr>
          <p:cNvPr id="20" name="TextBox 19"/>
          <p:cNvSpPr txBox="1"/>
          <p:nvPr/>
        </p:nvSpPr>
        <p:spPr>
          <a:xfrm>
            <a:off x="8275320" y="3611880"/>
            <a:ext cx="3063240" cy="365760"/>
          </a:xfrm>
          <a:prstGeom prst="rect">
            <a:avLst/>
          </a:prstGeom>
          <a:noFill/>
        </p:spPr>
        <p:txBody>
          <a:bodyPr wrap="square" lIns="0" rIns="0" tIns="0" bIns="0" anchor="t">
            <a:spAutoFit/>
          </a:bodyPr>
          <a:lstStyle/>
          <a:p>
            <a:pPr algn="l">
              <a:lnSpc>
                <a:spcPct val="115000"/>
              </a:lnSpc>
              <a:spcAft>
                <a:spcPts val="0"/>
              </a:spcAft>
            </a:pPr>
            <a:r>
              <a:rPr sz="1500" b="1" i="0">
                <a:solidFill>
                  <a:srgbClr val="0F4C5C"/>
                </a:solidFill>
                <a:latin typeface="Calibri"/>
              </a:rPr>
              <a:t>Tingkat Akurasi</a:t>
            </a:r>
          </a:p>
        </p:txBody>
      </p:sp>
      <p:sp>
        <p:nvSpPr>
          <p:cNvPr id="21" name="TextBox 20"/>
          <p:cNvSpPr txBox="1"/>
          <p:nvPr/>
        </p:nvSpPr>
        <p:spPr>
          <a:xfrm>
            <a:off x="8275320" y="3931920"/>
            <a:ext cx="3063240" cy="457200"/>
          </a:xfrm>
          <a:prstGeom prst="rect">
            <a:avLst/>
          </a:prstGeom>
          <a:noFill/>
        </p:spPr>
        <p:txBody>
          <a:bodyPr wrap="square" lIns="0" rIns="0" tIns="0" bIns="0" anchor="t">
            <a:spAutoFit/>
          </a:bodyPr>
          <a:lstStyle/>
          <a:p>
            <a:pPr algn="l">
              <a:lnSpc>
                <a:spcPct val="125000"/>
              </a:lnSpc>
              <a:spcAft>
                <a:spcPts val="0"/>
              </a:spcAft>
            </a:pPr>
            <a:r>
              <a:rPr sz="1100" b="0" i="0">
                <a:solidFill>
                  <a:srgbClr val="5C6B7A"/>
                </a:solidFill>
                <a:latin typeface="Calibri"/>
              </a:rPr>
              <a:t>berdasarkan metode Forward Chaining</a:t>
            </a:r>
          </a:p>
        </p:txBody>
      </p:sp>
      <p:sp>
        <p:nvSpPr>
          <p:cNvPr id="22" name="Rectangle 21"/>
          <p:cNvSpPr/>
          <p:nvPr/>
        </p:nvSpPr>
        <p:spPr>
          <a:xfrm>
            <a:off x="548640" y="4617720"/>
            <a:ext cx="11064240" cy="16916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48640" y="4617720"/>
            <a:ext cx="73152" cy="1691640"/>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68680" y="4800600"/>
            <a:ext cx="10515600" cy="365760"/>
          </a:xfrm>
          <a:prstGeom prst="rect">
            <a:avLst/>
          </a:prstGeom>
          <a:noFill/>
        </p:spPr>
        <p:txBody>
          <a:bodyPr wrap="square" lIns="0" rIns="0" tIns="0" bIns="0" anchor="t">
            <a:spAutoFit/>
          </a:bodyPr>
          <a:lstStyle/>
          <a:p>
            <a:pPr algn="l">
              <a:lnSpc>
                <a:spcPct val="115000"/>
              </a:lnSpc>
              <a:spcAft>
                <a:spcPts val="0"/>
              </a:spcAft>
            </a:pPr>
            <a:r>
              <a:rPr sz="1100" b="1" i="0">
                <a:solidFill>
                  <a:srgbClr val="E9C46A"/>
                </a:solidFill>
                <a:latin typeface="Calibri"/>
              </a:rPr>
              <a:t>PERMASALAHAN UTAMA</a:t>
            </a:r>
          </a:p>
        </p:txBody>
      </p:sp>
      <p:sp>
        <p:nvSpPr>
          <p:cNvPr id="25" name="TextBox 24"/>
          <p:cNvSpPr txBox="1"/>
          <p:nvPr/>
        </p:nvSpPr>
        <p:spPr>
          <a:xfrm>
            <a:off x="868680" y="5120640"/>
            <a:ext cx="10515600" cy="1188720"/>
          </a:xfrm>
          <a:prstGeom prst="rect">
            <a:avLst/>
          </a:prstGeom>
          <a:noFill/>
        </p:spPr>
        <p:txBody>
          <a:bodyPr wrap="square" lIns="0" rIns="0" tIns="0" bIns="0" anchor="t">
            <a:spAutoFit/>
          </a:bodyPr>
          <a:lstStyle/>
          <a:p>
            <a:pPr algn="l">
              <a:lnSpc>
                <a:spcPct val="140000"/>
              </a:lnSpc>
              <a:spcAft>
                <a:spcPts val="0"/>
              </a:spcAft>
            </a:pPr>
            <a:r>
              <a:rPr sz="1300" b="0" i="0">
                <a:solidFill>
                  <a:srgbClr val="F7F3EC"/>
                </a:solidFill>
                <a:latin typeface="Calibri"/>
              </a:rPr>
              <a:t>Banyak peternak merpati belum memiliki akses cepat terhadap dokter hewan spesialis unggas, sehingga gejala awal sering terabaikan. Diperlukan sebuah sistem pakar yang dapat meniru penalaran ahli untuk memberikan diagnosa awal berbasis gejala secara mandiri, cepat, dan konsisten.</a:t>
            </a:r>
          </a:p>
        </p:txBody>
      </p:sp>
      <p:sp>
        <p:nvSpPr>
          <p:cNvPr id="26" name="TextBox 25"/>
          <p:cNvSpPr txBox="1"/>
          <p:nvPr/>
        </p:nvSpPr>
        <p:spPr>
          <a:xfrm>
            <a:off x="10911535" y="6400800"/>
            <a:ext cx="914400" cy="274320"/>
          </a:xfrm>
          <a:prstGeom prst="rect">
            <a:avLst/>
          </a:prstGeom>
          <a:noFill/>
        </p:spPr>
        <p:txBody>
          <a:bodyPr wrap="square" lIns="0" rIns="0" tIns="0" bIns="0" anchor="t">
            <a:spAutoFit/>
          </a:bodyPr>
          <a:lstStyle/>
          <a:p>
            <a:pPr algn="r">
              <a:lnSpc>
                <a:spcPct val="115000"/>
              </a:lnSpc>
              <a:spcAft>
                <a:spcPts val="0"/>
              </a:spcAft>
            </a:pPr>
            <a:r>
              <a:rPr sz="1000" b="1" i="0">
                <a:solidFill>
                  <a:srgbClr val="5C6B7A"/>
                </a:solidFill>
                <a:latin typeface="Calibri"/>
              </a:rPr>
              <a:t>02 / 15</a:t>
            </a:r>
          </a:p>
        </p:txBody>
      </p:sp>
      <p:sp>
        <p:nvSpPr>
          <p:cNvPr id="27" name="TextBox 26"/>
          <p:cNvSpPr txBox="1"/>
          <p:nvPr/>
        </p:nvSpPr>
        <p:spPr>
          <a:xfrm>
            <a:off x="457200" y="6400800"/>
            <a:ext cx="7315200" cy="274320"/>
          </a:xfrm>
          <a:prstGeom prst="rect">
            <a:avLst/>
          </a:prstGeom>
          <a:noFill/>
        </p:spPr>
        <p:txBody>
          <a:bodyPr wrap="square" lIns="0" rIns="0" tIns="0" bIns="0" anchor="t">
            <a:spAutoFit/>
          </a:bodyPr>
          <a:lstStyle/>
          <a:p>
            <a:pPr algn="l">
              <a:lnSpc>
                <a:spcPct val="115000"/>
              </a:lnSpc>
              <a:spcAft>
                <a:spcPts val="0"/>
              </a:spcAft>
            </a:pPr>
            <a:r>
              <a:rPr sz="1000" b="1" i="0">
                <a:solidFill>
                  <a:srgbClr val="5C6B7A"/>
                </a:solidFill>
                <a:latin typeface="Calibri"/>
              </a:rPr>
              <a:t>Klinik Merpati  •  Sistem Pakar Diagnosa Avian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502920"/>
            <a:ext cx="164592" cy="1645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11480"/>
            <a:ext cx="7315200" cy="320040"/>
          </a:xfrm>
          <a:prstGeom prst="rect">
            <a:avLst/>
          </a:prstGeom>
          <a:noFill/>
        </p:spPr>
        <p:txBody>
          <a:bodyPr wrap="square" lIns="0" rIns="0" tIns="0" bIns="0" anchor="t">
            <a:spAutoFit/>
          </a:bodyPr>
          <a:lstStyle/>
          <a:p>
            <a:pPr algn="l">
              <a:lnSpc>
                <a:spcPct val="115000"/>
              </a:lnSpc>
              <a:spcAft>
                <a:spcPts val="0"/>
              </a:spcAft>
            </a:pPr>
            <a:r>
              <a:rPr sz="1100" b="1" i="0">
                <a:solidFill>
                  <a:srgbClr val="E76F51"/>
                </a:solidFill>
                <a:latin typeface="Calibri"/>
              </a:rPr>
              <a:t>BAB I  •  PENDAHULUAN</a:t>
            </a:r>
          </a:p>
        </p:txBody>
      </p:sp>
      <p:sp>
        <p:nvSpPr>
          <p:cNvPr id="5" name="TextBox 4"/>
          <p:cNvSpPr txBox="1"/>
          <p:nvPr/>
        </p:nvSpPr>
        <p:spPr>
          <a:xfrm>
            <a:off x="548640" y="777240"/>
            <a:ext cx="10515600" cy="640080"/>
          </a:xfrm>
          <a:prstGeom prst="rect">
            <a:avLst/>
          </a:prstGeom>
          <a:noFill/>
        </p:spPr>
        <p:txBody>
          <a:bodyPr wrap="square" lIns="0" rIns="0" tIns="0" bIns="0" anchor="t">
            <a:spAutoFit/>
          </a:bodyPr>
          <a:lstStyle/>
          <a:p>
            <a:pPr algn="l">
              <a:lnSpc>
                <a:spcPct val="115000"/>
              </a:lnSpc>
              <a:spcAft>
                <a:spcPts val="0"/>
              </a:spcAft>
            </a:pPr>
            <a:r>
              <a:rPr sz="3200" b="1" i="0">
                <a:solidFill>
                  <a:srgbClr val="0F4C5C"/>
                </a:solidFill>
                <a:latin typeface="Georgia"/>
              </a:rPr>
              <a:t>Rumusan Masalah</a:t>
            </a:r>
          </a:p>
        </p:txBody>
      </p:sp>
      <p:sp>
        <p:nvSpPr>
          <p:cNvPr id="6" name="TextBox 5"/>
          <p:cNvSpPr txBox="1"/>
          <p:nvPr/>
        </p:nvSpPr>
        <p:spPr>
          <a:xfrm>
            <a:off x="548640" y="1554480"/>
            <a:ext cx="11064240" cy="457200"/>
          </a:xfrm>
          <a:prstGeom prst="rect">
            <a:avLst/>
          </a:prstGeom>
          <a:noFill/>
        </p:spPr>
        <p:txBody>
          <a:bodyPr wrap="square" lIns="0" rIns="0" tIns="0" bIns="0" anchor="t">
            <a:spAutoFit/>
          </a:bodyPr>
          <a:lstStyle/>
          <a:p>
            <a:pPr algn="l">
              <a:lnSpc>
                <a:spcPct val="140000"/>
              </a:lnSpc>
              <a:spcAft>
                <a:spcPts val="0"/>
              </a:spcAft>
            </a:pPr>
            <a:r>
              <a:rPr sz="1400" b="0" i="1">
                <a:solidFill>
                  <a:srgbClr val="5C6B7A"/>
                </a:solidFill>
                <a:latin typeface="Calibri"/>
              </a:rPr>
              <a:t>Berdasarkan latar belakang di atas, permasalahan yang diangkat dalam penelitian ini adalah:</a:t>
            </a:r>
          </a:p>
        </p:txBody>
      </p:sp>
      <p:sp>
        <p:nvSpPr>
          <p:cNvPr id="7" name="Oval 6"/>
          <p:cNvSpPr/>
          <p:nvPr/>
        </p:nvSpPr>
        <p:spPr>
          <a:xfrm>
            <a:off x="640080" y="2423160"/>
            <a:ext cx="685800" cy="685800"/>
          </a:xfrm>
          <a:prstGeom prst="ellipse">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 y="2423160"/>
            <a:ext cx="685800" cy="685800"/>
          </a:xfrm>
          <a:prstGeom prst="rect">
            <a:avLst/>
          </a:prstGeom>
          <a:noFill/>
        </p:spPr>
        <p:txBody>
          <a:bodyPr wrap="square" lIns="0" rIns="0" tIns="0" bIns="0" anchor="ctr">
            <a:spAutoFit/>
          </a:bodyPr>
          <a:lstStyle/>
          <a:p>
            <a:pPr algn="ctr">
              <a:lnSpc>
                <a:spcPct val="115000"/>
              </a:lnSpc>
              <a:spcAft>
                <a:spcPts val="0"/>
              </a:spcAft>
            </a:pPr>
            <a:r>
              <a:rPr sz="1800" b="1" i="0">
                <a:solidFill>
                  <a:srgbClr val="E9C46A"/>
                </a:solidFill>
                <a:latin typeface="Georgia"/>
              </a:rPr>
              <a:t>01</a:t>
            </a:r>
          </a:p>
        </p:txBody>
      </p:sp>
      <p:sp>
        <p:nvSpPr>
          <p:cNvPr id="9" name="Rectangle 8"/>
          <p:cNvSpPr/>
          <p:nvPr/>
        </p:nvSpPr>
        <p:spPr>
          <a:xfrm>
            <a:off x="1508760" y="2286000"/>
            <a:ext cx="10104120" cy="86868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508760" y="2286000"/>
            <a:ext cx="54864" cy="86868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783080" y="2450592"/>
            <a:ext cx="9601200" cy="640080"/>
          </a:xfrm>
          <a:prstGeom prst="rect">
            <a:avLst/>
          </a:prstGeom>
          <a:noFill/>
        </p:spPr>
        <p:txBody>
          <a:bodyPr wrap="square" lIns="0" rIns="0" tIns="0" bIns="0" anchor="t">
            <a:spAutoFit/>
          </a:bodyPr>
          <a:lstStyle/>
          <a:p>
            <a:pPr algn="l">
              <a:lnSpc>
                <a:spcPct val="135000"/>
              </a:lnSpc>
              <a:spcAft>
                <a:spcPts val="0"/>
              </a:spcAft>
            </a:pPr>
            <a:r>
              <a:rPr sz="1400" b="0" i="0">
                <a:solidFill>
                  <a:srgbClr val="1B263B"/>
                </a:solidFill>
                <a:latin typeface="Calibri"/>
              </a:rPr>
              <a:t>Bagaimana merancang sistem pakar yang dapat mendiagnosa penyakit avian pada merpati berdasarkan gejala yang diamati?</a:t>
            </a:r>
          </a:p>
        </p:txBody>
      </p:sp>
      <p:sp>
        <p:nvSpPr>
          <p:cNvPr id="12" name="Oval 11"/>
          <p:cNvSpPr/>
          <p:nvPr/>
        </p:nvSpPr>
        <p:spPr>
          <a:xfrm>
            <a:off x="640080" y="3383280"/>
            <a:ext cx="685800" cy="685800"/>
          </a:xfrm>
          <a:prstGeom prst="ellipse">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0080" y="3383280"/>
            <a:ext cx="685800" cy="685800"/>
          </a:xfrm>
          <a:prstGeom prst="rect">
            <a:avLst/>
          </a:prstGeom>
          <a:noFill/>
        </p:spPr>
        <p:txBody>
          <a:bodyPr wrap="square" lIns="0" rIns="0" tIns="0" bIns="0" anchor="ctr">
            <a:spAutoFit/>
          </a:bodyPr>
          <a:lstStyle/>
          <a:p>
            <a:pPr algn="ctr">
              <a:lnSpc>
                <a:spcPct val="115000"/>
              </a:lnSpc>
              <a:spcAft>
                <a:spcPts val="0"/>
              </a:spcAft>
            </a:pPr>
            <a:r>
              <a:rPr sz="1800" b="1" i="0">
                <a:solidFill>
                  <a:srgbClr val="E9C46A"/>
                </a:solidFill>
                <a:latin typeface="Georgia"/>
              </a:rPr>
              <a:t>02</a:t>
            </a:r>
          </a:p>
        </p:txBody>
      </p:sp>
      <p:sp>
        <p:nvSpPr>
          <p:cNvPr id="14" name="Rectangle 13"/>
          <p:cNvSpPr/>
          <p:nvPr/>
        </p:nvSpPr>
        <p:spPr>
          <a:xfrm>
            <a:off x="1508760" y="3246120"/>
            <a:ext cx="10104120" cy="86868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508760" y="3246120"/>
            <a:ext cx="54864" cy="86868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783080" y="3410712"/>
            <a:ext cx="9601200" cy="640080"/>
          </a:xfrm>
          <a:prstGeom prst="rect">
            <a:avLst/>
          </a:prstGeom>
          <a:noFill/>
        </p:spPr>
        <p:txBody>
          <a:bodyPr wrap="square" lIns="0" rIns="0" tIns="0" bIns="0" anchor="t">
            <a:spAutoFit/>
          </a:bodyPr>
          <a:lstStyle/>
          <a:p>
            <a:pPr algn="l">
              <a:lnSpc>
                <a:spcPct val="135000"/>
              </a:lnSpc>
              <a:spcAft>
                <a:spcPts val="0"/>
              </a:spcAft>
            </a:pPr>
            <a:r>
              <a:rPr sz="1400" b="0" i="0">
                <a:solidFill>
                  <a:srgbClr val="1B263B"/>
                </a:solidFill>
                <a:latin typeface="Calibri"/>
              </a:rPr>
              <a:t>Bagaimana menerapkan metode Forward Chaining sebagai mesin inferensi dalam proses diagnosa penyakit avian?</a:t>
            </a:r>
          </a:p>
        </p:txBody>
      </p:sp>
      <p:sp>
        <p:nvSpPr>
          <p:cNvPr id="17" name="Oval 16"/>
          <p:cNvSpPr/>
          <p:nvPr/>
        </p:nvSpPr>
        <p:spPr>
          <a:xfrm>
            <a:off x="640080" y="4343400"/>
            <a:ext cx="685800" cy="685800"/>
          </a:xfrm>
          <a:prstGeom prst="ellipse">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 y="4343400"/>
            <a:ext cx="685800" cy="685800"/>
          </a:xfrm>
          <a:prstGeom prst="rect">
            <a:avLst/>
          </a:prstGeom>
          <a:noFill/>
        </p:spPr>
        <p:txBody>
          <a:bodyPr wrap="square" lIns="0" rIns="0" tIns="0" bIns="0" anchor="ctr">
            <a:spAutoFit/>
          </a:bodyPr>
          <a:lstStyle/>
          <a:p>
            <a:pPr algn="ctr">
              <a:lnSpc>
                <a:spcPct val="115000"/>
              </a:lnSpc>
              <a:spcAft>
                <a:spcPts val="0"/>
              </a:spcAft>
            </a:pPr>
            <a:r>
              <a:rPr sz="1800" b="1" i="0">
                <a:solidFill>
                  <a:srgbClr val="E9C46A"/>
                </a:solidFill>
                <a:latin typeface="Georgia"/>
              </a:rPr>
              <a:t>03</a:t>
            </a:r>
          </a:p>
        </p:txBody>
      </p:sp>
      <p:sp>
        <p:nvSpPr>
          <p:cNvPr id="19" name="Rectangle 18"/>
          <p:cNvSpPr/>
          <p:nvPr/>
        </p:nvSpPr>
        <p:spPr>
          <a:xfrm>
            <a:off x="1508760" y="4206240"/>
            <a:ext cx="10104120" cy="86868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508760" y="4206240"/>
            <a:ext cx="54864" cy="86868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783080" y="4370832"/>
            <a:ext cx="9601200" cy="640080"/>
          </a:xfrm>
          <a:prstGeom prst="rect">
            <a:avLst/>
          </a:prstGeom>
          <a:noFill/>
        </p:spPr>
        <p:txBody>
          <a:bodyPr wrap="square" lIns="0" rIns="0" tIns="0" bIns="0" anchor="t">
            <a:spAutoFit/>
          </a:bodyPr>
          <a:lstStyle/>
          <a:p>
            <a:pPr algn="l">
              <a:lnSpc>
                <a:spcPct val="135000"/>
              </a:lnSpc>
              <a:spcAft>
                <a:spcPts val="0"/>
              </a:spcAft>
            </a:pPr>
            <a:r>
              <a:rPr sz="1400" b="0" i="0">
                <a:solidFill>
                  <a:srgbClr val="1B263B"/>
                </a:solidFill>
                <a:latin typeface="Calibri"/>
              </a:rPr>
              <a:t>Bagaimana tingkat akurasi sistem pakar dalam memberikan hasil diagnosa penyakit avian pada merpati?</a:t>
            </a:r>
          </a:p>
        </p:txBody>
      </p:sp>
      <p:sp>
        <p:nvSpPr>
          <p:cNvPr id="22" name="TextBox 21"/>
          <p:cNvSpPr txBox="1"/>
          <p:nvPr/>
        </p:nvSpPr>
        <p:spPr>
          <a:xfrm>
            <a:off x="10911535" y="6400800"/>
            <a:ext cx="914400" cy="274320"/>
          </a:xfrm>
          <a:prstGeom prst="rect">
            <a:avLst/>
          </a:prstGeom>
          <a:noFill/>
        </p:spPr>
        <p:txBody>
          <a:bodyPr wrap="square" lIns="0" rIns="0" tIns="0" bIns="0" anchor="t">
            <a:spAutoFit/>
          </a:bodyPr>
          <a:lstStyle/>
          <a:p>
            <a:pPr algn="r">
              <a:lnSpc>
                <a:spcPct val="115000"/>
              </a:lnSpc>
              <a:spcAft>
                <a:spcPts val="0"/>
              </a:spcAft>
            </a:pPr>
            <a:r>
              <a:rPr sz="1000" b="1" i="0">
                <a:solidFill>
                  <a:srgbClr val="5C6B7A"/>
                </a:solidFill>
                <a:latin typeface="Calibri"/>
              </a:rPr>
              <a:t>03 / 15</a:t>
            </a:r>
          </a:p>
        </p:txBody>
      </p:sp>
      <p:sp>
        <p:nvSpPr>
          <p:cNvPr id="23" name="TextBox 22"/>
          <p:cNvSpPr txBox="1"/>
          <p:nvPr/>
        </p:nvSpPr>
        <p:spPr>
          <a:xfrm>
            <a:off x="457200" y="6400800"/>
            <a:ext cx="7315200" cy="274320"/>
          </a:xfrm>
          <a:prstGeom prst="rect">
            <a:avLst/>
          </a:prstGeom>
          <a:noFill/>
        </p:spPr>
        <p:txBody>
          <a:bodyPr wrap="square" lIns="0" rIns="0" tIns="0" bIns="0" anchor="t">
            <a:spAutoFit/>
          </a:bodyPr>
          <a:lstStyle/>
          <a:p>
            <a:pPr algn="l">
              <a:lnSpc>
                <a:spcPct val="115000"/>
              </a:lnSpc>
              <a:spcAft>
                <a:spcPts val="0"/>
              </a:spcAft>
            </a:pPr>
            <a:r>
              <a:rPr sz="1000" b="1" i="0">
                <a:solidFill>
                  <a:srgbClr val="5C6B7A"/>
                </a:solidFill>
                <a:latin typeface="Calibri"/>
              </a:rPr>
              <a:t>Klinik Merpati  •  Sistem Pakar Diagnosa Avian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502920"/>
            <a:ext cx="164592" cy="1645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11480"/>
            <a:ext cx="7315200" cy="320040"/>
          </a:xfrm>
          <a:prstGeom prst="rect">
            <a:avLst/>
          </a:prstGeom>
          <a:noFill/>
        </p:spPr>
        <p:txBody>
          <a:bodyPr wrap="square" lIns="0" rIns="0" tIns="0" bIns="0" anchor="t">
            <a:spAutoFit/>
          </a:bodyPr>
          <a:lstStyle/>
          <a:p>
            <a:pPr algn="l">
              <a:lnSpc>
                <a:spcPct val="115000"/>
              </a:lnSpc>
              <a:spcAft>
                <a:spcPts val="0"/>
              </a:spcAft>
            </a:pPr>
            <a:r>
              <a:rPr sz="1100" b="1" i="0">
                <a:solidFill>
                  <a:srgbClr val="E76F51"/>
                </a:solidFill>
                <a:latin typeface="Calibri"/>
              </a:rPr>
              <a:t>BAB I  •  PENDAHULUAN</a:t>
            </a:r>
          </a:p>
        </p:txBody>
      </p:sp>
      <p:sp>
        <p:nvSpPr>
          <p:cNvPr id="5" name="TextBox 4"/>
          <p:cNvSpPr txBox="1"/>
          <p:nvPr/>
        </p:nvSpPr>
        <p:spPr>
          <a:xfrm>
            <a:off x="548640" y="777240"/>
            <a:ext cx="10515600" cy="640080"/>
          </a:xfrm>
          <a:prstGeom prst="rect">
            <a:avLst/>
          </a:prstGeom>
          <a:noFill/>
        </p:spPr>
        <p:txBody>
          <a:bodyPr wrap="square" lIns="0" rIns="0" tIns="0" bIns="0" anchor="t">
            <a:spAutoFit/>
          </a:bodyPr>
          <a:lstStyle/>
          <a:p>
            <a:pPr algn="l">
              <a:lnSpc>
                <a:spcPct val="115000"/>
              </a:lnSpc>
              <a:spcAft>
                <a:spcPts val="0"/>
              </a:spcAft>
            </a:pPr>
            <a:r>
              <a:rPr sz="3200" b="1" i="0">
                <a:solidFill>
                  <a:srgbClr val="0F4C5C"/>
                </a:solidFill>
                <a:latin typeface="Georgia"/>
              </a:rPr>
              <a:t>Batasan Masalah</a:t>
            </a:r>
          </a:p>
        </p:txBody>
      </p:sp>
      <p:sp>
        <p:nvSpPr>
          <p:cNvPr id="6" name="TextBox 5"/>
          <p:cNvSpPr txBox="1"/>
          <p:nvPr/>
        </p:nvSpPr>
        <p:spPr>
          <a:xfrm>
            <a:off x="548640" y="1554480"/>
            <a:ext cx="11064240" cy="457200"/>
          </a:xfrm>
          <a:prstGeom prst="rect">
            <a:avLst/>
          </a:prstGeom>
          <a:noFill/>
        </p:spPr>
        <p:txBody>
          <a:bodyPr wrap="square" lIns="0" rIns="0" tIns="0" bIns="0" anchor="t">
            <a:spAutoFit/>
          </a:bodyPr>
          <a:lstStyle/>
          <a:p>
            <a:pPr algn="l">
              <a:lnSpc>
                <a:spcPct val="140000"/>
              </a:lnSpc>
              <a:spcAft>
                <a:spcPts val="0"/>
              </a:spcAft>
            </a:pPr>
            <a:r>
              <a:rPr sz="1400" b="0" i="1">
                <a:solidFill>
                  <a:srgbClr val="5C6B7A"/>
                </a:solidFill>
                <a:latin typeface="Calibri"/>
              </a:rPr>
              <a:t>Agar penelitian ini terfokus, maka batasan masalah yang ditetapkan adalah:</a:t>
            </a:r>
          </a:p>
        </p:txBody>
      </p:sp>
      <p:sp>
        <p:nvSpPr>
          <p:cNvPr id="7" name="Rectangle 6"/>
          <p:cNvSpPr/>
          <p:nvPr/>
        </p:nvSpPr>
        <p:spPr>
          <a:xfrm>
            <a:off x="548640" y="2286000"/>
            <a:ext cx="3611880" cy="155448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60" y="2560320"/>
            <a:ext cx="502920" cy="502920"/>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60" y="2560320"/>
            <a:ext cx="502920" cy="502920"/>
          </a:xfrm>
          <a:prstGeom prst="rect">
            <a:avLst/>
          </a:prstGeom>
          <a:noFill/>
        </p:spPr>
        <p:txBody>
          <a:bodyPr wrap="square" lIns="0" rIns="0" tIns="0" bIns="0" anchor="ctr">
            <a:spAutoFit/>
          </a:bodyPr>
          <a:lstStyle/>
          <a:p>
            <a:pPr algn="ctr">
              <a:lnSpc>
                <a:spcPct val="115000"/>
              </a:lnSpc>
              <a:spcAft>
                <a:spcPts val="0"/>
              </a:spcAft>
            </a:pPr>
            <a:r>
              <a:rPr sz="2000" b="1" i="0">
                <a:solidFill>
                  <a:srgbClr val="FFFFFF"/>
                </a:solidFill>
                <a:latin typeface="Georgia"/>
              </a:rPr>
              <a:t>✓</a:t>
            </a:r>
          </a:p>
        </p:txBody>
      </p:sp>
      <p:sp>
        <p:nvSpPr>
          <p:cNvPr id="10" name="TextBox 9"/>
          <p:cNvSpPr txBox="1"/>
          <p:nvPr/>
        </p:nvSpPr>
        <p:spPr>
          <a:xfrm>
            <a:off x="1463040" y="2560320"/>
            <a:ext cx="2606040" cy="365760"/>
          </a:xfrm>
          <a:prstGeom prst="rect">
            <a:avLst/>
          </a:prstGeom>
          <a:noFill/>
        </p:spPr>
        <p:txBody>
          <a:bodyPr wrap="square" lIns="0" rIns="0" tIns="0" bIns="0" anchor="t">
            <a:spAutoFit/>
          </a:bodyPr>
          <a:lstStyle/>
          <a:p>
            <a:pPr algn="l">
              <a:lnSpc>
                <a:spcPct val="115000"/>
              </a:lnSpc>
              <a:spcAft>
                <a:spcPts val="0"/>
              </a:spcAft>
            </a:pPr>
            <a:r>
              <a:rPr sz="1400" b="1" i="0">
                <a:solidFill>
                  <a:srgbClr val="0F4C5C"/>
                </a:solidFill>
                <a:latin typeface="Calibri"/>
              </a:rPr>
              <a:t>Subjek Penelitian</a:t>
            </a:r>
          </a:p>
        </p:txBody>
      </p:sp>
      <p:sp>
        <p:nvSpPr>
          <p:cNvPr id="11" name="TextBox 10"/>
          <p:cNvSpPr txBox="1"/>
          <p:nvPr/>
        </p:nvSpPr>
        <p:spPr>
          <a:xfrm>
            <a:off x="868680" y="3200400"/>
            <a:ext cx="3154680" cy="640080"/>
          </a:xfrm>
          <a:prstGeom prst="rect">
            <a:avLst/>
          </a:prstGeom>
          <a:noFill/>
        </p:spPr>
        <p:txBody>
          <a:bodyPr wrap="square" lIns="0" rIns="0" tIns="0" bIns="0" anchor="t">
            <a:spAutoFit/>
          </a:bodyPr>
          <a:lstStyle/>
          <a:p>
            <a:pPr algn="l">
              <a:lnSpc>
                <a:spcPct val="130000"/>
              </a:lnSpc>
              <a:spcAft>
                <a:spcPts val="0"/>
              </a:spcAft>
            </a:pPr>
            <a:r>
              <a:rPr sz="1100" b="0" i="0">
                <a:solidFill>
                  <a:srgbClr val="5C6B7A"/>
                </a:solidFill>
                <a:latin typeface="Calibri"/>
              </a:rPr>
              <a:t>Merpati (Columba livia) sebagai objek studi utama.</a:t>
            </a:r>
          </a:p>
        </p:txBody>
      </p:sp>
      <p:sp>
        <p:nvSpPr>
          <p:cNvPr id="12" name="Rectangle 11"/>
          <p:cNvSpPr/>
          <p:nvPr/>
        </p:nvSpPr>
        <p:spPr>
          <a:xfrm>
            <a:off x="4297680" y="2286000"/>
            <a:ext cx="3611880" cy="155448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572000" y="2560320"/>
            <a:ext cx="502920" cy="502920"/>
          </a:xfrm>
          <a:prstGeom prst="ellipse">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72000" y="2560320"/>
            <a:ext cx="502920" cy="502920"/>
          </a:xfrm>
          <a:prstGeom prst="rect">
            <a:avLst/>
          </a:prstGeom>
          <a:noFill/>
        </p:spPr>
        <p:txBody>
          <a:bodyPr wrap="square" lIns="0" rIns="0" tIns="0" bIns="0" anchor="ctr">
            <a:spAutoFit/>
          </a:bodyPr>
          <a:lstStyle/>
          <a:p>
            <a:pPr algn="ctr">
              <a:lnSpc>
                <a:spcPct val="115000"/>
              </a:lnSpc>
              <a:spcAft>
                <a:spcPts val="0"/>
              </a:spcAft>
            </a:pPr>
            <a:r>
              <a:rPr sz="2000" b="1" i="0">
                <a:solidFill>
                  <a:srgbClr val="FFFFFF"/>
                </a:solidFill>
                <a:latin typeface="Georgia"/>
              </a:rPr>
              <a:t>⊕</a:t>
            </a:r>
          </a:p>
        </p:txBody>
      </p:sp>
      <p:sp>
        <p:nvSpPr>
          <p:cNvPr id="15" name="TextBox 14"/>
          <p:cNvSpPr txBox="1"/>
          <p:nvPr/>
        </p:nvSpPr>
        <p:spPr>
          <a:xfrm>
            <a:off x="5212080" y="2560320"/>
            <a:ext cx="2606040" cy="365760"/>
          </a:xfrm>
          <a:prstGeom prst="rect">
            <a:avLst/>
          </a:prstGeom>
          <a:noFill/>
        </p:spPr>
        <p:txBody>
          <a:bodyPr wrap="square" lIns="0" rIns="0" tIns="0" bIns="0" anchor="t">
            <a:spAutoFit/>
          </a:bodyPr>
          <a:lstStyle/>
          <a:p>
            <a:pPr algn="l">
              <a:lnSpc>
                <a:spcPct val="115000"/>
              </a:lnSpc>
              <a:spcAft>
                <a:spcPts val="0"/>
              </a:spcAft>
            </a:pPr>
            <a:r>
              <a:rPr sz="1400" b="1" i="0">
                <a:solidFill>
                  <a:srgbClr val="0F4C5C"/>
                </a:solidFill>
                <a:latin typeface="Calibri"/>
              </a:rPr>
              <a:t>Cakupan Penyakit</a:t>
            </a:r>
          </a:p>
        </p:txBody>
      </p:sp>
      <p:sp>
        <p:nvSpPr>
          <p:cNvPr id="16" name="TextBox 15"/>
          <p:cNvSpPr txBox="1"/>
          <p:nvPr/>
        </p:nvSpPr>
        <p:spPr>
          <a:xfrm>
            <a:off x="4617720" y="3200400"/>
            <a:ext cx="3154680" cy="640080"/>
          </a:xfrm>
          <a:prstGeom prst="rect">
            <a:avLst/>
          </a:prstGeom>
          <a:noFill/>
        </p:spPr>
        <p:txBody>
          <a:bodyPr wrap="square" lIns="0" rIns="0" tIns="0" bIns="0" anchor="t">
            <a:spAutoFit/>
          </a:bodyPr>
          <a:lstStyle/>
          <a:p>
            <a:pPr algn="l">
              <a:lnSpc>
                <a:spcPct val="130000"/>
              </a:lnSpc>
              <a:spcAft>
                <a:spcPts val="0"/>
              </a:spcAft>
            </a:pPr>
            <a:r>
              <a:rPr sz="1100" b="0" i="0">
                <a:solidFill>
                  <a:srgbClr val="5C6B7A"/>
                </a:solidFill>
                <a:latin typeface="Calibri"/>
              </a:rPr>
              <a:t>10 jenis penyakit avian yang terdata pada basis pengetahuan.</a:t>
            </a:r>
          </a:p>
        </p:txBody>
      </p:sp>
      <p:sp>
        <p:nvSpPr>
          <p:cNvPr id="17" name="Rectangle 16"/>
          <p:cNvSpPr/>
          <p:nvPr/>
        </p:nvSpPr>
        <p:spPr>
          <a:xfrm>
            <a:off x="8046720" y="2286000"/>
            <a:ext cx="3611880" cy="155448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321040" y="2560320"/>
            <a:ext cx="502920" cy="502920"/>
          </a:xfrm>
          <a:prstGeom prst="ellipse">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321040" y="2560320"/>
            <a:ext cx="502920" cy="502920"/>
          </a:xfrm>
          <a:prstGeom prst="rect">
            <a:avLst/>
          </a:prstGeom>
          <a:noFill/>
        </p:spPr>
        <p:txBody>
          <a:bodyPr wrap="square" lIns="0" rIns="0" tIns="0" bIns="0" anchor="ctr">
            <a:spAutoFit/>
          </a:bodyPr>
          <a:lstStyle/>
          <a:p>
            <a:pPr algn="ctr">
              <a:lnSpc>
                <a:spcPct val="115000"/>
              </a:lnSpc>
              <a:spcAft>
                <a:spcPts val="0"/>
              </a:spcAft>
            </a:pPr>
            <a:r>
              <a:rPr sz="2000" b="1" i="0">
                <a:solidFill>
                  <a:srgbClr val="FFFFFF"/>
                </a:solidFill>
                <a:latin typeface="Georgia"/>
              </a:rPr>
              <a:t>→</a:t>
            </a:r>
          </a:p>
        </p:txBody>
      </p:sp>
      <p:sp>
        <p:nvSpPr>
          <p:cNvPr id="20" name="TextBox 19"/>
          <p:cNvSpPr txBox="1"/>
          <p:nvPr/>
        </p:nvSpPr>
        <p:spPr>
          <a:xfrm>
            <a:off x="8961120" y="2560320"/>
            <a:ext cx="2606040" cy="365760"/>
          </a:xfrm>
          <a:prstGeom prst="rect">
            <a:avLst/>
          </a:prstGeom>
          <a:noFill/>
        </p:spPr>
        <p:txBody>
          <a:bodyPr wrap="square" lIns="0" rIns="0" tIns="0" bIns="0" anchor="t">
            <a:spAutoFit/>
          </a:bodyPr>
          <a:lstStyle/>
          <a:p>
            <a:pPr algn="l">
              <a:lnSpc>
                <a:spcPct val="115000"/>
              </a:lnSpc>
              <a:spcAft>
                <a:spcPts val="0"/>
              </a:spcAft>
            </a:pPr>
            <a:r>
              <a:rPr sz="1400" b="1" i="0">
                <a:solidFill>
                  <a:srgbClr val="0F4C5C"/>
                </a:solidFill>
                <a:latin typeface="Calibri"/>
              </a:rPr>
              <a:t>Metode Inferensi</a:t>
            </a:r>
          </a:p>
        </p:txBody>
      </p:sp>
      <p:sp>
        <p:nvSpPr>
          <p:cNvPr id="21" name="TextBox 20"/>
          <p:cNvSpPr txBox="1"/>
          <p:nvPr/>
        </p:nvSpPr>
        <p:spPr>
          <a:xfrm>
            <a:off x="8366760" y="3200400"/>
            <a:ext cx="3154680" cy="640080"/>
          </a:xfrm>
          <a:prstGeom prst="rect">
            <a:avLst/>
          </a:prstGeom>
          <a:noFill/>
        </p:spPr>
        <p:txBody>
          <a:bodyPr wrap="square" lIns="0" rIns="0" tIns="0" bIns="0" anchor="t">
            <a:spAutoFit/>
          </a:bodyPr>
          <a:lstStyle/>
          <a:p>
            <a:pPr algn="l">
              <a:lnSpc>
                <a:spcPct val="130000"/>
              </a:lnSpc>
              <a:spcAft>
                <a:spcPts val="0"/>
              </a:spcAft>
            </a:pPr>
            <a:r>
              <a:rPr sz="1100" b="0" i="0">
                <a:solidFill>
                  <a:srgbClr val="5C6B7A"/>
                </a:solidFill>
                <a:latin typeface="Calibri"/>
              </a:rPr>
              <a:t>Forward Chaining berbasis aturan (rule-based).</a:t>
            </a:r>
          </a:p>
        </p:txBody>
      </p:sp>
      <p:sp>
        <p:nvSpPr>
          <p:cNvPr id="22" name="Rectangle 21"/>
          <p:cNvSpPr/>
          <p:nvPr/>
        </p:nvSpPr>
        <p:spPr>
          <a:xfrm>
            <a:off x="548640" y="4023360"/>
            <a:ext cx="3611880" cy="155448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822960" y="4297680"/>
            <a:ext cx="502920" cy="502920"/>
          </a:xfrm>
          <a:prstGeom prst="ellipse">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22960" y="4297680"/>
            <a:ext cx="502920" cy="502920"/>
          </a:xfrm>
          <a:prstGeom prst="rect">
            <a:avLst/>
          </a:prstGeom>
          <a:noFill/>
        </p:spPr>
        <p:txBody>
          <a:bodyPr wrap="square" lIns="0" rIns="0" tIns="0" bIns="0" anchor="ctr">
            <a:spAutoFit/>
          </a:bodyPr>
          <a:lstStyle/>
          <a:p>
            <a:pPr algn="ctr">
              <a:lnSpc>
                <a:spcPct val="115000"/>
              </a:lnSpc>
              <a:spcAft>
                <a:spcPts val="0"/>
              </a:spcAft>
            </a:pPr>
            <a:r>
              <a:rPr sz="2000" b="1" i="0">
                <a:solidFill>
                  <a:srgbClr val="FFFFFF"/>
                </a:solidFill>
                <a:latin typeface="Georgia"/>
              </a:rPr>
              <a:t>◇</a:t>
            </a:r>
          </a:p>
        </p:txBody>
      </p:sp>
      <p:sp>
        <p:nvSpPr>
          <p:cNvPr id="25" name="TextBox 24"/>
          <p:cNvSpPr txBox="1"/>
          <p:nvPr/>
        </p:nvSpPr>
        <p:spPr>
          <a:xfrm>
            <a:off x="1463040" y="4297680"/>
            <a:ext cx="2606040" cy="365760"/>
          </a:xfrm>
          <a:prstGeom prst="rect">
            <a:avLst/>
          </a:prstGeom>
          <a:noFill/>
        </p:spPr>
        <p:txBody>
          <a:bodyPr wrap="square" lIns="0" rIns="0" tIns="0" bIns="0" anchor="t">
            <a:spAutoFit/>
          </a:bodyPr>
          <a:lstStyle/>
          <a:p>
            <a:pPr algn="l">
              <a:lnSpc>
                <a:spcPct val="115000"/>
              </a:lnSpc>
              <a:spcAft>
                <a:spcPts val="0"/>
              </a:spcAft>
            </a:pPr>
            <a:r>
              <a:rPr sz="1400" b="1" i="0">
                <a:solidFill>
                  <a:srgbClr val="0F4C5C"/>
                </a:solidFill>
                <a:latin typeface="Calibri"/>
              </a:rPr>
              <a:t>Gejala</a:t>
            </a:r>
          </a:p>
        </p:txBody>
      </p:sp>
      <p:sp>
        <p:nvSpPr>
          <p:cNvPr id="26" name="TextBox 25"/>
          <p:cNvSpPr txBox="1"/>
          <p:nvPr/>
        </p:nvSpPr>
        <p:spPr>
          <a:xfrm>
            <a:off x="868680" y="4937760"/>
            <a:ext cx="3154680" cy="640080"/>
          </a:xfrm>
          <a:prstGeom prst="rect">
            <a:avLst/>
          </a:prstGeom>
          <a:noFill/>
        </p:spPr>
        <p:txBody>
          <a:bodyPr wrap="square" lIns="0" rIns="0" tIns="0" bIns="0" anchor="t">
            <a:spAutoFit/>
          </a:bodyPr>
          <a:lstStyle/>
          <a:p>
            <a:pPr algn="l">
              <a:lnSpc>
                <a:spcPct val="130000"/>
              </a:lnSpc>
              <a:spcAft>
                <a:spcPts val="0"/>
              </a:spcAft>
            </a:pPr>
            <a:r>
              <a:rPr sz="1100" b="0" i="0">
                <a:solidFill>
                  <a:srgbClr val="5C6B7A"/>
                </a:solidFill>
                <a:latin typeface="Calibri"/>
              </a:rPr>
              <a:t>30 gejala klinis yang menjadi dasar diagnosa.</a:t>
            </a:r>
          </a:p>
        </p:txBody>
      </p:sp>
      <p:sp>
        <p:nvSpPr>
          <p:cNvPr id="27" name="Rectangle 26"/>
          <p:cNvSpPr/>
          <p:nvPr/>
        </p:nvSpPr>
        <p:spPr>
          <a:xfrm>
            <a:off x="4297680" y="4023360"/>
            <a:ext cx="3611880" cy="155448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4572000" y="4297680"/>
            <a:ext cx="502920" cy="502920"/>
          </a:xfrm>
          <a:prstGeom prst="ellipse">
            <a:avLst/>
          </a:prstGeom>
          <a:solidFill>
            <a:srgbClr val="1B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572000" y="4297680"/>
            <a:ext cx="502920" cy="502920"/>
          </a:xfrm>
          <a:prstGeom prst="rect">
            <a:avLst/>
          </a:prstGeom>
          <a:noFill/>
        </p:spPr>
        <p:txBody>
          <a:bodyPr wrap="square" lIns="0" rIns="0" tIns="0" bIns="0" anchor="ctr">
            <a:spAutoFit/>
          </a:bodyPr>
          <a:lstStyle/>
          <a:p>
            <a:pPr algn="ctr">
              <a:lnSpc>
                <a:spcPct val="115000"/>
              </a:lnSpc>
              <a:spcAft>
                <a:spcPts val="0"/>
              </a:spcAft>
            </a:pPr>
            <a:r>
              <a:rPr sz="2000" b="1" i="0">
                <a:solidFill>
                  <a:srgbClr val="FFFFFF"/>
                </a:solidFill>
                <a:latin typeface="Georgia"/>
              </a:rPr>
              <a:t>&lt;/&gt;</a:t>
            </a:r>
          </a:p>
        </p:txBody>
      </p:sp>
      <p:sp>
        <p:nvSpPr>
          <p:cNvPr id="30" name="TextBox 29"/>
          <p:cNvSpPr txBox="1"/>
          <p:nvPr/>
        </p:nvSpPr>
        <p:spPr>
          <a:xfrm>
            <a:off x="5212080" y="4297680"/>
            <a:ext cx="2606040" cy="365760"/>
          </a:xfrm>
          <a:prstGeom prst="rect">
            <a:avLst/>
          </a:prstGeom>
          <a:noFill/>
        </p:spPr>
        <p:txBody>
          <a:bodyPr wrap="square" lIns="0" rIns="0" tIns="0" bIns="0" anchor="t">
            <a:spAutoFit/>
          </a:bodyPr>
          <a:lstStyle/>
          <a:p>
            <a:pPr algn="l">
              <a:lnSpc>
                <a:spcPct val="115000"/>
              </a:lnSpc>
              <a:spcAft>
                <a:spcPts val="0"/>
              </a:spcAft>
            </a:pPr>
            <a:r>
              <a:rPr sz="1400" b="1" i="0">
                <a:solidFill>
                  <a:srgbClr val="0F4C5C"/>
                </a:solidFill>
                <a:latin typeface="Calibri"/>
              </a:rPr>
              <a:t>Platform</a:t>
            </a:r>
          </a:p>
        </p:txBody>
      </p:sp>
      <p:sp>
        <p:nvSpPr>
          <p:cNvPr id="31" name="TextBox 30"/>
          <p:cNvSpPr txBox="1"/>
          <p:nvPr/>
        </p:nvSpPr>
        <p:spPr>
          <a:xfrm>
            <a:off x="4617720" y="4937760"/>
            <a:ext cx="3154680" cy="640080"/>
          </a:xfrm>
          <a:prstGeom prst="rect">
            <a:avLst/>
          </a:prstGeom>
          <a:noFill/>
        </p:spPr>
        <p:txBody>
          <a:bodyPr wrap="square" lIns="0" rIns="0" tIns="0" bIns="0" anchor="t">
            <a:spAutoFit/>
          </a:bodyPr>
          <a:lstStyle/>
          <a:p>
            <a:pPr algn="l">
              <a:lnSpc>
                <a:spcPct val="130000"/>
              </a:lnSpc>
              <a:spcAft>
                <a:spcPts val="0"/>
              </a:spcAft>
            </a:pPr>
            <a:r>
              <a:rPr sz="1100" b="0" i="0">
                <a:solidFill>
                  <a:srgbClr val="5C6B7A"/>
                </a:solidFill>
                <a:latin typeface="Calibri"/>
              </a:rPr>
              <a:t>Aplikasi berbasis web menggunakan PHP &amp; MySQL.</a:t>
            </a:r>
          </a:p>
        </p:txBody>
      </p:sp>
      <p:sp>
        <p:nvSpPr>
          <p:cNvPr id="32" name="Rectangle 31"/>
          <p:cNvSpPr/>
          <p:nvPr/>
        </p:nvSpPr>
        <p:spPr>
          <a:xfrm>
            <a:off x="8046720" y="4023360"/>
            <a:ext cx="3611880" cy="155448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8321040" y="4297680"/>
            <a:ext cx="502920" cy="502920"/>
          </a:xfrm>
          <a:prstGeom prst="ellipse">
            <a:avLst/>
          </a:prstGeom>
          <a:solidFill>
            <a:srgbClr val="C14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321040" y="4297680"/>
            <a:ext cx="502920" cy="502920"/>
          </a:xfrm>
          <a:prstGeom prst="rect">
            <a:avLst/>
          </a:prstGeom>
          <a:noFill/>
        </p:spPr>
        <p:txBody>
          <a:bodyPr wrap="square" lIns="0" rIns="0" tIns="0" bIns="0" anchor="ctr">
            <a:spAutoFit/>
          </a:bodyPr>
          <a:lstStyle/>
          <a:p>
            <a:pPr algn="ctr">
              <a:lnSpc>
                <a:spcPct val="115000"/>
              </a:lnSpc>
              <a:spcAft>
                <a:spcPts val="0"/>
              </a:spcAft>
            </a:pPr>
            <a:r>
              <a:rPr sz="2000" b="1" i="0">
                <a:solidFill>
                  <a:srgbClr val="FFFFFF"/>
                </a:solidFill>
                <a:latin typeface="Georgia"/>
              </a:rPr>
              <a:t>♥</a:t>
            </a:r>
          </a:p>
        </p:txBody>
      </p:sp>
      <p:sp>
        <p:nvSpPr>
          <p:cNvPr id="35" name="TextBox 34"/>
          <p:cNvSpPr txBox="1"/>
          <p:nvPr/>
        </p:nvSpPr>
        <p:spPr>
          <a:xfrm>
            <a:off x="8961120" y="4297680"/>
            <a:ext cx="2606040" cy="365760"/>
          </a:xfrm>
          <a:prstGeom prst="rect">
            <a:avLst/>
          </a:prstGeom>
          <a:noFill/>
        </p:spPr>
        <p:txBody>
          <a:bodyPr wrap="square" lIns="0" rIns="0" tIns="0" bIns="0" anchor="t">
            <a:spAutoFit/>
          </a:bodyPr>
          <a:lstStyle/>
          <a:p>
            <a:pPr algn="l">
              <a:lnSpc>
                <a:spcPct val="115000"/>
              </a:lnSpc>
              <a:spcAft>
                <a:spcPts val="0"/>
              </a:spcAft>
            </a:pPr>
            <a:r>
              <a:rPr sz="1400" b="1" i="0">
                <a:solidFill>
                  <a:srgbClr val="0F4C5C"/>
                </a:solidFill>
                <a:latin typeface="Calibri"/>
              </a:rPr>
              <a:t>Pengguna</a:t>
            </a:r>
          </a:p>
        </p:txBody>
      </p:sp>
      <p:sp>
        <p:nvSpPr>
          <p:cNvPr id="36" name="TextBox 35"/>
          <p:cNvSpPr txBox="1"/>
          <p:nvPr/>
        </p:nvSpPr>
        <p:spPr>
          <a:xfrm>
            <a:off x="8366760" y="4937760"/>
            <a:ext cx="3154680" cy="640080"/>
          </a:xfrm>
          <a:prstGeom prst="rect">
            <a:avLst/>
          </a:prstGeom>
          <a:noFill/>
        </p:spPr>
        <p:txBody>
          <a:bodyPr wrap="square" lIns="0" rIns="0" tIns="0" bIns="0" anchor="t">
            <a:spAutoFit/>
          </a:bodyPr>
          <a:lstStyle/>
          <a:p>
            <a:pPr algn="l">
              <a:lnSpc>
                <a:spcPct val="130000"/>
              </a:lnSpc>
              <a:spcAft>
                <a:spcPts val="0"/>
              </a:spcAft>
            </a:pPr>
            <a:r>
              <a:rPr sz="1100" b="0" i="0">
                <a:solidFill>
                  <a:srgbClr val="5C6B7A"/>
                </a:solidFill>
                <a:latin typeface="Calibri"/>
              </a:rPr>
              <a:t>Peternak merpati, peneliti, dan dokter hewan.</a:t>
            </a:r>
          </a:p>
        </p:txBody>
      </p:sp>
      <p:sp>
        <p:nvSpPr>
          <p:cNvPr id="37" name="TextBox 36"/>
          <p:cNvSpPr txBox="1"/>
          <p:nvPr/>
        </p:nvSpPr>
        <p:spPr>
          <a:xfrm>
            <a:off x="10911535" y="6400800"/>
            <a:ext cx="914400" cy="274320"/>
          </a:xfrm>
          <a:prstGeom prst="rect">
            <a:avLst/>
          </a:prstGeom>
          <a:noFill/>
        </p:spPr>
        <p:txBody>
          <a:bodyPr wrap="square" lIns="0" rIns="0" tIns="0" bIns="0" anchor="t">
            <a:spAutoFit/>
          </a:bodyPr>
          <a:lstStyle/>
          <a:p>
            <a:pPr algn="r">
              <a:lnSpc>
                <a:spcPct val="115000"/>
              </a:lnSpc>
              <a:spcAft>
                <a:spcPts val="0"/>
              </a:spcAft>
            </a:pPr>
            <a:r>
              <a:rPr sz="1000" b="1" i="0">
                <a:solidFill>
                  <a:srgbClr val="5C6B7A"/>
                </a:solidFill>
                <a:latin typeface="Calibri"/>
              </a:rPr>
              <a:t>04 / 15</a:t>
            </a:r>
          </a:p>
        </p:txBody>
      </p:sp>
      <p:sp>
        <p:nvSpPr>
          <p:cNvPr id="38" name="TextBox 37"/>
          <p:cNvSpPr txBox="1"/>
          <p:nvPr/>
        </p:nvSpPr>
        <p:spPr>
          <a:xfrm>
            <a:off x="457200" y="6400800"/>
            <a:ext cx="7315200" cy="274320"/>
          </a:xfrm>
          <a:prstGeom prst="rect">
            <a:avLst/>
          </a:prstGeom>
          <a:noFill/>
        </p:spPr>
        <p:txBody>
          <a:bodyPr wrap="square" lIns="0" rIns="0" tIns="0" bIns="0" anchor="t">
            <a:spAutoFit/>
          </a:bodyPr>
          <a:lstStyle/>
          <a:p>
            <a:pPr algn="l">
              <a:lnSpc>
                <a:spcPct val="115000"/>
              </a:lnSpc>
              <a:spcAft>
                <a:spcPts val="0"/>
              </a:spcAft>
            </a:pPr>
            <a:r>
              <a:rPr sz="1000" b="1" i="0">
                <a:solidFill>
                  <a:srgbClr val="5C6B7A"/>
                </a:solidFill>
                <a:latin typeface="Calibri"/>
              </a:rPr>
              <a:t>Klinik Merpati  •  Sistem Pakar Diagnosa Avian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502920"/>
            <a:ext cx="164592" cy="1645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11480"/>
            <a:ext cx="7315200" cy="320040"/>
          </a:xfrm>
          <a:prstGeom prst="rect">
            <a:avLst/>
          </a:prstGeom>
          <a:noFill/>
        </p:spPr>
        <p:txBody>
          <a:bodyPr wrap="square" lIns="0" rIns="0" tIns="0" bIns="0" anchor="t">
            <a:spAutoFit/>
          </a:bodyPr>
          <a:lstStyle/>
          <a:p>
            <a:pPr algn="l">
              <a:lnSpc>
                <a:spcPct val="115000"/>
              </a:lnSpc>
              <a:spcAft>
                <a:spcPts val="0"/>
              </a:spcAft>
            </a:pPr>
            <a:r>
              <a:rPr sz="1100" b="1" i="0">
                <a:solidFill>
                  <a:srgbClr val="E76F51"/>
                </a:solidFill>
                <a:latin typeface="Calibri"/>
              </a:rPr>
              <a:t>BAB I  •  PENDAHULUAN</a:t>
            </a:r>
          </a:p>
        </p:txBody>
      </p:sp>
      <p:sp>
        <p:nvSpPr>
          <p:cNvPr id="5" name="TextBox 4"/>
          <p:cNvSpPr txBox="1"/>
          <p:nvPr/>
        </p:nvSpPr>
        <p:spPr>
          <a:xfrm>
            <a:off x="548640" y="777240"/>
            <a:ext cx="10515600" cy="640080"/>
          </a:xfrm>
          <a:prstGeom prst="rect">
            <a:avLst/>
          </a:prstGeom>
          <a:noFill/>
        </p:spPr>
        <p:txBody>
          <a:bodyPr wrap="square" lIns="0" rIns="0" tIns="0" bIns="0" anchor="t">
            <a:spAutoFit/>
          </a:bodyPr>
          <a:lstStyle/>
          <a:p>
            <a:pPr algn="l">
              <a:lnSpc>
                <a:spcPct val="115000"/>
              </a:lnSpc>
              <a:spcAft>
                <a:spcPts val="0"/>
              </a:spcAft>
            </a:pPr>
            <a:r>
              <a:rPr sz="3200" b="1" i="0">
                <a:solidFill>
                  <a:srgbClr val="0F4C5C"/>
                </a:solidFill>
                <a:latin typeface="Georgia"/>
              </a:rPr>
              <a:t>Tujuan Penelitian</a:t>
            </a:r>
          </a:p>
        </p:txBody>
      </p:sp>
      <p:sp>
        <p:nvSpPr>
          <p:cNvPr id="6" name="TextBox 5"/>
          <p:cNvSpPr txBox="1"/>
          <p:nvPr/>
        </p:nvSpPr>
        <p:spPr>
          <a:xfrm>
            <a:off x="548640" y="1554480"/>
            <a:ext cx="11064240" cy="457200"/>
          </a:xfrm>
          <a:prstGeom prst="rect">
            <a:avLst/>
          </a:prstGeom>
          <a:noFill/>
        </p:spPr>
        <p:txBody>
          <a:bodyPr wrap="square" lIns="0" rIns="0" tIns="0" bIns="0" anchor="t">
            <a:spAutoFit/>
          </a:bodyPr>
          <a:lstStyle/>
          <a:p>
            <a:pPr algn="l">
              <a:lnSpc>
                <a:spcPct val="140000"/>
              </a:lnSpc>
              <a:spcAft>
                <a:spcPts val="0"/>
              </a:spcAft>
            </a:pPr>
            <a:r>
              <a:rPr sz="1400" b="0" i="1">
                <a:solidFill>
                  <a:srgbClr val="5C6B7A"/>
                </a:solidFill>
                <a:latin typeface="Calibri"/>
              </a:rPr>
              <a:t>Tujuan yang ingin dicapai dalam penelitian ini adalah:</a:t>
            </a:r>
          </a:p>
        </p:txBody>
      </p:sp>
      <p:sp>
        <p:nvSpPr>
          <p:cNvPr id="7" name="Rectangle 6"/>
          <p:cNvSpPr/>
          <p:nvPr/>
        </p:nvSpPr>
        <p:spPr>
          <a:xfrm>
            <a:off x="548640" y="2286000"/>
            <a:ext cx="5440680" cy="17830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22960" y="2468880"/>
            <a:ext cx="1828800" cy="914400"/>
          </a:xfrm>
          <a:prstGeom prst="rect">
            <a:avLst/>
          </a:prstGeom>
          <a:noFill/>
        </p:spPr>
        <p:txBody>
          <a:bodyPr wrap="square" lIns="0" rIns="0" tIns="0" bIns="0" anchor="t">
            <a:spAutoFit/>
          </a:bodyPr>
          <a:lstStyle/>
          <a:p>
            <a:pPr algn="l">
              <a:lnSpc>
                <a:spcPct val="100000"/>
              </a:lnSpc>
              <a:spcAft>
                <a:spcPts val="0"/>
              </a:spcAft>
            </a:pPr>
            <a:r>
              <a:rPr sz="5000" b="1" i="0">
                <a:solidFill>
                  <a:srgbClr val="E9C46A"/>
                </a:solidFill>
                <a:latin typeface="Georgia"/>
              </a:rPr>
              <a:t>01</a:t>
            </a:r>
          </a:p>
        </p:txBody>
      </p:sp>
      <p:sp>
        <p:nvSpPr>
          <p:cNvPr id="9" name="TextBox 8"/>
          <p:cNvSpPr txBox="1"/>
          <p:nvPr/>
        </p:nvSpPr>
        <p:spPr>
          <a:xfrm>
            <a:off x="2560320" y="2560320"/>
            <a:ext cx="3246120" cy="457200"/>
          </a:xfrm>
          <a:prstGeom prst="rect">
            <a:avLst/>
          </a:prstGeom>
          <a:noFill/>
        </p:spPr>
        <p:txBody>
          <a:bodyPr wrap="square" lIns="0" rIns="0" tIns="0" bIns="0" anchor="t">
            <a:spAutoFit/>
          </a:bodyPr>
          <a:lstStyle/>
          <a:p>
            <a:pPr algn="l">
              <a:lnSpc>
                <a:spcPct val="115000"/>
              </a:lnSpc>
              <a:spcAft>
                <a:spcPts val="0"/>
              </a:spcAft>
            </a:pPr>
            <a:r>
              <a:rPr sz="1700" b="1" i="0">
                <a:solidFill>
                  <a:srgbClr val="E9C46A"/>
                </a:solidFill>
                <a:latin typeface="Calibri"/>
              </a:rPr>
              <a:t>Membangun Sistem</a:t>
            </a:r>
          </a:p>
        </p:txBody>
      </p:sp>
      <p:sp>
        <p:nvSpPr>
          <p:cNvPr id="10" name="TextBox 9"/>
          <p:cNvSpPr txBox="1"/>
          <p:nvPr/>
        </p:nvSpPr>
        <p:spPr>
          <a:xfrm>
            <a:off x="2560320" y="2999232"/>
            <a:ext cx="3246120" cy="914400"/>
          </a:xfrm>
          <a:prstGeom prst="rect">
            <a:avLst/>
          </a:prstGeom>
          <a:noFill/>
        </p:spPr>
        <p:txBody>
          <a:bodyPr wrap="square" lIns="0" rIns="0" tIns="0" bIns="0" anchor="t">
            <a:spAutoFit/>
          </a:bodyPr>
          <a:lstStyle/>
          <a:p>
            <a:pPr algn="l">
              <a:lnSpc>
                <a:spcPct val="130000"/>
              </a:lnSpc>
              <a:spcAft>
                <a:spcPts val="0"/>
              </a:spcAft>
            </a:pPr>
            <a:r>
              <a:rPr sz="1100" b="0" i="0">
                <a:solidFill>
                  <a:srgbClr val="E9C46A"/>
                </a:solidFill>
                <a:latin typeface="Calibri"/>
              </a:rPr>
              <a:t>Merancang dan membangun sistem pakar berbasis web untuk diagnosa penyakit avian pada merpati.</a:t>
            </a:r>
          </a:p>
        </p:txBody>
      </p:sp>
      <p:sp>
        <p:nvSpPr>
          <p:cNvPr id="11" name="Rectangle 10"/>
          <p:cNvSpPr/>
          <p:nvPr/>
        </p:nvSpPr>
        <p:spPr>
          <a:xfrm>
            <a:off x="822960" y="3977640"/>
            <a:ext cx="457200" cy="36576"/>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172200" y="2286000"/>
            <a:ext cx="5440680" cy="178308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46520" y="2468880"/>
            <a:ext cx="1828800" cy="914400"/>
          </a:xfrm>
          <a:prstGeom prst="rect">
            <a:avLst/>
          </a:prstGeom>
          <a:noFill/>
        </p:spPr>
        <p:txBody>
          <a:bodyPr wrap="square" lIns="0" rIns="0" tIns="0" bIns="0" anchor="t">
            <a:spAutoFit/>
          </a:bodyPr>
          <a:lstStyle/>
          <a:p>
            <a:pPr algn="l">
              <a:lnSpc>
                <a:spcPct val="100000"/>
              </a:lnSpc>
              <a:spcAft>
                <a:spcPts val="0"/>
              </a:spcAft>
            </a:pPr>
            <a:r>
              <a:rPr sz="5000" b="1" i="0">
                <a:solidFill>
                  <a:srgbClr val="F7F3EC"/>
                </a:solidFill>
                <a:latin typeface="Georgia"/>
              </a:rPr>
              <a:t>02</a:t>
            </a:r>
          </a:p>
        </p:txBody>
      </p:sp>
      <p:sp>
        <p:nvSpPr>
          <p:cNvPr id="14" name="TextBox 13"/>
          <p:cNvSpPr txBox="1"/>
          <p:nvPr/>
        </p:nvSpPr>
        <p:spPr>
          <a:xfrm>
            <a:off x="8183880" y="2560320"/>
            <a:ext cx="3246120" cy="457200"/>
          </a:xfrm>
          <a:prstGeom prst="rect">
            <a:avLst/>
          </a:prstGeom>
          <a:noFill/>
        </p:spPr>
        <p:txBody>
          <a:bodyPr wrap="square" lIns="0" rIns="0" tIns="0" bIns="0" anchor="t">
            <a:spAutoFit/>
          </a:bodyPr>
          <a:lstStyle/>
          <a:p>
            <a:pPr algn="l">
              <a:lnSpc>
                <a:spcPct val="115000"/>
              </a:lnSpc>
              <a:spcAft>
                <a:spcPts val="0"/>
              </a:spcAft>
            </a:pPr>
            <a:r>
              <a:rPr sz="1700" b="1" i="0">
                <a:solidFill>
                  <a:srgbClr val="F7F3EC"/>
                </a:solidFill>
                <a:latin typeface="Calibri"/>
              </a:rPr>
              <a:t>Menerapkan Metode</a:t>
            </a:r>
          </a:p>
        </p:txBody>
      </p:sp>
      <p:sp>
        <p:nvSpPr>
          <p:cNvPr id="15" name="TextBox 14"/>
          <p:cNvSpPr txBox="1"/>
          <p:nvPr/>
        </p:nvSpPr>
        <p:spPr>
          <a:xfrm>
            <a:off x="8183880" y="2999232"/>
            <a:ext cx="3246120" cy="914400"/>
          </a:xfrm>
          <a:prstGeom prst="rect">
            <a:avLst/>
          </a:prstGeom>
          <a:noFill/>
        </p:spPr>
        <p:txBody>
          <a:bodyPr wrap="square" lIns="0" rIns="0" tIns="0" bIns="0" anchor="t">
            <a:spAutoFit/>
          </a:bodyPr>
          <a:lstStyle/>
          <a:p>
            <a:pPr algn="l">
              <a:lnSpc>
                <a:spcPct val="130000"/>
              </a:lnSpc>
              <a:spcAft>
                <a:spcPts val="0"/>
              </a:spcAft>
            </a:pPr>
            <a:r>
              <a:rPr sz="1100" b="0" i="0">
                <a:solidFill>
                  <a:srgbClr val="F7F3EC"/>
                </a:solidFill>
                <a:latin typeface="Calibri"/>
              </a:rPr>
              <a:t>Mengimplementasikan metode Forward Chaining sebagai mesin inferensi utama sistem pakar.</a:t>
            </a:r>
          </a:p>
        </p:txBody>
      </p:sp>
      <p:sp>
        <p:nvSpPr>
          <p:cNvPr id="16" name="Rectangle 15"/>
          <p:cNvSpPr/>
          <p:nvPr/>
        </p:nvSpPr>
        <p:spPr>
          <a:xfrm>
            <a:off x="6446520" y="3977640"/>
            <a:ext cx="457200" cy="36576"/>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48640" y="4251960"/>
            <a:ext cx="5440680" cy="1783080"/>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2960" y="4434840"/>
            <a:ext cx="1828800" cy="914400"/>
          </a:xfrm>
          <a:prstGeom prst="rect">
            <a:avLst/>
          </a:prstGeom>
          <a:noFill/>
        </p:spPr>
        <p:txBody>
          <a:bodyPr wrap="square" lIns="0" rIns="0" tIns="0" bIns="0" anchor="t">
            <a:spAutoFit/>
          </a:bodyPr>
          <a:lstStyle/>
          <a:p>
            <a:pPr algn="l">
              <a:lnSpc>
                <a:spcPct val="100000"/>
              </a:lnSpc>
              <a:spcAft>
                <a:spcPts val="0"/>
              </a:spcAft>
            </a:pPr>
            <a:r>
              <a:rPr sz="5000" b="1" i="0">
                <a:solidFill>
                  <a:srgbClr val="093542"/>
                </a:solidFill>
                <a:latin typeface="Georgia"/>
              </a:rPr>
              <a:t>03</a:t>
            </a:r>
          </a:p>
        </p:txBody>
      </p:sp>
      <p:sp>
        <p:nvSpPr>
          <p:cNvPr id="19" name="TextBox 18"/>
          <p:cNvSpPr txBox="1"/>
          <p:nvPr/>
        </p:nvSpPr>
        <p:spPr>
          <a:xfrm>
            <a:off x="2560320" y="4526280"/>
            <a:ext cx="3246120" cy="457200"/>
          </a:xfrm>
          <a:prstGeom prst="rect">
            <a:avLst/>
          </a:prstGeom>
          <a:noFill/>
        </p:spPr>
        <p:txBody>
          <a:bodyPr wrap="square" lIns="0" rIns="0" tIns="0" bIns="0" anchor="t">
            <a:spAutoFit/>
          </a:bodyPr>
          <a:lstStyle/>
          <a:p>
            <a:pPr algn="l">
              <a:lnSpc>
                <a:spcPct val="115000"/>
              </a:lnSpc>
              <a:spcAft>
                <a:spcPts val="0"/>
              </a:spcAft>
            </a:pPr>
            <a:r>
              <a:rPr sz="1700" b="1" i="0">
                <a:solidFill>
                  <a:srgbClr val="093542"/>
                </a:solidFill>
                <a:latin typeface="Calibri"/>
              </a:rPr>
              <a:t>Menguji Akurasi</a:t>
            </a:r>
          </a:p>
        </p:txBody>
      </p:sp>
      <p:sp>
        <p:nvSpPr>
          <p:cNvPr id="20" name="TextBox 19"/>
          <p:cNvSpPr txBox="1"/>
          <p:nvPr/>
        </p:nvSpPr>
        <p:spPr>
          <a:xfrm>
            <a:off x="2560320" y="4965192"/>
            <a:ext cx="3246120" cy="914400"/>
          </a:xfrm>
          <a:prstGeom prst="rect">
            <a:avLst/>
          </a:prstGeom>
          <a:noFill/>
        </p:spPr>
        <p:txBody>
          <a:bodyPr wrap="square" lIns="0" rIns="0" tIns="0" bIns="0" anchor="t">
            <a:spAutoFit/>
          </a:bodyPr>
          <a:lstStyle/>
          <a:p>
            <a:pPr algn="l">
              <a:lnSpc>
                <a:spcPct val="130000"/>
              </a:lnSpc>
              <a:spcAft>
                <a:spcPts val="0"/>
              </a:spcAft>
            </a:pPr>
            <a:r>
              <a:rPr sz="1100" b="0" i="0">
                <a:solidFill>
                  <a:srgbClr val="093542"/>
                </a:solidFill>
                <a:latin typeface="Calibri"/>
              </a:rPr>
              <a:t>Menguji tingkat akurasi dan validitas sistem menggunakan metode Black-Box Testing.</a:t>
            </a:r>
          </a:p>
        </p:txBody>
      </p:sp>
      <p:sp>
        <p:nvSpPr>
          <p:cNvPr id="21" name="Rectangle 20"/>
          <p:cNvSpPr/>
          <p:nvPr/>
        </p:nvSpPr>
        <p:spPr>
          <a:xfrm>
            <a:off x="822960" y="5943600"/>
            <a:ext cx="457200" cy="36576"/>
          </a:xfrm>
          <a:prstGeom prst="rect">
            <a:avLst/>
          </a:prstGeom>
          <a:solidFill>
            <a:srgbClr val="0935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172200" y="4251960"/>
            <a:ext cx="5440680" cy="1783080"/>
          </a:xfrm>
          <a:prstGeom prst="rect">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446520" y="4434840"/>
            <a:ext cx="1828800" cy="914400"/>
          </a:xfrm>
          <a:prstGeom prst="rect">
            <a:avLst/>
          </a:prstGeom>
          <a:noFill/>
        </p:spPr>
        <p:txBody>
          <a:bodyPr wrap="square" lIns="0" rIns="0" tIns="0" bIns="0" anchor="t">
            <a:spAutoFit/>
          </a:bodyPr>
          <a:lstStyle/>
          <a:p>
            <a:pPr algn="l">
              <a:lnSpc>
                <a:spcPct val="100000"/>
              </a:lnSpc>
              <a:spcAft>
                <a:spcPts val="0"/>
              </a:spcAft>
            </a:pPr>
            <a:r>
              <a:rPr sz="5000" b="1" i="0">
                <a:solidFill>
                  <a:srgbClr val="093542"/>
                </a:solidFill>
                <a:latin typeface="Georgia"/>
              </a:rPr>
              <a:t>04</a:t>
            </a:r>
          </a:p>
        </p:txBody>
      </p:sp>
      <p:sp>
        <p:nvSpPr>
          <p:cNvPr id="24" name="TextBox 23"/>
          <p:cNvSpPr txBox="1"/>
          <p:nvPr/>
        </p:nvSpPr>
        <p:spPr>
          <a:xfrm>
            <a:off x="8183880" y="4526280"/>
            <a:ext cx="3246120" cy="457200"/>
          </a:xfrm>
          <a:prstGeom prst="rect">
            <a:avLst/>
          </a:prstGeom>
          <a:noFill/>
        </p:spPr>
        <p:txBody>
          <a:bodyPr wrap="square" lIns="0" rIns="0" tIns="0" bIns="0" anchor="t">
            <a:spAutoFit/>
          </a:bodyPr>
          <a:lstStyle/>
          <a:p>
            <a:pPr algn="l">
              <a:lnSpc>
                <a:spcPct val="115000"/>
              </a:lnSpc>
              <a:spcAft>
                <a:spcPts val="0"/>
              </a:spcAft>
            </a:pPr>
            <a:r>
              <a:rPr sz="1700" b="1" i="0">
                <a:solidFill>
                  <a:srgbClr val="093542"/>
                </a:solidFill>
                <a:latin typeface="Calibri"/>
              </a:rPr>
              <a:t>Memberikan Solusi</a:t>
            </a:r>
          </a:p>
        </p:txBody>
      </p:sp>
      <p:sp>
        <p:nvSpPr>
          <p:cNvPr id="25" name="TextBox 24"/>
          <p:cNvSpPr txBox="1"/>
          <p:nvPr/>
        </p:nvSpPr>
        <p:spPr>
          <a:xfrm>
            <a:off x="8183880" y="4965192"/>
            <a:ext cx="3246120" cy="914400"/>
          </a:xfrm>
          <a:prstGeom prst="rect">
            <a:avLst/>
          </a:prstGeom>
          <a:noFill/>
        </p:spPr>
        <p:txBody>
          <a:bodyPr wrap="square" lIns="0" rIns="0" tIns="0" bIns="0" anchor="t">
            <a:spAutoFit/>
          </a:bodyPr>
          <a:lstStyle/>
          <a:p>
            <a:pPr algn="l">
              <a:lnSpc>
                <a:spcPct val="130000"/>
              </a:lnSpc>
              <a:spcAft>
                <a:spcPts val="0"/>
              </a:spcAft>
            </a:pPr>
            <a:r>
              <a:rPr sz="1100" b="0" i="0">
                <a:solidFill>
                  <a:srgbClr val="093542"/>
                </a:solidFill>
                <a:latin typeface="Calibri"/>
              </a:rPr>
              <a:t>Menyediakan alat bantu diagnosa awal yang mudah diakses oleh peternak merpati.</a:t>
            </a:r>
          </a:p>
        </p:txBody>
      </p:sp>
      <p:sp>
        <p:nvSpPr>
          <p:cNvPr id="26" name="Rectangle 25"/>
          <p:cNvSpPr/>
          <p:nvPr/>
        </p:nvSpPr>
        <p:spPr>
          <a:xfrm>
            <a:off x="6446520" y="5943600"/>
            <a:ext cx="457200" cy="36576"/>
          </a:xfrm>
          <a:prstGeom prst="rect">
            <a:avLst/>
          </a:prstGeom>
          <a:solidFill>
            <a:srgbClr val="0935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0911535" y="6400800"/>
            <a:ext cx="914400" cy="274320"/>
          </a:xfrm>
          <a:prstGeom prst="rect">
            <a:avLst/>
          </a:prstGeom>
          <a:noFill/>
        </p:spPr>
        <p:txBody>
          <a:bodyPr wrap="square" lIns="0" rIns="0" tIns="0" bIns="0" anchor="t">
            <a:spAutoFit/>
          </a:bodyPr>
          <a:lstStyle/>
          <a:p>
            <a:pPr algn="r">
              <a:lnSpc>
                <a:spcPct val="115000"/>
              </a:lnSpc>
              <a:spcAft>
                <a:spcPts val="0"/>
              </a:spcAft>
            </a:pPr>
            <a:r>
              <a:rPr sz="1000" b="1" i="0">
                <a:solidFill>
                  <a:srgbClr val="5C6B7A"/>
                </a:solidFill>
                <a:latin typeface="Calibri"/>
              </a:rPr>
              <a:t>05 / 15</a:t>
            </a:r>
          </a:p>
        </p:txBody>
      </p:sp>
      <p:sp>
        <p:nvSpPr>
          <p:cNvPr id="28" name="TextBox 27"/>
          <p:cNvSpPr txBox="1"/>
          <p:nvPr/>
        </p:nvSpPr>
        <p:spPr>
          <a:xfrm>
            <a:off x="457200" y="6400800"/>
            <a:ext cx="7315200" cy="274320"/>
          </a:xfrm>
          <a:prstGeom prst="rect">
            <a:avLst/>
          </a:prstGeom>
          <a:noFill/>
        </p:spPr>
        <p:txBody>
          <a:bodyPr wrap="square" lIns="0" rIns="0" tIns="0" bIns="0" anchor="t">
            <a:spAutoFit/>
          </a:bodyPr>
          <a:lstStyle/>
          <a:p>
            <a:pPr algn="l">
              <a:lnSpc>
                <a:spcPct val="115000"/>
              </a:lnSpc>
              <a:spcAft>
                <a:spcPts val="0"/>
              </a:spcAft>
            </a:pPr>
            <a:r>
              <a:rPr sz="1000" b="1" i="0">
                <a:solidFill>
                  <a:srgbClr val="5C6B7A"/>
                </a:solidFill>
                <a:latin typeface="Calibri"/>
              </a:rPr>
              <a:t>Klinik Merpati  •  Sistem Pakar Diagnosa Avian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502920"/>
            <a:ext cx="164592" cy="1645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11480"/>
            <a:ext cx="7315200" cy="320040"/>
          </a:xfrm>
          <a:prstGeom prst="rect">
            <a:avLst/>
          </a:prstGeom>
          <a:noFill/>
        </p:spPr>
        <p:txBody>
          <a:bodyPr wrap="square" lIns="0" rIns="0" tIns="0" bIns="0" anchor="t">
            <a:spAutoFit/>
          </a:bodyPr>
          <a:lstStyle/>
          <a:p>
            <a:pPr algn="l">
              <a:lnSpc>
                <a:spcPct val="115000"/>
              </a:lnSpc>
              <a:spcAft>
                <a:spcPts val="0"/>
              </a:spcAft>
            </a:pPr>
            <a:r>
              <a:rPr sz="1100" b="1" i="0">
                <a:solidFill>
                  <a:srgbClr val="E76F51"/>
                </a:solidFill>
                <a:latin typeface="Calibri"/>
              </a:rPr>
              <a:t>BAB I  •  PENDAHULUAN</a:t>
            </a:r>
          </a:p>
        </p:txBody>
      </p:sp>
      <p:sp>
        <p:nvSpPr>
          <p:cNvPr id="5" name="TextBox 4"/>
          <p:cNvSpPr txBox="1"/>
          <p:nvPr/>
        </p:nvSpPr>
        <p:spPr>
          <a:xfrm>
            <a:off x="548640" y="777240"/>
            <a:ext cx="10515600" cy="640080"/>
          </a:xfrm>
          <a:prstGeom prst="rect">
            <a:avLst/>
          </a:prstGeom>
          <a:noFill/>
        </p:spPr>
        <p:txBody>
          <a:bodyPr wrap="square" lIns="0" rIns="0" tIns="0" bIns="0" anchor="t">
            <a:spAutoFit/>
          </a:bodyPr>
          <a:lstStyle/>
          <a:p>
            <a:pPr algn="l">
              <a:lnSpc>
                <a:spcPct val="115000"/>
              </a:lnSpc>
              <a:spcAft>
                <a:spcPts val="0"/>
              </a:spcAft>
            </a:pPr>
            <a:r>
              <a:rPr sz="3200" b="1" i="0">
                <a:solidFill>
                  <a:srgbClr val="0F4C5C"/>
                </a:solidFill>
                <a:latin typeface="Georgia"/>
              </a:rPr>
              <a:t>Manfaat Penelitian</a:t>
            </a:r>
          </a:p>
        </p:txBody>
      </p:sp>
      <p:sp>
        <p:nvSpPr>
          <p:cNvPr id="6" name="TextBox 5"/>
          <p:cNvSpPr txBox="1"/>
          <p:nvPr/>
        </p:nvSpPr>
        <p:spPr>
          <a:xfrm>
            <a:off x="548640" y="1554480"/>
            <a:ext cx="11064240" cy="457200"/>
          </a:xfrm>
          <a:prstGeom prst="rect">
            <a:avLst/>
          </a:prstGeom>
          <a:noFill/>
        </p:spPr>
        <p:txBody>
          <a:bodyPr wrap="square" lIns="0" rIns="0" tIns="0" bIns="0" anchor="t">
            <a:spAutoFit/>
          </a:bodyPr>
          <a:lstStyle/>
          <a:p>
            <a:pPr algn="l">
              <a:lnSpc>
                <a:spcPct val="140000"/>
              </a:lnSpc>
              <a:spcAft>
                <a:spcPts val="0"/>
              </a:spcAft>
            </a:pPr>
            <a:r>
              <a:rPr sz="1400" b="0" i="1">
                <a:solidFill>
                  <a:srgbClr val="5C6B7A"/>
                </a:solidFill>
                <a:latin typeface="Calibri"/>
              </a:rPr>
              <a:t>Penelitian ini diharapkan memberikan manfaat bagi berbagai pihak, antara lain:</a:t>
            </a:r>
          </a:p>
        </p:txBody>
      </p:sp>
      <p:sp>
        <p:nvSpPr>
          <p:cNvPr id="7" name="Rectangle 6"/>
          <p:cNvSpPr/>
          <p:nvPr/>
        </p:nvSpPr>
        <p:spPr>
          <a:xfrm>
            <a:off x="548640" y="2286000"/>
            <a:ext cx="2697480" cy="301752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48640" y="2286000"/>
            <a:ext cx="2697480" cy="109728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485900" y="2578608"/>
            <a:ext cx="822960" cy="822960"/>
          </a:xfrm>
          <a:prstGeom prst="ellipse">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485900" y="2578608"/>
            <a:ext cx="822960" cy="822960"/>
          </a:xfrm>
          <a:prstGeom prst="rect">
            <a:avLst/>
          </a:prstGeom>
          <a:noFill/>
        </p:spPr>
        <p:txBody>
          <a:bodyPr wrap="square" lIns="0" rIns="0" tIns="0" bIns="0" anchor="ctr">
            <a:spAutoFit/>
          </a:bodyPr>
          <a:lstStyle/>
          <a:p>
            <a:pPr algn="ctr">
              <a:lnSpc>
                <a:spcPct val="115000"/>
              </a:lnSpc>
              <a:spcAft>
                <a:spcPts val="0"/>
              </a:spcAft>
            </a:pPr>
            <a:r>
              <a:rPr sz="3000" b="1" i="0">
                <a:solidFill>
                  <a:srgbClr val="E76F51"/>
                </a:solidFill>
                <a:latin typeface="Georgia"/>
              </a:rPr>
              <a:t>P</a:t>
            </a:r>
          </a:p>
        </p:txBody>
      </p:sp>
      <p:sp>
        <p:nvSpPr>
          <p:cNvPr id="11" name="TextBox 10"/>
          <p:cNvSpPr txBox="1"/>
          <p:nvPr/>
        </p:nvSpPr>
        <p:spPr>
          <a:xfrm>
            <a:off x="777240" y="3611880"/>
            <a:ext cx="2240280" cy="457200"/>
          </a:xfrm>
          <a:prstGeom prst="rect">
            <a:avLst/>
          </a:prstGeom>
          <a:noFill/>
        </p:spPr>
        <p:txBody>
          <a:bodyPr wrap="square" lIns="0" rIns="0" tIns="0" bIns="0" anchor="t">
            <a:spAutoFit/>
          </a:bodyPr>
          <a:lstStyle/>
          <a:p>
            <a:pPr algn="ctr">
              <a:lnSpc>
                <a:spcPct val="115000"/>
              </a:lnSpc>
              <a:spcAft>
                <a:spcPts val="0"/>
              </a:spcAft>
            </a:pPr>
            <a:r>
              <a:rPr sz="900" b="1" i="0">
                <a:solidFill>
                  <a:srgbClr val="5C6B7A"/>
                </a:solidFill>
                <a:latin typeface="Calibri"/>
              </a:rPr>
              <a:t>UNTUK</a:t>
            </a:r>
          </a:p>
        </p:txBody>
      </p:sp>
      <p:sp>
        <p:nvSpPr>
          <p:cNvPr id="12" name="TextBox 11"/>
          <p:cNvSpPr txBox="1"/>
          <p:nvPr/>
        </p:nvSpPr>
        <p:spPr>
          <a:xfrm>
            <a:off x="777240" y="3840480"/>
            <a:ext cx="2240280" cy="457200"/>
          </a:xfrm>
          <a:prstGeom prst="rect">
            <a:avLst/>
          </a:prstGeom>
          <a:noFill/>
        </p:spPr>
        <p:txBody>
          <a:bodyPr wrap="square" lIns="0" rIns="0" tIns="0" bIns="0" anchor="t">
            <a:spAutoFit/>
          </a:bodyPr>
          <a:lstStyle/>
          <a:p>
            <a:pPr algn="ctr">
              <a:lnSpc>
                <a:spcPct val="115000"/>
              </a:lnSpc>
              <a:spcAft>
                <a:spcPts val="0"/>
              </a:spcAft>
            </a:pPr>
            <a:r>
              <a:rPr sz="1800" b="1" i="0">
                <a:solidFill>
                  <a:srgbClr val="0F4C5C"/>
                </a:solidFill>
                <a:latin typeface="Calibri"/>
              </a:rPr>
              <a:t>Peternak</a:t>
            </a:r>
          </a:p>
        </p:txBody>
      </p:sp>
      <p:sp>
        <p:nvSpPr>
          <p:cNvPr id="13" name="Rectangle 12"/>
          <p:cNvSpPr/>
          <p:nvPr/>
        </p:nvSpPr>
        <p:spPr>
          <a:xfrm>
            <a:off x="1714500" y="4297680"/>
            <a:ext cx="365760" cy="36576"/>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77240" y="4434840"/>
            <a:ext cx="2240280" cy="822960"/>
          </a:xfrm>
          <a:prstGeom prst="rect">
            <a:avLst/>
          </a:prstGeom>
          <a:noFill/>
        </p:spPr>
        <p:txBody>
          <a:bodyPr wrap="square" lIns="0" rIns="0" tIns="0" bIns="0" anchor="t">
            <a:spAutoFit/>
          </a:bodyPr>
          <a:lstStyle/>
          <a:p>
            <a:pPr algn="ctr">
              <a:lnSpc>
                <a:spcPct val="140000"/>
              </a:lnSpc>
              <a:spcAft>
                <a:spcPts val="0"/>
              </a:spcAft>
            </a:pPr>
            <a:r>
              <a:rPr sz="1100" b="0" i="0">
                <a:solidFill>
                  <a:srgbClr val="5C6B7A"/>
                </a:solidFill>
                <a:latin typeface="Calibri"/>
              </a:rPr>
              <a:t>Mendapatkan alat bantu diagnosa awal yang praktis, cepat, dan mudah digunakan kapan saja.</a:t>
            </a:r>
          </a:p>
        </p:txBody>
      </p:sp>
      <p:sp>
        <p:nvSpPr>
          <p:cNvPr id="15" name="Rectangle 14"/>
          <p:cNvSpPr/>
          <p:nvPr/>
        </p:nvSpPr>
        <p:spPr>
          <a:xfrm>
            <a:off x="3410712" y="2286000"/>
            <a:ext cx="2697480" cy="301752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3410712" y="2286000"/>
            <a:ext cx="2697480" cy="1097280"/>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347972" y="2578608"/>
            <a:ext cx="822960" cy="822960"/>
          </a:xfrm>
          <a:prstGeom prst="ellipse">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347972" y="2578608"/>
            <a:ext cx="822960" cy="822960"/>
          </a:xfrm>
          <a:prstGeom prst="rect">
            <a:avLst/>
          </a:prstGeom>
          <a:noFill/>
        </p:spPr>
        <p:txBody>
          <a:bodyPr wrap="square" lIns="0" rIns="0" tIns="0" bIns="0" anchor="ctr">
            <a:spAutoFit/>
          </a:bodyPr>
          <a:lstStyle/>
          <a:p>
            <a:pPr algn="ctr">
              <a:lnSpc>
                <a:spcPct val="115000"/>
              </a:lnSpc>
              <a:spcAft>
                <a:spcPts val="0"/>
              </a:spcAft>
            </a:pPr>
            <a:r>
              <a:rPr sz="3000" b="1" i="0">
                <a:solidFill>
                  <a:srgbClr val="E9C46A"/>
                </a:solidFill>
                <a:latin typeface="Georgia"/>
              </a:rPr>
              <a:t>A</a:t>
            </a:r>
          </a:p>
        </p:txBody>
      </p:sp>
      <p:sp>
        <p:nvSpPr>
          <p:cNvPr id="19" name="TextBox 18"/>
          <p:cNvSpPr txBox="1"/>
          <p:nvPr/>
        </p:nvSpPr>
        <p:spPr>
          <a:xfrm>
            <a:off x="3639312" y="3611880"/>
            <a:ext cx="2240280" cy="457200"/>
          </a:xfrm>
          <a:prstGeom prst="rect">
            <a:avLst/>
          </a:prstGeom>
          <a:noFill/>
        </p:spPr>
        <p:txBody>
          <a:bodyPr wrap="square" lIns="0" rIns="0" tIns="0" bIns="0" anchor="t">
            <a:spAutoFit/>
          </a:bodyPr>
          <a:lstStyle/>
          <a:p>
            <a:pPr algn="ctr">
              <a:lnSpc>
                <a:spcPct val="115000"/>
              </a:lnSpc>
              <a:spcAft>
                <a:spcPts val="0"/>
              </a:spcAft>
            </a:pPr>
            <a:r>
              <a:rPr sz="900" b="1" i="0">
                <a:solidFill>
                  <a:srgbClr val="5C6B7A"/>
                </a:solidFill>
                <a:latin typeface="Calibri"/>
              </a:rPr>
              <a:t>UNTUK</a:t>
            </a:r>
          </a:p>
        </p:txBody>
      </p:sp>
      <p:sp>
        <p:nvSpPr>
          <p:cNvPr id="20" name="TextBox 19"/>
          <p:cNvSpPr txBox="1"/>
          <p:nvPr/>
        </p:nvSpPr>
        <p:spPr>
          <a:xfrm>
            <a:off x="3639312" y="3840480"/>
            <a:ext cx="2240280" cy="457200"/>
          </a:xfrm>
          <a:prstGeom prst="rect">
            <a:avLst/>
          </a:prstGeom>
          <a:noFill/>
        </p:spPr>
        <p:txBody>
          <a:bodyPr wrap="square" lIns="0" rIns="0" tIns="0" bIns="0" anchor="t">
            <a:spAutoFit/>
          </a:bodyPr>
          <a:lstStyle/>
          <a:p>
            <a:pPr algn="ctr">
              <a:lnSpc>
                <a:spcPct val="115000"/>
              </a:lnSpc>
              <a:spcAft>
                <a:spcPts val="0"/>
              </a:spcAft>
            </a:pPr>
            <a:r>
              <a:rPr sz="1800" b="1" i="0">
                <a:solidFill>
                  <a:srgbClr val="0F4C5C"/>
                </a:solidFill>
                <a:latin typeface="Calibri"/>
              </a:rPr>
              <a:t>Akademisi</a:t>
            </a:r>
          </a:p>
        </p:txBody>
      </p:sp>
      <p:sp>
        <p:nvSpPr>
          <p:cNvPr id="21" name="Rectangle 20"/>
          <p:cNvSpPr/>
          <p:nvPr/>
        </p:nvSpPr>
        <p:spPr>
          <a:xfrm>
            <a:off x="4576572" y="4297680"/>
            <a:ext cx="365760" cy="36576"/>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639312" y="4434840"/>
            <a:ext cx="2240280" cy="822960"/>
          </a:xfrm>
          <a:prstGeom prst="rect">
            <a:avLst/>
          </a:prstGeom>
          <a:noFill/>
        </p:spPr>
        <p:txBody>
          <a:bodyPr wrap="square" lIns="0" rIns="0" tIns="0" bIns="0" anchor="t">
            <a:spAutoFit/>
          </a:bodyPr>
          <a:lstStyle/>
          <a:p>
            <a:pPr algn="ctr">
              <a:lnSpc>
                <a:spcPct val="140000"/>
              </a:lnSpc>
              <a:spcAft>
                <a:spcPts val="0"/>
              </a:spcAft>
            </a:pPr>
            <a:r>
              <a:rPr sz="1100" b="0" i="0">
                <a:solidFill>
                  <a:srgbClr val="5C6B7A"/>
                </a:solidFill>
                <a:latin typeface="Calibri"/>
              </a:rPr>
              <a:t>Menambah referensi dan kontribusi ilmiah di bidang sistem pakar dan informatika veteriner.</a:t>
            </a:r>
          </a:p>
        </p:txBody>
      </p:sp>
      <p:sp>
        <p:nvSpPr>
          <p:cNvPr id="23" name="Rectangle 22"/>
          <p:cNvSpPr/>
          <p:nvPr/>
        </p:nvSpPr>
        <p:spPr>
          <a:xfrm>
            <a:off x="6272784" y="2286000"/>
            <a:ext cx="2697480" cy="301752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6272784" y="2286000"/>
            <a:ext cx="2697480" cy="1097280"/>
          </a:xfrm>
          <a:prstGeom prst="rect">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7210044" y="2578608"/>
            <a:ext cx="822960" cy="822960"/>
          </a:xfrm>
          <a:prstGeom prst="ellipse">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210044" y="2578608"/>
            <a:ext cx="822960" cy="822960"/>
          </a:xfrm>
          <a:prstGeom prst="rect">
            <a:avLst/>
          </a:prstGeom>
          <a:noFill/>
        </p:spPr>
        <p:txBody>
          <a:bodyPr wrap="square" lIns="0" rIns="0" tIns="0" bIns="0" anchor="ctr">
            <a:spAutoFit/>
          </a:bodyPr>
          <a:lstStyle/>
          <a:p>
            <a:pPr algn="ctr">
              <a:lnSpc>
                <a:spcPct val="115000"/>
              </a:lnSpc>
              <a:spcAft>
                <a:spcPts val="0"/>
              </a:spcAft>
            </a:pPr>
            <a:r>
              <a:rPr sz="3000" b="1" i="0">
                <a:solidFill>
                  <a:srgbClr val="5EB89A"/>
                </a:solidFill>
                <a:latin typeface="Georgia"/>
              </a:rPr>
              <a:t>D</a:t>
            </a:r>
          </a:p>
        </p:txBody>
      </p:sp>
      <p:sp>
        <p:nvSpPr>
          <p:cNvPr id="27" name="TextBox 26"/>
          <p:cNvSpPr txBox="1"/>
          <p:nvPr/>
        </p:nvSpPr>
        <p:spPr>
          <a:xfrm>
            <a:off x="6501384" y="3611880"/>
            <a:ext cx="2240280" cy="457200"/>
          </a:xfrm>
          <a:prstGeom prst="rect">
            <a:avLst/>
          </a:prstGeom>
          <a:noFill/>
        </p:spPr>
        <p:txBody>
          <a:bodyPr wrap="square" lIns="0" rIns="0" tIns="0" bIns="0" anchor="t">
            <a:spAutoFit/>
          </a:bodyPr>
          <a:lstStyle/>
          <a:p>
            <a:pPr algn="ctr">
              <a:lnSpc>
                <a:spcPct val="115000"/>
              </a:lnSpc>
              <a:spcAft>
                <a:spcPts val="0"/>
              </a:spcAft>
            </a:pPr>
            <a:r>
              <a:rPr sz="900" b="1" i="0">
                <a:solidFill>
                  <a:srgbClr val="5C6B7A"/>
                </a:solidFill>
                <a:latin typeface="Calibri"/>
              </a:rPr>
              <a:t>UNTUK</a:t>
            </a:r>
          </a:p>
        </p:txBody>
      </p:sp>
      <p:sp>
        <p:nvSpPr>
          <p:cNvPr id="28" name="TextBox 27"/>
          <p:cNvSpPr txBox="1"/>
          <p:nvPr/>
        </p:nvSpPr>
        <p:spPr>
          <a:xfrm>
            <a:off x="6501384" y="3840480"/>
            <a:ext cx="2240280" cy="457200"/>
          </a:xfrm>
          <a:prstGeom prst="rect">
            <a:avLst/>
          </a:prstGeom>
          <a:noFill/>
        </p:spPr>
        <p:txBody>
          <a:bodyPr wrap="square" lIns="0" rIns="0" tIns="0" bIns="0" anchor="t">
            <a:spAutoFit/>
          </a:bodyPr>
          <a:lstStyle/>
          <a:p>
            <a:pPr algn="ctr">
              <a:lnSpc>
                <a:spcPct val="115000"/>
              </a:lnSpc>
              <a:spcAft>
                <a:spcPts val="0"/>
              </a:spcAft>
            </a:pPr>
            <a:r>
              <a:rPr sz="1800" b="1" i="0">
                <a:solidFill>
                  <a:srgbClr val="0F4C5C"/>
                </a:solidFill>
                <a:latin typeface="Calibri"/>
              </a:rPr>
              <a:t>Dokter Hewan</a:t>
            </a:r>
          </a:p>
        </p:txBody>
      </p:sp>
      <p:sp>
        <p:nvSpPr>
          <p:cNvPr id="29" name="Rectangle 28"/>
          <p:cNvSpPr/>
          <p:nvPr/>
        </p:nvSpPr>
        <p:spPr>
          <a:xfrm>
            <a:off x="7438644" y="4297680"/>
            <a:ext cx="365760" cy="36576"/>
          </a:xfrm>
          <a:prstGeom prst="rect">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501384" y="4434840"/>
            <a:ext cx="2240280" cy="822960"/>
          </a:xfrm>
          <a:prstGeom prst="rect">
            <a:avLst/>
          </a:prstGeom>
          <a:noFill/>
        </p:spPr>
        <p:txBody>
          <a:bodyPr wrap="square" lIns="0" rIns="0" tIns="0" bIns="0" anchor="t">
            <a:spAutoFit/>
          </a:bodyPr>
          <a:lstStyle/>
          <a:p>
            <a:pPr algn="ctr">
              <a:lnSpc>
                <a:spcPct val="140000"/>
              </a:lnSpc>
              <a:spcAft>
                <a:spcPts val="0"/>
              </a:spcAft>
            </a:pPr>
            <a:r>
              <a:rPr sz="1100" b="0" i="0">
                <a:solidFill>
                  <a:srgbClr val="5C6B7A"/>
                </a:solidFill>
                <a:latin typeface="Calibri"/>
              </a:rPr>
              <a:t>Membantu proses skrining awal dan dokumentasi riwayat kesehatan merpati pasien.</a:t>
            </a:r>
          </a:p>
        </p:txBody>
      </p:sp>
      <p:sp>
        <p:nvSpPr>
          <p:cNvPr id="31" name="Rectangle 30"/>
          <p:cNvSpPr/>
          <p:nvPr/>
        </p:nvSpPr>
        <p:spPr>
          <a:xfrm>
            <a:off x="9134856" y="2286000"/>
            <a:ext cx="2697480" cy="301752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9134856" y="2286000"/>
            <a:ext cx="2697480" cy="10972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10072116" y="2578608"/>
            <a:ext cx="822960" cy="822960"/>
          </a:xfrm>
          <a:prstGeom prst="ellipse">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072116" y="2578608"/>
            <a:ext cx="822960" cy="822960"/>
          </a:xfrm>
          <a:prstGeom prst="rect">
            <a:avLst/>
          </a:prstGeom>
          <a:noFill/>
        </p:spPr>
        <p:txBody>
          <a:bodyPr wrap="square" lIns="0" rIns="0" tIns="0" bIns="0" anchor="ctr">
            <a:spAutoFit/>
          </a:bodyPr>
          <a:lstStyle/>
          <a:p>
            <a:pPr algn="ctr">
              <a:lnSpc>
                <a:spcPct val="115000"/>
              </a:lnSpc>
              <a:spcAft>
                <a:spcPts val="0"/>
              </a:spcAft>
            </a:pPr>
            <a:r>
              <a:rPr sz="3000" b="1" i="0">
                <a:solidFill>
                  <a:srgbClr val="0F4C5C"/>
                </a:solidFill>
                <a:latin typeface="Georgia"/>
              </a:rPr>
              <a:t>I</a:t>
            </a:r>
          </a:p>
        </p:txBody>
      </p:sp>
      <p:sp>
        <p:nvSpPr>
          <p:cNvPr id="35" name="TextBox 34"/>
          <p:cNvSpPr txBox="1"/>
          <p:nvPr/>
        </p:nvSpPr>
        <p:spPr>
          <a:xfrm>
            <a:off x="9363456" y="3611880"/>
            <a:ext cx="2240280" cy="457200"/>
          </a:xfrm>
          <a:prstGeom prst="rect">
            <a:avLst/>
          </a:prstGeom>
          <a:noFill/>
        </p:spPr>
        <p:txBody>
          <a:bodyPr wrap="square" lIns="0" rIns="0" tIns="0" bIns="0" anchor="t">
            <a:spAutoFit/>
          </a:bodyPr>
          <a:lstStyle/>
          <a:p>
            <a:pPr algn="ctr">
              <a:lnSpc>
                <a:spcPct val="115000"/>
              </a:lnSpc>
              <a:spcAft>
                <a:spcPts val="0"/>
              </a:spcAft>
            </a:pPr>
            <a:r>
              <a:rPr sz="900" b="1" i="0">
                <a:solidFill>
                  <a:srgbClr val="5C6B7A"/>
                </a:solidFill>
                <a:latin typeface="Calibri"/>
              </a:rPr>
              <a:t>UNTUK</a:t>
            </a:r>
          </a:p>
        </p:txBody>
      </p:sp>
      <p:sp>
        <p:nvSpPr>
          <p:cNvPr id="36" name="TextBox 35"/>
          <p:cNvSpPr txBox="1"/>
          <p:nvPr/>
        </p:nvSpPr>
        <p:spPr>
          <a:xfrm>
            <a:off x="9363456" y="3840480"/>
            <a:ext cx="2240280" cy="457200"/>
          </a:xfrm>
          <a:prstGeom prst="rect">
            <a:avLst/>
          </a:prstGeom>
          <a:noFill/>
        </p:spPr>
        <p:txBody>
          <a:bodyPr wrap="square" lIns="0" rIns="0" tIns="0" bIns="0" anchor="t">
            <a:spAutoFit/>
          </a:bodyPr>
          <a:lstStyle/>
          <a:p>
            <a:pPr algn="ctr">
              <a:lnSpc>
                <a:spcPct val="115000"/>
              </a:lnSpc>
              <a:spcAft>
                <a:spcPts val="0"/>
              </a:spcAft>
            </a:pPr>
            <a:r>
              <a:rPr sz="1800" b="1" i="0">
                <a:solidFill>
                  <a:srgbClr val="0F4C5C"/>
                </a:solidFill>
                <a:latin typeface="Calibri"/>
              </a:rPr>
              <a:t>Pengembang</a:t>
            </a:r>
          </a:p>
        </p:txBody>
      </p:sp>
      <p:sp>
        <p:nvSpPr>
          <p:cNvPr id="37" name="Rectangle 36"/>
          <p:cNvSpPr/>
          <p:nvPr/>
        </p:nvSpPr>
        <p:spPr>
          <a:xfrm>
            <a:off x="10300716" y="4297680"/>
            <a:ext cx="365760" cy="36576"/>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363456" y="4434840"/>
            <a:ext cx="2240280" cy="822960"/>
          </a:xfrm>
          <a:prstGeom prst="rect">
            <a:avLst/>
          </a:prstGeom>
          <a:noFill/>
        </p:spPr>
        <p:txBody>
          <a:bodyPr wrap="square" lIns="0" rIns="0" tIns="0" bIns="0" anchor="t">
            <a:spAutoFit/>
          </a:bodyPr>
          <a:lstStyle/>
          <a:p>
            <a:pPr algn="ctr">
              <a:lnSpc>
                <a:spcPct val="140000"/>
              </a:lnSpc>
              <a:spcAft>
                <a:spcPts val="0"/>
              </a:spcAft>
            </a:pPr>
            <a:r>
              <a:rPr sz="1100" b="0" i="0">
                <a:solidFill>
                  <a:srgbClr val="5C6B7A"/>
                </a:solidFill>
                <a:latin typeface="Calibri"/>
              </a:rPr>
              <a:t>Menjadi dasar untuk pengembangan sistem serupa pada jenis unggas atau hewan lain.</a:t>
            </a:r>
          </a:p>
        </p:txBody>
      </p:sp>
      <p:sp>
        <p:nvSpPr>
          <p:cNvPr id="39" name="Rectangle 38"/>
          <p:cNvSpPr/>
          <p:nvPr/>
        </p:nvSpPr>
        <p:spPr>
          <a:xfrm>
            <a:off x="548640" y="5532120"/>
            <a:ext cx="11064240" cy="7772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77240" y="5623560"/>
            <a:ext cx="640080" cy="640080"/>
          </a:xfrm>
          <a:prstGeom prst="rect">
            <a:avLst/>
          </a:prstGeom>
          <a:noFill/>
        </p:spPr>
        <p:txBody>
          <a:bodyPr wrap="square" lIns="0" rIns="0" tIns="0" bIns="0" anchor="ctr">
            <a:spAutoFit/>
          </a:bodyPr>
          <a:lstStyle/>
          <a:p>
            <a:pPr algn="l">
              <a:lnSpc>
                <a:spcPct val="115000"/>
              </a:lnSpc>
              <a:spcAft>
                <a:spcPts val="0"/>
              </a:spcAft>
            </a:pPr>
            <a:r>
              <a:rPr sz="2200" b="1" i="0">
                <a:solidFill>
                  <a:srgbClr val="E9C46A"/>
                </a:solidFill>
                <a:latin typeface="Georgia"/>
              </a:rPr>
              <a:t>✦</a:t>
            </a:r>
          </a:p>
        </p:txBody>
      </p:sp>
      <p:sp>
        <p:nvSpPr>
          <p:cNvPr id="41" name="TextBox 40"/>
          <p:cNvSpPr txBox="1"/>
          <p:nvPr/>
        </p:nvSpPr>
        <p:spPr>
          <a:xfrm>
            <a:off x="1280160" y="5669280"/>
            <a:ext cx="10058400" cy="502920"/>
          </a:xfrm>
          <a:prstGeom prst="rect">
            <a:avLst/>
          </a:prstGeom>
          <a:noFill/>
        </p:spPr>
        <p:txBody>
          <a:bodyPr wrap="square" lIns="0" rIns="0" tIns="0" bIns="0" anchor="t">
            <a:spAutoFit/>
          </a:bodyPr>
          <a:lstStyle/>
          <a:p>
            <a:pPr algn="l">
              <a:lnSpc>
                <a:spcPct val="130000"/>
              </a:lnSpc>
              <a:spcAft>
                <a:spcPts val="0"/>
              </a:spcAft>
            </a:pPr>
            <a:r>
              <a:rPr sz="1300" b="0" i="1">
                <a:solidFill>
                  <a:srgbClr val="F7F3EC"/>
                </a:solidFill>
                <a:latin typeface="Calibri"/>
              </a:rPr>
              <a:t>Kontribusi nyata dalam transformasi digital dunia peternakan dan kesejahteraan unggas di Indonesia.</a:t>
            </a:r>
          </a:p>
        </p:txBody>
      </p:sp>
      <p:sp>
        <p:nvSpPr>
          <p:cNvPr id="42" name="TextBox 41"/>
          <p:cNvSpPr txBox="1"/>
          <p:nvPr/>
        </p:nvSpPr>
        <p:spPr>
          <a:xfrm>
            <a:off x="10911535" y="6400800"/>
            <a:ext cx="914400" cy="274320"/>
          </a:xfrm>
          <a:prstGeom prst="rect">
            <a:avLst/>
          </a:prstGeom>
          <a:noFill/>
        </p:spPr>
        <p:txBody>
          <a:bodyPr wrap="square" lIns="0" rIns="0" tIns="0" bIns="0" anchor="t">
            <a:spAutoFit/>
          </a:bodyPr>
          <a:lstStyle/>
          <a:p>
            <a:pPr algn="r">
              <a:lnSpc>
                <a:spcPct val="115000"/>
              </a:lnSpc>
              <a:spcAft>
                <a:spcPts val="0"/>
              </a:spcAft>
            </a:pPr>
            <a:r>
              <a:rPr sz="1000" b="1" i="0">
                <a:solidFill>
                  <a:srgbClr val="5C6B7A"/>
                </a:solidFill>
                <a:latin typeface="Calibri"/>
              </a:rPr>
              <a:t>06 / 15</a:t>
            </a:r>
          </a:p>
        </p:txBody>
      </p:sp>
      <p:sp>
        <p:nvSpPr>
          <p:cNvPr id="43" name="TextBox 42"/>
          <p:cNvSpPr txBox="1"/>
          <p:nvPr/>
        </p:nvSpPr>
        <p:spPr>
          <a:xfrm>
            <a:off x="457200" y="6400800"/>
            <a:ext cx="7315200" cy="274320"/>
          </a:xfrm>
          <a:prstGeom prst="rect">
            <a:avLst/>
          </a:prstGeom>
          <a:noFill/>
        </p:spPr>
        <p:txBody>
          <a:bodyPr wrap="square" lIns="0" rIns="0" tIns="0" bIns="0" anchor="t">
            <a:spAutoFit/>
          </a:bodyPr>
          <a:lstStyle/>
          <a:p>
            <a:pPr algn="l">
              <a:lnSpc>
                <a:spcPct val="115000"/>
              </a:lnSpc>
              <a:spcAft>
                <a:spcPts val="0"/>
              </a:spcAft>
            </a:pPr>
            <a:r>
              <a:rPr sz="1000" b="1" i="0">
                <a:solidFill>
                  <a:srgbClr val="5C6B7A"/>
                </a:solidFill>
                <a:latin typeface="Calibri"/>
              </a:rPr>
              <a:t>Klinik Merpati  •  Sistem Pakar Diagnosa Avian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502920"/>
            <a:ext cx="164592" cy="1645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11480"/>
            <a:ext cx="7315200" cy="320040"/>
          </a:xfrm>
          <a:prstGeom prst="rect">
            <a:avLst/>
          </a:prstGeom>
          <a:noFill/>
        </p:spPr>
        <p:txBody>
          <a:bodyPr wrap="square" lIns="0" rIns="0" tIns="0" bIns="0" anchor="t">
            <a:spAutoFit/>
          </a:bodyPr>
          <a:lstStyle/>
          <a:p>
            <a:pPr algn="l">
              <a:lnSpc>
                <a:spcPct val="115000"/>
              </a:lnSpc>
              <a:spcAft>
                <a:spcPts val="0"/>
              </a:spcAft>
            </a:pPr>
            <a:r>
              <a:rPr sz="1100" b="1" i="0">
                <a:solidFill>
                  <a:srgbClr val="E76F51"/>
                </a:solidFill>
                <a:latin typeface="Calibri"/>
              </a:rPr>
              <a:t>BAB III  •  METODOLOGI</a:t>
            </a:r>
          </a:p>
        </p:txBody>
      </p:sp>
      <p:sp>
        <p:nvSpPr>
          <p:cNvPr id="5" name="TextBox 4"/>
          <p:cNvSpPr txBox="1"/>
          <p:nvPr/>
        </p:nvSpPr>
        <p:spPr>
          <a:xfrm>
            <a:off x="548640" y="777240"/>
            <a:ext cx="10515600" cy="640080"/>
          </a:xfrm>
          <a:prstGeom prst="rect">
            <a:avLst/>
          </a:prstGeom>
          <a:noFill/>
        </p:spPr>
        <p:txBody>
          <a:bodyPr wrap="square" lIns="0" rIns="0" tIns="0" bIns="0" anchor="t">
            <a:spAutoFit/>
          </a:bodyPr>
          <a:lstStyle/>
          <a:p>
            <a:pPr algn="l">
              <a:lnSpc>
                <a:spcPct val="115000"/>
              </a:lnSpc>
              <a:spcAft>
                <a:spcPts val="0"/>
              </a:spcAft>
            </a:pPr>
            <a:r>
              <a:rPr sz="3200" b="1" i="0">
                <a:solidFill>
                  <a:srgbClr val="0F4C5C"/>
                </a:solidFill>
                <a:latin typeface="Georgia"/>
              </a:rPr>
              <a:t>Metode Pengumpulan Data</a:t>
            </a:r>
          </a:p>
        </p:txBody>
      </p:sp>
      <p:sp>
        <p:nvSpPr>
          <p:cNvPr id="6" name="TextBox 5"/>
          <p:cNvSpPr txBox="1"/>
          <p:nvPr/>
        </p:nvSpPr>
        <p:spPr>
          <a:xfrm>
            <a:off x="548640" y="1554480"/>
            <a:ext cx="11064240" cy="457200"/>
          </a:xfrm>
          <a:prstGeom prst="rect">
            <a:avLst/>
          </a:prstGeom>
          <a:noFill/>
        </p:spPr>
        <p:txBody>
          <a:bodyPr wrap="square" lIns="0" rIns="0" tIns="0" bIns="0" anchor="t">
            <a:spAutoFit/>
          </a:bodyPr>
          <a:lstStyle/>
          <a:p>
            <a:pPr algn="l">
              <a:lnSpc>
                <a:spcPct val="140000"/>
              </a:lnSpc>
              <a:spcAft>
                <a:spcPts val="0"/>
              </a:spcAft>
            </a:pPr>
            <a:r>
              <a:rPr sz="1400" b="0" i="1">
                <a:solidFill>
                  <a:srgbClr val="5C6B7A"/>
                </a:solidFill>
                <a:latin typeface="Calibri"/>
              </a:rPr>
              <a:t>Data penelitian dikumpulkan melalui tiga metode utama berikut:</a:t>
            </a:r>
          </a:p>
        </p:txBody>
      </p:sp>
      <p:sp>
        <p:nvSpPr>
          <p:cNvPr id="7" name="Rectangle 6"/>
          <p:cNvSpPr/>
          <p:nvPr/>
        </p:nvSpPr>
        <p:spPr>
          <a:xfrm>
            <a:off x="548640" y="2240280"/>
            <a:ext cx="11064240" cy="114300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48640" y="2240280"/>
            <a:ext cx="1828800" cy="114300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2240280"/>
            <a:ext cx="1828800" cy="1143000"/>
          </a:xfrm>
          <a:prstGeom prst="rect">
            <a:avLst/>
          </a:prstGeom>
          <a:noFill/>
        </p:spPr>
        <p:txBody>
          <a:bodyPr wrap="square" lIns="0" rIns="0" tIns="0" bIns="0" anchor="ctr">
            <a:spAutoFit/>
          </a:bodyPr>
          <a:lstStyle/>
          <a:p>
            <a:pPr algn="ctr">
              <a:lnSpc>
                <a:spcPct val="115000"/>
              </a:lnSpc>
              <a:spcAft>
                <a:spcPts val="0"/>
              </a:spcAft>
            </a:pPr>
            <a:r>
              <a:rPr sz="5000" b="1" i="0">
                <a:solidFill>
                  <a:srgbClr val="F7F3EC"/>
                </a:solidFill>
                <a:latin typeface="Georgia"/>
              </a:rPr>
              <a:t>01</a:t>
            </a:r>
          </a:p>
        </p:txBody>
      </p:sp>
      <p:sp>
        <p:nvSpPr>
          <p:cNvPr id="10" name="TextBox 9"/>
          <p:cNvSpPr txBox="1"/>
          <p:nvPr/>
        </p:nvSpPr>
        <p:spPr>
          <a:xfrm>
            <a:off x="2697480" y="2404872"/>
            <a:ext cx="8778240" cy="365760"/>
          </a:xfrm>
          <a:prstGeom prst="rect">
            <a:avLst/>
          </a:prstGeom>
          <a:noFill/>
        </p:spPr>
        <p:txBody>
          <a:bodyPr wrap="square" lIns="0" rIns="0" tIns="0" bIns="0" anchor="t">
            <a:spAutoFit/>
          </a:bodyPr>
          <a:lstStyle/>
          <a:p>
            <a:pPr algn="l">
              <a:lnSpc>
                <a:spcPct val="115000"/>
              </a:lnSpc>
              <a:spcAft>
                <a:spcPts val="0"/>
              </a:spcAft>
            </a:pPr>
            <a:r>
              <a:rPr sz="1800" b="1" i="0">
                <a:solidFill>
                  <a:srgbClr val="0F4C5C"/>
                </a:solidFill>
                <a:latin typeface="Georgia"/>
              </a:rPr>
              <a:t>Wawancara</a:t>
            </a:r>
          </a:p>
        </p:txBody>
      </p:sp>
      <p:sp>
        <p:nvSpPr>
          <p:cNvPr id="11" name="Rectangle 10"/>
          <p:cNvSpPr/>
          <p:nvPr/>
        </p:nvSpPr>
        <p:spPr>
          <a:xfrm>
            <a:off x="2697480" y="2807208"/>
            <a:ext cx="365760" cy="36576"/>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697480" y="2880360"/>
            <a:ext cx="8778240" cy="502920"/>
          </a:xfrm>
          <a:prstGeom prst="rect">
            <a:avLst/>
          </a:prstGeom>
          <a:noFill/>
        </p:spPr>
        <p:txBody>
          <a:bodyPr wrap="square" lIns="0" rIns="0" tIns="0" bIns="0" anchor="t">
            <a:spAutoFit/>
          </a:bodyPr>
          <a:lstStyle/>
          <a:p>
            <a:pPr algn="l">
              <a:lnSpc>
                <a:spcPct val="130000"/>
              </a:lnSpc>
              <a:spcAft>
                <a:spcPts val="0"/>
              </a:spcAft>
            </a:pPr>
            <a:r>
              <a:rPr sz="1100" b="0" i="0">
                <a:solidFill>
                  <a:srgbClr val="5C6B7A"/>
                </a:solidFill>
                <a:latin typeface="Calibri"/>
              </a:rPr>
              <a:t>Melakukan sesi tanya jawab dengan dokter hewan dan peternak merpati berpengalaman untuk menggali pengetahuan pakar tentang gejala, diagnosis, serta penanganan penyakit avian.</a:t>
            </a:r>
          </a:p>
        </p:txBody>
      </p:sp>
      <p:sp>
        <p:nvSpPr>
          <p:cNvPr id="13" name="Rectangle 12"/>
          <p:cNvSpPr/>
          <p:nvPr/>
        </p:nvSpPr>
        <p:spPr>
          <a:xfrm>
            <a:off x="548640" y="3547872"/>
            <a:ext cx="11064240" cy="114300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48640" y="3547872"/>
            <a:ext cx="1828800" cy="1143000"/>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48640" y="3547872"/>
            <a:ext cx="1828800" cy="1143000"/>
          </a:xfrm>
          <a:prstGeom prst="rect">
            <a:avLst/>
          </a:prstGeom>
          <a:noFill/>
        </p:spPr>
        <p:txBody>
          <a:bodyPr wrap="square" lIns="0" rIns="0" tIns="0" bIns="0" anchor="ctr">
            <a:spAutoFit/>
          </a:bodyPr>
          <a:lstStyle/>
          <a:p>
            <a:pPr algn="ctr">
              <a:lnSpc>
                <a:spcPct val="115000"/>
              </a:lnSpc>
              <a:spcAft>
                <a:spcPts val="0"/>
              </a:spcAft>
            </a:pPr>
            <a:r>
              <a:rPr sz="5000" b="1" i="0">
                <a:solidFill>
                  <a:srgbClr val="F7F3EC"/>
                </a:solidFill>
                <a:latin typeface="Georgia"/>
              </a:rPr>
              <a:t>02</a:t>
            </a:r>
          </a:p>
        </p:txBody>
      </p:sp>
      <p:sp>
        <p:nvSpPr>
          <p:cNvPr id="16" name="TextBox 15"/>
          <p:cNvSpPr txBox="1"/>
          <p:nvPr/>
        </p:nvSpPr>
        <p:spPr>
          <a:xfrm>
            <a:off x="2697480" y="3712464"/>
            <a:ext cx="8778240" cy="365760"/>
          </a:xfrm>
          <a:prstGeom prst="rect">
            <a:avLst/>
          </a:prstGeom>
          <a:noFill/>
        </p:spPr>
        <p:txBody>
          <a:bodyPr wrap="square" lIns="0" rIns="0" tIns="0" bIns="0" anchor="t">
            <a:spAutoFit/>
          </a:bodyPr>
          <a:lstStyle/>
          <a:p>
            <a:pPr algn="l">
              <a:lnSpc>
                <a:spcPct val="115000"/>
              </a:lnSpc>
              <a:spcAft>
                <a:spcPts val="0"/>
              </a:spcAft>
            </a:pPr>
            <a:r>
              <a:rPr sz="1800" b="1" i="0">
                <a:solidFill>
                  <a:srgbClr val="0F4C5C"/>
                </a:solidFill>
                <a:latin typeface="Georgia"/>
              </a:rPr>
              <a:t>Observasi</a:t>
            </a:r>
          </a:p>
        </p:txBody>
      </p:sp>
      <p:sp>
        <p:nvSpPr>
          <p:cNvPr id="17" name="Rectangle 16"/>
          <p:cNvSpPr/>
          <p:nvPr/>
        </p:nvSpPr>
        <p:spPr>
          <a:xfrm>
            <a:off x="2697480" y="4114800"/>
            <a:ext cx="365760" cy="36576"/>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2697480" y="4187952"/>
            <a:ext cx="8778240" cy="502920"/>
          </a:xfrm>
          <a:prstGeom prst="rect">
            <a:avLst/>
          </a:prstGeom>
          <a:noFill/>
        </p:spPr>
        <p:txBody>
          <a:bodyPr wrap="square" lIns="0" rIns="0" tIns="0" bIns="0" anchor="t">
            <a:spAutoFit/>
          </a:bodyPr>
          <a:lstStyle/>
          <a:p>
            <a:pPr algn="l">
              <a:lnSpc>
                <a:spcPct val="130000"/>
              </a:lnSpc>
              <a:spcAft>
                <a:spcPts val="0"/>
              </a:spcAft>
            </a:pPr>
            <a:r>
              <a:rPr sz="1100" b="0" i="0">
                <a:solidFill>
                  <a:srgbClr val="5C6B7A"/>
                </a:solidFill>
                <a:latin typeface="Calibri"/>
              </a:rPr>
              <a:t>Mengamati secara langsung kondisi merpati yang sakit pada kandang peternakan untuk mencatat pola gejala yang muncul dan memverifikasi basis pengetahuan sistem.</a:t>
            </a:r>
          </a:p>
        </p:txBody>
      </p:sp>
      <p:sp>
        <p:nvSpPr>
          <p:cNvPr id="19" name="Rectangle 18"/>
          <p:cNvSpPr/>
          <p:nvPr/>
        </p:nvSpPr>
        <p:spPr>
          <a:xfrm>
            <a:off x="548640" y="4855464"/>
            <a:ext cx="11064240" cy="114300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548640" y="4855464"/>
            <a:ext cx="1828800" cy="1143000"/>
          </a:xfrm>
          <a:prstGeom prst="rect">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48640" y="4855464"/>
            <a:ext cx="1828800" cy="1143000"/>
          </a:xfrm>
          <a:prstGeom prst="rect">
            <a:avLst/>
          </a:prstGeom>
          <a:noFill/>
        </p:spPr>
        <p:txBody>
          <a:bodyPr wrap="square" lIns="0" rIns="0" tIns="0" bIns="0" anchor="ctr">
            <a:spAutoFit/>
          </a:bodyPr>
          <a:lstStyle/>
          <a:p>
            <a:pPr algn="ctr">
              <a:lnSpc>
                <a:spcPct val="115000"/>
              </a:lnSpc>
              <a:spcAft>
                <a:spcPts val="0"/>
              </a:spcAft>
            </a:pPr>
            <a:r>
              <a:rPr sz="5000" b="1" i="0">
                <a:solidFill>
                  <a:srgbClr val="F7F3EC"/>
                </a:solidFill>
                <a:latin typeface="Georgia"/>
              </a:rPr>
              <a:t>03</a:t>
            </a:r>
          </a:p>
        </p:txBody>
      </p:sp>
      <p:sp>
        <p:nvSpPr>
          <p:cNvPr id="22" name="TextBox 21"/>
          <p:cNvSpPr txBox="1"/>
          <p:nvPr/>
        </p:nvSpPr>
        <p:spPr>
          <a:xfrm>
            <a:off x="2697480" y="5020056"/>
            <a:ext cx="8778240" cy="365760"/>
          </a:xfrm>
          <a:prstGeom prst="rect">
            <a:avLst/>
          </a:prstGeom>
          <a:noFill/>
        </p:spPr>
        <p:txBody>
          <a:bodyPr wrap="square" lIns="0" rIns="0" tIns="0" bIns="0" anchor="t">
            <a:spAutoFit/>
          </a:bodyPr>
          <a:lstStyle/>
          <a:p>
            <a:pPr algn="l">
              <a:lnSpc>
                <a:spcPct val="115000"/>
              </a:lnSpc>
              <a:spcAft>
                <a:spcPts val="0"/>
              </a:spcAft>
            </a:pPr>
            <a:r>
              <a:rPr sz="1800" b="1" i="0">
                <a:solidFill>
                  <a:srgbClr val="0F4C5C"/>
                </a:solidFill>
                <a:latin typeface="Georgia"/>
              </a:rPr>
              <a:t>Studi Pustaka</a:t>
            </a:r>
          </a:p>
        </p:txBody>
      </p:sp>
      <p:sp>
        <p:nvSpPr>
          <p:cNvPr id="23" name="Rectangle 22"/>
          <p:cNvSpPr/>
          <p:nvPr/>
        </p:nvSpPr>
        <p:spPr>
          <a:xfrm>
            <a:off x="2697480" y="5422392"/>
            <a:ext cx="365760" cy="36576"/>
          </a:xfrm>
          <a:prstGeom prst="rect">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2697480" y="5495544"/>
            <a:ext cx="8778240" cy="502920"/>
          </a:xfrm>
          <a:prstGeom prst="rect">
            <a:avLst/>
          </a:prstGeom>
          <a:noFill/>
        </p:spPr>
        <p:txBody>
          <a:bodyPr wrap="square" lIns="0" rIns="0" tIns="0" bIns="0" anchor="t">
            <a:spAutoFit/>
          </a:bodyPr>
          <a:lstStyle/>
          <a:p>
            <a:pPr algn="l">
              <a:lnSpc>
                <a:spcPct val="130000"/>
              </a:lnSpc>
              <a:spcAft>
                <a:spcPts val="0"/>
              </a:spcAft>
            </a:pPr>
            <a:r>
              <a:rPr sz="1100" b="0" i="0">
                <a:solidFill>
                  <a:srgbClr val="5C6B7A"/>
                </a:solidFill>
                <a:latin typeface="Calibri"/>
              </a:rPr>
              <a:t>Mengkaji literatur ilmiah, jurnal, buku veteriner, dan dokumen resmi terkait penyakit avian serta teori sistem pakar dengan metode Forward Chaining.</a:t>
            </a:r>
          </a:p>
        </p:txBody>
      </p:sp>
      <p:sp>
        <p:nvSpPr>
          <p:cNvPr id="25" name="TextBox 24"/>
          <p:cNvSpPr txBox="1"/>
          <p:nvPr/>
        </p:nvSpPr>
        <p:spPr>
          <a:xfrm>
            <a:off x="10911535" y="6400800"/>
            <a:ext cx="914400" cy="274320"/>
          </a:xfrm>
          <a:prstGeom prst="rect">
            <a:avLst/>
          </a:prstGeom>
          <a:noFill/>
        </p:spPr>
        <p:txBody>
          <a:bodyPr wrap="square" lIns="0" rIns="0" tIns="0" bIns="0" anchor="t">
            <a:spAutoFit/>
          </a:bodyPr>
          <a:lstStyle/>
          <a:p>
            <a:pPr algn="r">
              <a:lnSpc>
                <a:spcPct val="115000"/>
              </a:lnSpc>
              <a:spcAft>
                <a:spcPts val="0"/>
              </a:spcAft>
            </a:pPr>
            <a:r>
              <a:rPr sz="1000" b="1" i="0">
                <a:solidFill>
                  <a:srgbClr val="5C6B7A"/>
                </a:solidFill>
                <a:latin typeface="Calibri"/>
              </a:rPr>
              <a:t>07 / 15</a:t>
            </a:r>
          </a:p>
        </p:txBody>
      </p:sp>
      <p:sp>
        <p:nvSpPr>
          <p:cNvPr id="26" name="TextBox 25"/>
          <p:cNvSpPr txBox="1"/>
          <p:nvPr/>
        </p:nvSpPr>
        <p:spPr>
          <a:xfrm>
            <a:off x="457200" y="6400800"/>
            <a:ext cx="7315200" cy="274320"/>
          </a:xfrm>
          <a:prstGeom prst="rect">
            <a:avLst/>
          </a:prstGeom>
          <a:noFill/>
        </p:spPr>
        <p:txBody>
          <a:bodyPr wrap="square" lIns="0" rIns="0" tIns="0" bIns="0" anchor="t">
            <a:spAutoFit/>
          </a:bodyPr>
          <a:lstStyle/>
          <a:p>
            <a:pPr algn="l">
              <a:lnSpc>
                <a:spcPct val="115000"/>
              </a:lnSpc>
              <a:spcAft>
                <a:spcPts val="0"/>
              </a:spcAft>
            </a:pPr>
            <a:r>
              <a:rPr sz="1000" b="1" i="0">
                <a:solidFill>
                  <a:srgbClr val="5C6B7A"/>
                </a:solidFill>
                <a:latin typeface="Calibri"/>
              </a:rPr>
              <a:t>Klinik Merpati  •  Sistem Pakar Diagnosa Avian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502920"/>
            <a:ext cx="164592" cy="1645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11480"/>
            <a:ext cx="7315200" cy="320040"/>
          </a:xfrm>
          <a:prstGeom prst="rect">
            <a:avLst/>
          </a:prstGeom>
          <a:noFill/>
        </p:spPr>
        <p:txBody>
          <a:bodyPr wrap="square" lIns="0" rIns="0" tIns="0" bIns="0" anchor="t">
            <a:spAutoFit/>
          </a:bodyPr>
          <a:lstStyle/>
          <a:p>
            <a:pPr algn="l">
              <a:lnSpc>
                <a:spcPct val="115000"/>
              </a:lnSpc>
              <a:spcAft>
                <a:spcPts val="0"/>
              </a:spcAft>
            </a:pPr>
            <a:r>
              <a:rPr sz="1100" b="1" i="0">
                <a:solidFill>
                  <a:srgbClr val="E76F51"/>
                </a:solidFill>
                <a:latin typeface="Calibri"/>
              </a:rPr>
              <a:t>BAB III  •  METODOLOGI</a:t>
            </a:r>
          </a:p>
        </p:txBody>
      </p:sp>
      <p:sp>
        <p:nvSpPr>
          <p:cNvPr id="5" name="TextBox 4"/>
          <p:cNvSpPr txBox="1"/>
          <p:nvPr/>
        </p:nvSpPr>
        <p:spPr>
          <a:xfrm>
            <a:off x="548640" y="777240"/>
            <a:ext cx="10515600" cy="640080"/>
          </a:xfrm>
          <a:prstGeom prst="rect">
            <a:avLst/>
          </a:prstGeom>
          <a:noFill/>
        </p:spPr>
        <p:txBody>
          <a:bodyPr wrap="square" lIns="0" rIns="0" tIns="0" bIns="0" anchor="t">
            <a:spAutoFit/>
          </a:bodyPr>
          <a:lstStyle/>
          <a:p>
            <a:pPr algn="l">
              <a:lnSpc>
                <a:spcPct val="115000"/>
              </a:lnSpc>
              <a:spcAft>
                <a:spcPts val="0"/>
              </a:spcAft>
            </a:pPr>
            <a:r>
              <a:rPr sz="3200" b="1" i="0">
                <a:solidFill>
                  <a:srgbClr val="0F4C5C"/>
                </a:solidFill>
                <a:latin typeface="Georgia"/>
              </a:rPr>
              <a:t>Metode Pengembangan Sistem</a:t>
            </a:r>
          </a:p>
        </p:txBody>
      </p:sp>
      <p:sp>
        <p:nvSpPr>
          <p:cNvPr id="6" name="TextBox 5"/>
          <p:cNvSpPr txBox="1"/>
          <p:nvPr/>
        </p:nvSpPr>
        <p:spPr>
          <a:xfrm>
            <a:off x="548640" y="1554480"/>
            <a:ext cx="11064240" cy="457200"/>
          </a:xfrm>
          <a:prstGeom prst="rect">
            <a:avLst/>
          </a:prstGeom>
          <a:noFill/>
        </p:spPr>
        <p:txBody>
          <a:bodyPr wrap="square" lIns="0" rIns="0" tIns="0" bIns="0" anchor="t">
            <a:spAutoFit/>
          </a:bodyPr>
          <a:lstStyle/>
          <a:p>
            <a:pPr algn="l">
              <a:lnSpc>
                <a:spcPct val="140000"/>
              </a:lnSpc>
              <a:spcAft>
                <a:spcPts val="0"/>
              </a:spcAft>
            </a:pPr>
            <a:r>
              <a:rPr sz="1400" b="0" i="1">
                <a:solidFill>
                  <a:srgbClr val="5C6B7A"/>
                </a:solidFill>
                <a:latin typeface="Calibri"/>
              </a:rPr>
              <a:t>Sistem dikembangkan dengan model Waterfall dengan lima tahapan sistematis:</a:t>
            </a:r>
          </a:p>
        </p:txBody>
      </p:sp>
      <p:sp>
        <p:nvSpPr>
          <p:cNvPr id="7" name="Rectangle 6"/>
          <p:cNvSpPr/>
          <p:nvPr/>
        </p:nvSpPr>
        <p:spPr>
          <a:xfrm>
            <a:off x="723747" y="2331720"/>
            <a:ext cx="1965960" cy="219456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23747" y="2331720"/>
            <a:ext cx="1965960" cy="54864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23747" y="2331720"/>
            <a:ext cx="1965960" cy="548640"/>
          </a:xfrm>
          <a:prstGeom prst="rect">
            <a:avLst/>
          </a:prstGeom>
          <a:noFill/>
        </p:spPr>
        <p:txBody>
          <a:bodyPr wrap="square" lIns="0" rIns="0" tIns="0" bIns="0" anchor="ctr">
            <a:spAutoFit/>
          </a:bodyPr>
          <a:lstStyle/>
          <a:p>
            <a:pPr algn="ctr">
              <a:lnSpc>
                <a:spcPct val="115000"/>
              </a:lnSpc>
              <a:spcAft>
                <a:spcPts val="0"/>
              </a:spcAft>
            </a:pPr>
            <a:r>
              <a:rPr sz="1100" b="1" i="0">
                <a:solidFill>
                  <a:srgbClr val="F7F3EC"/>
                </a:solidFill>
                <a:latin typeface="Calibri"/>
              </a:rPr>
              <a:t>TAHAP 1</a:t>
            </a:r>
          </a:p>
        </p:txBody>
      </p:sp>
      <p:sp>
        <p:nvSpPr>
          <p:cNvPr id="10" name="Oval 9"/>
          <p:cNvSpPr/>
          <p:nvPr/>
        </p:nvSpPr>
        <p:spPr>
          <a:xfrm>
            <a:off x="1340967" y="3063240"/>
            <a:ext cx="731520" cy="731520"/>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340967" y="3063240"/>
            <a:ext cx="731520" cy="731520"/>
          </a:xfrm>
          <a:prstGeom prst="rect">
            <a:avLst/>
          </a:prstGeom>
          <a:noFill/>
        </p:spPr>
        <p:txBody>
          <a:bodyPr wrap="square" lIns="0" rIns="0" tIns="0" bIns="0" anchor="ctr">
            <a:spAutoFit/>
          </a:bodyPr>
          <a:lstStyle/>
          <a:p>
            <a:pPr algn="ctr">
              <a:lnSpc>
                <a:spcPct val="115000"/>
              </a:lnSpc>
              <a:spcAft>
                <a:spcPts val="0"/>
              </a:spcAft>
            </a:pPr>
            <a:r>
              <a:rPr sz="2800" b="1" i="0">
                <a:solidFill>
                  <a:srgbClr val="F7F3EC"/>
                </a:solidFill>
                <a:latin typeface="Georgia"/>
              </a:rPr>
              <a:t>1</a:t>
            </a:r>
          </a:p>
        </p:txBody>
      </p:sp>
      <p:sp>
        <p:nvSpPr>
          <p:cNvPr id="12" name="TextBox 11"/>
          <p:cNvSpPr txBox="1"/>
          <p:nvPr/>
        </p:nvSpPr>
        <p:spPr>
          <a:xfrm>
            <a:off x="815187" y="3886200"/>
            <a:ext cx="1783080" cy="365760"/>
          </a:xfrm>
          <a:prstGeom prst="rect">
            <a:avLst/>
          </a:prstGeom>
          <a:noFill/>
        </p:spPr>
        <p:txBody>
          <a:bodyPr wrap="square" lIns="0" rIns="0" tIns="0" bIns="0" anchor="t">
            <a:spAutoFit/>
          </a:bodyPr>
          <a:lstStyle/>
          <a:p>
            <a:pPr algn="ctr">
              <a:lnSpc>
                <a:spcPct val="115000"/>
              </a:lnSpc>
              <a:spcAft>
                <a:spcPts val="0"/>
              </a:spcAft>
            </a:pPr>
            <a:r>
              <a:rPr sz="1500" b="1" i="0">
                <a:solidFill>
                  <a:srgbClr val="0F4C5C"/>
                </a:solidFill>
                <a:latin typeface="Calibri"/>
              </a:rPr>
              <a:t>Analisis</a:t>
            </a:r>
          </a:p>
        </p:txBody>
      </p:sp>
      <p:sp>
        <p:nvSpPr>
          <p:cNvPr id="13" name="TextBox 12"/>
          <p:cNvSpPr txBox="1"/>
          <p:nvPr/>
        </p:nvSpPr>
        <p:spPr>
          <a:xfrm>
            <a:off x="860907" y="4206239"/>
            <a:ext cx="1691640" cy="365760"/>
          </a:xfrm>
          <a:prstGeom prst="rect">
            <a:avLst/>
          </a:prstGeom>
          <a:noFill/>
        </p:spPr>
        <p:txBody>
          <a:bodyPr wrap="square" lIns="0" rIns="0" tIns="0" bIns="0" anchor="t">
            <a:spAutoFit/>
          </a:bodyPr>
          <a:lstStyle/>
          <a:p>
            <a:pPr algn="ctr">
              <a:lnSpc>
                <a:spcPct val="125000"/>
              </a:lnSpc>
              <a:spcAft>
                <a:spcPts val="0"/>
              </a:spcAft>
            </a:pPr>
            <a:r>
              <a:rPr sz="900" b="0" i="0">
                <a:solidFill>
                  <a:srgbClr val="5C6B7A"/>
                </a:solidFill>
                <a:latin typeface="Calibri"/>
              </a:rPr>
              <a:t>Studi kebutuhan &amp; identifikasi masalah</a:t>
            </a:r>
          </a:p>
        </p:txBody>
      </p:sp>
      <p:sp>
        <p:nvSpPr>
          <p:cNvPr id="14" name="TextBox 13"/>
          <p:cNvSpPr txBox="1"/>
          <p:nvPr/>
        </p:nvSpPr>
        <p:spPr>
          <a:xfrm>
            <a:off x="2707995" y="3319272"/>
            <a:ext cx="182880" cy="228600"/>
          </a:xfrm>
          <a:prstGeom prst="rect">
            <a:avLst/>
          </a:prstGeom>
          <a:noFill/>
        </p:spPr>
        <p:txBody>
          <a:bodyPr wrap="square" lIns="0" rIns="0" tIns="0" bIns="0" anchor="ctr">
            <a:spAutoFit/>
          </a:bodyPr>
          <a:lstStyle/>
          <a:p>
            <a:pPr algn="ctr">
              <a:lnSpc>
                <a:spcPct val="115000"/>
              </a:lnSpc>
              <a:spcAft>
                <a:spcPts val="0"/>
              </a:spcAft>
            </a:pPr>
            <a:r>
              <a:rPr sz="1600" b="1" i="0">
                <a:solidFill>
                  <a:srgbClr val="0F4C5C"/>
                </a:solidFill>
                <a:latin typeface="Georgia"/>
              </a:rPr>
              <a:t>&gt;</a:t>
            </a:r>
          </a:p>
        </p:txBody>
      </p:sp>
      <p:sp>
        <p:nvSpPr>
          <p:cNvPr id="15" name="Rectangle 14"/>
          <p:cNvSpPr/>
          <p:nvPr/>
        </p:nvSpPr>
        <p:spPr>
          <a:xfrm>
            <a:off x="2918307" y="2331720"/>
            <a:ext cx="1965960" cy="219456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2918307" y="2331720"/>
            <a:ext cx="1965960" cy="548640"/>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918307" y="2331720"/>
            <a:ext cx="1965960" cy="548640"/>
          </a:xfrm>
          <a:prstGeom prst="rect">
            <a:avLst/>
          </a:prstGeom>
          <a:noFill/>
        </p:spPr>
        <p:txBody>
          <a:bodyPr wrap="square" lIns="0" rIns="0" tIns="0" bIns="0" anchor="ctr">
            <a:spAutoFit/>
          </a:bodyPr>
          <a:lstStyle/>
          <a:p>
            <a:pPr algn="ctr">
              <a:lnSpc>
                <a:spcPct val="115000"/>
              </a:lnSpc>
              <a:spcAft>
                <a:spcPts val="0"/>
              </a:spcAft>
            </a:pPr>
            <a:r>
              <a:rPr sz="1100" b="1" i="0">
                <a:solidFill>
                  <a:srgbClr val="F7F3EC"/>
                </a:solidFill>
                <a:latin typeface="Calibri"/>
              </a:rPr>
              <a:t>TAHAP 2</a:t>
            </a:r>
          </a:p>
        </p:txBody>
      </p:sp>
      <p:sp>
        <p:nvSpPr>
          <p:cNvPr id="18" name="Oval 17"/>
          <p:cNvSpPr/>
          <p:nvPr/>
        </p:nvSpPr>
        <p:spPr>
          <a:xfrm>
            <a:off x="3535527" y="3063240"/>
            <a:ext cx="731520" cy="731520"/>
          </a:xfrm>
          <a:prstGeom prst="ellipse">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535527" y="3063240"/>
            <a:ext cx="731520" cy="731520"/>
          </a:xfrm>
          <a:prstGeom prst="rect">
            <a:avLst/>
          </a:prstGeom>
          <a:noFill/>
        </p:spPr>
        <p:txBody>
          <a:bodyPr wrap="square" lIns="0" rIns="0" tIns="0" bIns="0" anchor="ctr">
            <a:spAutoFit/>
          </a:bodyPr>
          <a:lstStyle/>
          <a:p>
            <a:pPr algn="ctr">
              <a:lnSpc>
                <a:spcPct val="115000"/>
              </a:lnSpc>
              <a:spcAft>
                <a:spcPts val="0"/>
              </a:spcAft>
            </a:pPr>
            <a:r>
              <a:rPr sz="2800" b="1" i="0">
                <a:solidFill>
                  <a:srgbClr val="F7F3EC"/>
                </a:solidFill>
                <a:latin typeface="Georgia"/>
              </a:rPr>
              <a:t>2</a:t>
            </a:r>
          </a:p>
        </p:txBody>
      </p:sp>
      <p:sp>
        <p:nvSpPr>
          <p:cNvPr id="20" name="TextBox 19"/>
          <p:cNvSpPr txBox="1"/>
          <p:nvPr/>
        </p:nvSpPr>
        <p:spPr>
          <a:xfrm>
            <a:off x="3009747" y="3886200"/>
            <a:ext cx="1783080" cy="365760"/>
          </a:xfrm>
          <a:prstGeom prst="rect">
            <a:avLst/>
          </a:prstGeom>
          <a:noFill/>
        </p:spPr>
        <p:txBody>
          <a:bodyPr wrap="square" lIns="0" rIns="0" tIns="0" bIns="0" anchor="t">
            <a:spAutoFit/>
          </a:bodyPr>
          <a:lstStyle/>
          <a:p>
            <a:pPr algn="ctr">
              <a:lnSpc>
                <a:spcPct val="115000"/>
              </a:lnSpc>
              <a:spcAft>
                <a:spcPts val="0"/>
              </a:spcAft>
            </a:pPr>
            <a:r>
              <a:rPr sz="1500" b="1" i="0">
                <a:solidFill>
                  <a:srgbClr val="0F4C5C"/>
                </a:solidFill>
                <a:latin typeface="Calibri"/>
              </a:rPr>
              <a:t>Desain</a:t>
            </a:r>
          </a:p>
        </p:txBody>
      </p:sp>
      <p:sp>
        <p:nvSpPr>
          <p:cNvPr id="21" name="TextBox 20"/>
          <p:cNvSpPr txBox="1"/>
          <p:nvPr/>
        </p:nvSpPr>
        <p:spPr>
          <a:xfrm>
            <a:off x="3055467" y="4206239"/>
            <a:ext cx="1691640" cy="365760"/>
          </a:xfrm>
          <a:prstGeom prst="rect">
            <a:avLst/>
          </a:prstGeom>
          <a:noFill/>
        </p:spPr>
        <p:txBody>
          <a:bodyPr wrap="square" lIns="0" rIns="0" tIns="0" bIns="0" anchor="t">
            <a:spAutoFit/>
          </a:bodyPr>
          <a:lstStyle/>
          <a:p>
            <a:pPr algn="ctr">
              <a:lnSpc>
                <a:spcPct val="125000"/>
              </a:lnSpc>
              <a:spcAft>
                <a:spcPts val="0"/>
              </a:spcAft>
            </a:pPr>
            <a:r>
              <a:rPr sz="900" b="0" i="0">
                <a:solidFill>
                  <a:srgbClr val="5C6B7A"/>
                </a:solidFill>
                <a:latin typeface="Calibri"/>
              </a:rPr>
              <a:t>Perancangan sistem, basis data, dan antarmuka</a:t>
            </a:r>
          </a:p>
        </p:txBody>
      </p:sp>
      <p:sp>
        <p:nvSpPr>
          <p:cNvPr id="22" name="TextBox 21"/>
          <p:cNvSpPr txBox="1"/>
          <p:nvPr/>
        </p:nvSpPr>
        <p:spPr>
          <a:xfrm>
            <a:off x="4902555" y="3319272"/>
            <a:ext cx="182880" cy="228600"/>
          </a:xfrm>
          <a:prstGeom prst="rect">
            <a:avLst/>
          </a:prstGeom>
          <a:noFill/>
        </p:spPr>
        <p:txBody>
          <a:bodyPr wrap="square" lIns="0" rIns="0" tIns="0" bIns="0" anchor="ctr">
            <a:spAutoFit/>
          </a:bodyPr>
          <a:lstStyle/>
          <a:p>
            <a:pPr algn="ctr">
              <a:lnSpc>
                <a:spcPct val="115000"/>
              </a:lnSpc>
              <a:spcAft>
                <a:spcPts val="0"/>
              </a:spcAft>
            </a:pPr>
            <a:r>
              <a:rPr sz="1600" b="1" i="0">
                <a:solidFill>
                  <a:srgbClr val="0F4C5C"/>
                </a:solidFill>
                <a:latin typeface="Georgia"/>
              </a:rPr>
              <a:t>&gt;</a:t>
            </a:r>
          </a:p>
        </p:txBody>
      </p:sp>
      <p:sp>
        <p:nvSpPr>
          <p:cNvPr id="23" name="Rectangle 22"/>
          <p:cNvSpPr/>
          <p:nvPr/>
        </p:nvSpPr>
        <p:spPr>
          <a:xfrm>
            <a:off x="5112867" y="2331720"/>
            <a:ext cx="1965960" cy="219456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112867" y="2331720"/>
            <a:ext cx="1965960" cy="548640"/>
          </a:xfrm>
          <a:prstGeom prst="rect">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112867" y="2331720"/>
            <a:ext cx="1965960" cy="548640"/>
          </a:xfrm>
          <a:prstGeom prst="rect">
            <a:avLst/>
          </a:prstGeom>
          <a:noFill/>
        </p:spPr>
        <p:txBody>
          <a:bodyPr wrap="square" lIns="0" rIns="0" tIns="0" bIns="0" anchor="ctr">
            <a:spAutoFit/>
          </a:bodyPr>
          <a:lstStyle/>
          <a:p>
            <a:pPr algn="ctr">
              <a:lnSpc>
                <a:spcPct val="115000"/>
              </a:lnSpc>
              <a:spcAft>
                <a:spcPts val="0"/>
              </a:spcAft>
            </a:pPr>
            <a:r>
              <a:rPr sz="1100" b="1" i="0">
                <a:solidFill>
                  <a:srgbClr val="F7F3EC"/>
                </a:solidFill>
                <a:latin typeface="Calibri"/>
              </a:rPr>
              <a:t>TAHAP 3</a:t>
            </a:r>
          </a:p>
        </p:txBody>
      </p:sp>
      <p:sp>
        <p:nvSpPr>
          <p:cNvPr id="26" name="Oval 25"/>
          <p:cNvSpPr/>
          <p:nvPr/>
        </p:nvSpPr>
        <p:spPr>
          <a:xfrm>
            <a:off x="5730087" y="3063240"/>
            <a:ext cx="731520" cy="731520"/>
          </a:xfrm>
          <a:prstGeom prst="ellipse">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730087" y="3063240"/>
            <a:ext cx="731520" cy="731520"/>
          </a:xfrm>
          <a:prstGeom prst="rect">
            <a:avLst/>
          </a:prstGeom>
          <a:noFill/>
        </p:spPr>
        <p:txBody>
          <a:bodyPr wrap="square" lIns="0" rIns="0" tIns="0" bIns="0" anchor="ctr">
            <a:spAutoFit/>
          </a:bodyPr>
          <a:lstStyle/>
          <a:p>
            <a:pPr algn="ctr">
              <a:lnSpc>
                <a:spcPct val="115000"/>
              </a:lnSpc>
              <a:spcAft>
                <a:spcPts val="0"/>
              </a:spcAft>
            </a:pPr>
            <a:r>
              <a:rPr sz="2800" b="1" i="0">
                <a:solidFill>
                  <a:srgbClr val="F7F3EC"/>
                </a:solidFill>
                <a:latin typeface="Georgia"/>
              </a:rPr>
              <a:t>3</a:t>
            </a:r>
          </a:p>
        </p:txBody>
      </p:sp>
      <p:sp>
        <p:nvSpPr>
          <p:cNvPr id="28" name="TextBox 27"/>
          <p:cNvSpPr txBox="1"/>
          <p:nvPr/>
        </p:nvSpPr>
        <p:spPr>
          <a:xfrm>
            <a:off x="5204307" y="3886200"/>
            <a:ext cx="1783080" cy="365760"/>
          </a:xfrm>
          <a:prstGeom prst="rect">
            <a:avLst/>
          </a:prstGeom>
          <a:noFill/>
        </p:spPr>
        <p:txBody>
          <a:bodyPr wrap="square" lIns="0" rIns="0" tIns="0" bIns="0" anchor="t">
            <a:spAutoFit/>
          </a:bodyPr>
          <a:lstStyle/>
          <a:p>
            <a:pPr algn="ctr">
              <a:lnSpc>
                <a:spcPct val="115000"/>
              </a:lnSpc>
              <a:spcAft>
                <a:spcPts val="0"/>
              </a:spcAft>
            </a:pPr>
            <a:r>
              <a:rPr sz="1500" b="1" i="0">
                <a:solidFill>
                  <a:srgbClr val="0F4C5C"/>
                </a:solidFill>
                <a:latin typeface="Calibri"/>
              </a:rPr>
              <a:t>Implementasi</a:t>
            </a:r>
          </a:p>
        </p:txBody>
      </p:sp>
      <p:sp>
        <p:nvSpPr>
          <p:cNvPr id="29" name="TextBox 28"/>
          <p:cNvSpPr txBox="1"/>
          <p:nvPr/>
        </p:nvSpPr>
        <p:spPr>
          <a:xfrm>
            <a:off x="5250027" y="4206239"/>
            <a:ext cx="1691640" cy="365760"/>
          </a:xfrm>
          <a:prstGeom prst="rect">
            <a:avLst/>
          </a:prstGeom>
          <a:noFill/>
        </p:spPr>
        <p:txBody>
          <a:bodyPr wrap="square" lIns="0" rIns="0" tIns="0" bIns="0" anchor="t">
            <a:spAutoFit/>
          </a:bodyPr>
          <a:lstStyle/>
          <a:p>
            <a:pPr algn="ctr">
              <a:lnSpc>
                <a:spcPct val="125000"/>
              </a:lnSpc>
              <a:spcAft>
                <a:spcPts val="0"/>
              </a:spcAft>
            </a:pPr>
            <a:r>
              <a:rPr sz="900" b="0" i="0">
                <a:solidFill>
                  <a:srgbClr val="5C6B7A"/>
                </a:solidFill>
                <a:latin typeface="Calibri"/>
              </a:rPr>
              <a:t>Pengkodean dengan PHP &amp; MySQL</a:t>
            </a:r>
          </a:p>
        </p:txBody>
      </p:sp>
      <p:sp>
        <p:nvSpPr>
          <p:cNvPr id="30" name="TextBox 29"/>
          <p:cNvSpPr txBox="1"/>
          <p:nvPr/>
        </p:nvSpPr>
        <p:spPr>
          <a:xfrm>
            <a:off x="7097115" y="3319272"/>
            <a:ext cx="182880" cy="228600"/>
          </a:xfrm>
          <a:prstGeom prst="rect">
            <a:avLst/>
          </a:prstGeom>
          <a:noFill/>
        </p:spPr>
        <p:txBody>
          <a:bodyPr wrap="square" lIns="0" rIns="0" tIns="0" bIns="0" anchor="ctr">
            <a:spAutoFit/>
          </a:bodyPr>
          <a:lstStyle/>
          <a:p>
            <a:pPr algn="ctr">
              <a:lnSpc>
                <a:spcPct val="115000"/>
              </a:lnSpc>
              <a:spcAft>
                <a:spcPts val="0"/>
              </a:spcAft>
            </a:pPr>
            <a:r>
              <a:rPr sz="1600" b="1" i="0">
                <a:solidFill>
                  <a:srgbClr val="0F4C5C"/>
                </a:solidFill>
                <a:latin typeface="Georgia"/>
              </a:rPr>
              <a:t>&gt;</a:t>
            </a:r>
          </a:p>
        </p:txBody>
      </p:sp>
      <p:sp>
        <p:nvSpPr>
          <p:cNvPr id="31" name="Rectangle 30"/>
          <p:cNvSpPr/>
          <p:nvPr/>
        </p:nvSpPr>
        <p:spPr>
          <a:xfrm>
            <a:off x="7307427" y="2331720"/>
            <a:ext cx="1965960" cy="219456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7307427" y="2331720"/>
            <a:ext cx="1965960" cy="5486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307427" y="2331720"/>
            <a:ext cx="1965960" cy="548640"/>
          </a:xfrm>
          <a:prstGeom prst="rect">
            <a:avLst/>
          </a:prstGeom>
          <a:noFill/>
        </p:spPr>
        <p:txBody>
          <a:bodyPr wrap="square" lIns="0" rIns="0" tIns="0" bIns="0" anchor="ctr">
            <a:spAutoFit/>
          </a:bodyPr>
          <a:lstStyle/>
          <a:p>
            <a:pPr algn="ctr">
              <a:lnSpc>
                <a:spcPct val="115000"/>
              </a:lnSpc>
              <a:spcAft>
                <a:spcPts val="0"/>
              </a:spcAft>
            </a:pPr>
            <a:r>
              <a:rPr sz="1100" b="1" i="0">
                <a:solidFill>
                  <a:srgbClr val="F7F3EC"/>
                </a:solidFill>
                <a:latin typeface="Calibri"/>
              </a:rPr>
              <a:t>TAHAP 4</a:t>
            </a:r>
          </a:p>
        </p:txBody>
      </p:sp>
      <p:sp>
        <p:nvSpPr>
          <p:cNvPr id="34" name="Oval 33"/>
          <p:cNvSpPr/>
          <p:nvPr/>
        </p:nvSpPr>
        <p:spPr>
          <a:xfrm>
            <a:off x="7924647" y="3063240"/>
            <a:ext cx="731520" cy="731520"/>
          </a:xfrm>
          <a:prstGeom prst="ellipse">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924647" y="3063240"/>
            <a:ext cx="731520" cy="731520"/>
          </a:xfrm>
          <a:prstGeom prst="rect">
            <a:avLst/>
          </a:prstGeom>
          <a:noFill/>
        </p:spPr>
        <p:txBody>
          <a:bodyPr wrap="square" lIns="0" rIns="0" tIns="0" bIns="0" anchor="ctr">
            <a:spAutoFit/>
          </a:bodyPr>
          <a:lstStyle/>
          <a:p>
            <a:pPr algn="ctr">
              <a:lnSpc>
                <a:spcPct val="115000"/>
              </a:lnSpc>
              <a:spcAft>
                <a:spcPts val="0"/>
              </a:spcAft>
            </a:pPr>
            <a:r>
              <a:rPr sz="2800" b="1" i="0">
                <a:solidFill>
                  <a:srgbClr val="F7F3EC"/>
                </a:solidFill>
                <a:latin typeface="Georgia"/>
              </a:rPr>
              <a:t>4</a:t>
            </a:r>
          </a:p>
        </p:txBody>
      </p:sp>
      <p:sp>
        <p:nvSpPr>
          <p:cNvPr id="36" name="TextBox 35"/>
          <p:cNvSpPr txBox="1"/>
          <p:nvPr/>
        </p:nvSpPr>
        <p:spPr>
          <a:xfrm>
            <a:off x="7398867" y="3886200"/>
            <a:ext cx="1783080" cy="365760"/>
          </a:xfrm>
          <a:prstGeom prst="rect">
            <a:avLst/>
          </a:prstGeom>
          <a:noFill/>
        </p:spPr>
        <p:txBody>
          <a:bodyPr wrap="square" lIns="0" rIns="0" tIns="0" bIns="0" anchor="t">
            <a:spAutoFit/>
          </a:bodyPr>
          <a:lstStyle/>
          <a:p>
            <a:pPr algn="ctr">
              <a:lnSpc>
                <a:spcPct val="115000"/>
              </a:lnSpc>
              <a:spcAft>
                <a:spcPts val="0"/>
              </a:spcAft>
            </a:pPr>
            <a:r>
              <a:rPr sz="1500" b="1" i="0">
                <a:solidFill>
                  <a:srgbClr val="0F4C5C"/>
                </a:solidFill>
                <a:latin typeface="Calibri"/>
              </a:rPr>
              <a:t>Pengujian</a:t>
            </a:r>
          </a:p>
        </p:txBody>
      </p:sp>
      <p:sp>
        <p:nvSpPr>
          <p:cNvPr id="37" name="TextBox 36"/>
          <p:cNvSpPr txBox="1"/>
          <p:nvPr/>
        </p:nvSpPr>
        <p:spPr>
          <a:xfrm>
            <a:off x="7444587" y="4206239"/>
            <a:ext cx="1691640" cy="365760"/>
          </a:xfrm>
          <a:prstGeom prst="rect">
            <a:avLst/>
          </a:prstGeom>
          <a:noFill/>
        </p:spPr>
        <p:txBody>
          <a:bodyPr wrap="square" lIns="0" rIns="0" tIns="0" bIns="0" anchor="t">
            <a:spAutoFit/>
          </a:bodyPr>
          <a:lstStyle/>
          <a:p>
            <a:pPr algn="ctr">
              <a:lnSpc>
                <a:spcPct val="125000"/>
              </a:lnSpc>
              <a:spcAft>
                <a:spcPts val="0"/>
              </a:spcAft>
            </a:pPr>
            <a:r>
              <a:rPr sz="900" b="0" i="0">
                <a:solidFill>
                  <a:srgbClr val="5C6B7A"/>
                </a:solidFill>
                <a:latin typeface="Calibri"/>
              </a:rPr>
              <a:t>Black-Box Testing untuk validasi</a:t>
            </a:r>
          </a:p>
        </p:txBody>
      </p:sp>
      <p:sp>
        <p:nvSpPr>
          <p:cNvPr id="38" name="TextBox 37"/>
          <p:cNvSpPr txBox="1"/>
          <p:nvPr/>
        </p:nvSpPr>
        <p:spPr>
          <a:xfrm>
            <a:off x="9291675" y="3319272"/>
            <a:ext cx="182880" cy="228600"/>
          </a:xfrm>
          <a:prstGeom prst="rect">
            <a:avLst/>
          </a:prstGeom>
          <a:noFill/>
        </p:spPr>
        <p:txBody>
          <a:bodyPr wrap="square" lIns="0" rIns="0" tIns="0" bIns="0" anchor="ctr">
            <a:spAutoFit/>
          </a:bodyPr>
          <a:lstStyle/>
          <a:p>
            <a:pPr algn="ctr">
              <a:lnSpc>
                <a:spcPct val="115000"/>
              </a:lnSpc>
              <a:spcAft>
                <a:spcPts val="0"/>
              </a:spcAft>
            </a:pPr>
            <a:r>
              <a:rPr sz="1600" b="1" i="0">
                <a:solidFill>
                  <a:srgbClr val="0F4C5C"/>
                </a:solidFill>
                <a:latin typeface="Georgia"/>
              </a:rPr>
              <a:t>&gt;</a:t>
            </a:r>
          </a:p>
        </p:txBody>
      </p:sp>
      <p:sp>
        <p:nvSpPr>
          <p:cNvPr id="39" name="Rectangle 38"/>
          <p:cNvSpPr/>
          <p:nvPr/>
        </p:nvSpPr>
        <p:spPr>
          <a:xfrm>
            <a:off x="9501987" y="2331720"/>
            <a:ext cx="1965960" cy="219456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9501987" y="2331720"/>
            <a:ext cx="1965960" cy="548640"/>
          </a:xfrm>
          <a:prstGeom prst="rect">
            <a:avLst/>
          </a:prstGeom>
          <a:solidFill>
            <a:srgbClr val="1B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9501987" y="2331720"/>
            <a:ext cx="1965960" cy="548640"/>
          </a:xfrm>
          <a:prstGeom prst="rect">
            <a:avLst/>
          </a:prstGeom>
          <a:noFill/>
        </p:spPr>
        <p:txBody>
          <a:bodyPr wrap="square" lIns="0" rIns="0" tIns="0" bIns="0" anchor="ctr">
            <a:spAutoFit/>
          </a:bodyPr>
          <a:lstStyle/>
          <a:p>
            <a:pPr algn="ctr">
              <a:lnSpc>
                <a:spcPct val="115000"/>
              </a:lnSpc>
              <a:spcAft>
                <a:spcPts val="0"/>
              </a:spcAft>
            </a:pPr>
            <a:r>
              <a:rPr sz="1100" b="1" i="0">
                <a:solidFill>
                  <a:srgbClr val="F7F3EC"/>
                </a:solidFill>
                <a:latin typeface="Calibri"/>
              </a:rPr>
              <a:t>TAHAP 5</a:t>
            </a:r>
          </a:p>
        </p:txBody>
      </p:sp>
      <p:sp>
        <p:nvSpPr>
          <p:cNvPr id="42" name="Oval 41"/>
          <p:cNvSpPr/>
          <p:nvPr/>
        </p:nvSpPr>
        <p:spPr>
          <a:xfrm>
            <a:off x="10119207" y="3063240"/>
            <a:ext cx="731520" cy="731520"/>
          </a:xfrm>
          <a:prstGeom prst="ellipse">
            <a:avLst/>
          </a:prstGeom>
          <a:solidFill>
            <a:srgbClr val="1B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0119207" y="3063240"/>
            <a:ext cx="731520" cy="731520"/>
          </a:xfrm>
          <a:prstGeom prst="rect">
            <a:avLst/>
          </a:prstGeom>
          <a:noFill/>
        </p:spPr>
        <p:txBody>
          <a:bodyPr wrap="square" lIns="0" rIns="0" tIns="0" bIns="0" anchor="ctr">
            <a:spAutoFit/>
          </a:bodyPr>
          <a:lstStyle/>
          <a:p>
            <a:pPr algn="ctr">
              <a:lnSpc>
                <a:spcPct val="115000"/>
              </a:lnSpc>
              <a:spcAft>
                <a:spcPts val="0"/>
              </a:spcAft>
            </a:pPr>
            <a:r>
              <a:rPr sz="2800" b="1" i="0">
                <a:solidFill>
                  <a:srgbClr val="F7F3EC"/>
                </a:solidFill>
                <a:latin typeface="Georgia"/>
              </a:rPr>
              <a:t>5</a:t>
            </a:r>
          </a:p>
        </p:txBody>
      </p:sp>
      <p:sp>
        <p:nvSpPr>
          <p:cNvPr id="44" name="TextBox 43"/>
          <p:cNvSpPr txBox="1"/>
          <p:nvPr/>
        </p:nvSpPr>
        <p:spPr>
          <a:xfrm>
            <a:off x="9593427" y="3886200"/>
            <a:ext cx="1783080" cy="365760"/>
          </a:xfrm>
          <a:prstGeom prst="rect">
            <a:avLst/>
          </a:prstGeom>
          <a:noFill/>
        </p:spPr>
        <p:txBody>
          <a:bodyPr wrap="square" lIns="0" rIns="0" tIns="0" bIns="0" anchor="t">
            <a:spAutoFit/>
          </a:bodyPr>
          <a:lstStyle/>
          <a:p>
            <a:pPr algn="ctr">
              <a:lnSpc>
                <a:spcPct val="115000"/>
              </a:lnSpc>
              <a:spcAft>
                <a:spcPts val="0"/>
              </a:spcAft>
            </a:pPr>
            <a:r>
              <a:rPr sz="1500" b="1" i="0">
                <a:solidFill>
                  <a:srgbClr val="0F4C5C"/>
                </a:solidFill>
                <a:latin typeface="Calibri"/>
              </a:rPr>
              <a:t>Pemeliharaan</a:t>
            </a:r>
          </a:p>
        </p:txBody>
      </p:sp>
      <p:sp>
        <p:nvSpPr>
          <p:cNvPr id="45" name="TextBox 44"/>
          <p:cNvSpPr txBox="1"/>
          <p:nvPr/>
        </p:nvSpPr>
        <p:spPr>
          <a:xfrm>
            <a:off x="9639147" y="4206239"/>
            <a:ext cx="1691640" cy="365760"/>
          </a:xfrm>
          <a:prstGeom prst="rect">
            <a:avLst/>
          </a:prstGeom>
          <a:noFill/>
        </p:spPr>
        <p:txBody>
          <a:bodyPr wrap="square" lIns="0" rIns="0" tIns="0" bIns="0" anchor="t">
            <a:spAutoFit/>
          </a:bodyPr>
          <a:lstStyle/>
          <a:p>
            <a:pPr algn="ctr">
              <a:lnSpc>
                <a:spcPct val="125000"/>
              </a:lnSpc>
              <a:spcAft>
                <a:spcPts val="0"/>
              </a:spcAft>
            </a:pPr>
            <a:r>
              <a:rPr sz="900" b="0" i="0">
                <a:solidFill>
                  <a:srgbClr val="5C6B7A"/>
                </a:solidFill>
                <a:latin typeface="Calibri"/>
              </a:rPr>
              <a:t>Deployment &amp; perawatan sistem</a:t>
            </a:r>
          </a:p>
        </p:txBody>
      </p:sp>
      <p:sp>
        <p:nvSpPr>
          <p:cNvPr id="46" name="Rectangle 45"/>
          <p:cNvSpPr/>
          <p:nvPr/>
        </p:nvSpPr>
        <p:spPr>
          <a:xfrm>
            <a:off x="548640" y="4937760"/>
            <a:ext cx="11064240" cy="141732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548640" y="4937760"/>
            <a:ext cx="91440" cy="1417320"/>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868680" y="5074920"/>
            <a:ext cx="10515600" cy="365760"/>
          </a:xfrm>
          <a:prstGeom prst="rect">
            <a:avLst/>
          </a:prstGeom>
          <a:noFill/>
        </p:spPr>
        <p:txBody>
          <a:bodyPr wrap="square" lIns="0" rIns="0" tIns="0" bIns="0" anchor="t">
            <a:spAutoFit/>
          </a:bodyPr>
          <a:lstStyle/>
          <a:p>
            <a:pPr algn="l">
              <a:lnSpc>
                <a:spcPct val="115000"/>
              </a:lnSpc>
              <a:spcAft>
                <a:spcPts val="0"/>
              </a:spcAft>
            </a:pPr>
            <a:r>
              <a:rPr sz="1100" b="1" i="0">
                <a:solidFill>
                  <a:srgbClr val="E9C46A"/>
                </a:solidFill>
                <a:latin typeface="Calibri"/>
              </a:rPr>
              <a:t>MESIN INFERENSI</a:t>
            </a:r>
          </a:p>
        </p:txBody>
      </p:sp>
      <p:sp>
        <p:nvSpPr>
          <p:cNvPr id="49" name="TextBox 48"/>
          <p:cNvSpPr txBox="1"/>
          <p:nvPr/>
        </p:nvSpPr>
        <p:spPr>
          <a:xfrm>
            <a:off x="868680" y="5349240"/>
            <a:ext cx="10515600" cy="457200"/>
          </a:xfrm>
          <a:prstGeom prst="rect">
            <a:avLst/>
          </a:prstGeom>
          <a:noFill/>
        </p:spPr>
        <p:txBody>
          <a:bodyPr wrap="square" lIns="0" rIns="0" tIns="0" bIns="0" anchor="t">
            <a:spAutoFit/>
          </a:bodyPr>
          <a:lstStyle/>
          <a:p>
            <a:pPr algn="l">
              <a:lnSpc>
                <a:spcPct val="115000"/>
              </a:lnSpc>
              <a:spcAft>
                <a:spcPts val="0"/>
              </a:spcAft>
            </a:pPr>
            <a:r>
              <a:rPr sz="2200" b="1" i="1">
                <a:solidFill>
                  <a:srgbClr val="F7F3EC"/>
                </a:solidFill>
                <a:latin typeface="Georgia"/>
              </a:rPr>
              <a:t>Forward Chaining</a:t>
            </a:r>
          </a:p>
        </p:txBody>
      </p:sp>
      <p:sp>
        <p:nvSpPr>
          <p:cNvPr id="50" name="TextBox 49"/>
          <p:cNvSpPr txBox="1"/>
          <p:nvPr/>
        </p:nvSpPr>
        <p:spPr>
          <a:xfrm>
            <a:off x="868680" y="5852160"/>
            <a:ext cx="10515600" cy="457200"/>
          </a:xfrm>
          <a:prstGeom prst="rect">
            <a:avLst/>
          </a:prstGeom>
          <a:noFill/>
        </p:spPr>
        <p:txBody>
          <a:bodyPr wrap="square" lIns="0" rIns="0" tIns="0" bIns="0" anchor="t">
            <a:spAutoFit/>
          </a:bodyPr>
          <a:lstStyle/>
          <a:p>
            <a:pPr algn="l">
              <a:lnSpc>
                <a:spcPct val="130000"/>
              </a:lnSpc>
              <a:spcAft>
                <a:spcPts val="0"/>
              </a:spcAft>
            </a:pPr>
            <a:r>
              <a:rPr sz="1200" b="0" i="0">
                <a:solidFill>
                  <a:srgbClr val="E8D8C4"/>
                </a:solidFill>
                <a:latin typeface="Calibri"/>
              </a:rPr>
              <a:t>Pencocokan gejala (fakta) dengan aturan IF–THEN secara berurutan hingga ditemukan penyakit yang paling sesuai.</a:t>
            </a:r>
          </a:p>
        </p:txBody>
      </p:sp>
      <p:sp>
        <p:nvSpPr>
          <p:cNvPr id="51" name="TextBox 50"/>
          <p:cNvSpPr txBox="1"/>
          <p:nvPr/>
        </p:nvSpPr>
        <p:spPr>
          <a:xfrm>
            <a:off x="10911535" y="6400800"/>
            <a:ext cx="914400" cy="274320"/>
          </a:xfrm>
          <a:prstGeom prst="rect">
            <a:avLst/>
          </a:prstGeom>
          <a:noFill/>
        </p:spPr>
        <p:txBody>
          <a:bodyPr wrap="square" lIns="0" rIns="0" tIns="0" bIns="0" anchor="t">
            <a:spAutoFit/>
          </a:bodyPr>
          <a:lstStyle/>
          <a:p>
            <a:pPr algn="r">
              <a:lnSpc>
                <a:spcPct val="115000"/>
              </a:lnSpc>
              <a:spcAft>
                <a:spcPts val="0"/>
              </a:spcAft>
            </a:pPr>
            <a:r>
              <a:rPr sz="1000" b="1" i="0">
                <a:solidFill>
                  <a:srgbClr val="5C6B7A"/>
                </a:solidFill>
                <a:latin typeface="Calibri"/>
              </a:rPr>
              <a:t>08 / 15</a:t>
            </a:r>
          </a:p>
        </p:txBody>
      </p:sp>
      <p:sp>
        <p:nvSpPr>
          <p:cNvPr id="52" name="TextBox 51"/>
          <p:cNvSpPr txBox="1"/>
          <p:nvPr/>
        </p:nvSpPr>
        <p:spPr>
          <a:xfrm>
            <a:off x="457200" y="6400800"/>
            <a:ext cx="7315200" cy="274320"/>
          </a:xfrm>
          <a:prstGeom prst="rect">
            <a:avLst/>
          </a:prstGeom>
          <a:noFill/>
        </p:spPr>
        <p:txBody>
          <a:bodyPr wrap="square" lIns="0" rIns="0" tIns="0" bIns="0" anchor="t">
            <a:spAutoFit/>
          </a:bodyPr>
          <a:lstStyle/>
          <a:p>
            <a:pPr algn="l">
              <a:lnSpc>
                <a:spcPct val="115000"/>
              </a:lnSpc>
              <a:spcAft>
                <a:spcPts val="0"/>
              </a:spcAft>
            </a:pPr>
            <a:r>
              <a:rPr sz="1000" b="1" i="0">
                <a:solidFill>
                  <a:srgbClr val="5C6B7A"/>
                </a:solidFill>
                <a:latin typeface="Calibri"/>
              </a:rPr>
              <a:t>Klinik Merpati  •  Sistem Pakar Diagnosa Avian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502920"/>
            <a:ext cx="164592" cy="1645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11480"/>
            <a:ext cx="7315200" cy="320040"/>
          </a:xfrm>
          <a:prstGeom prst="rect">
            <a:avLst/>
          </a:prstGeom>
          <a:noFill/>
        </p:spPr>
        <p:txBody>
          <a:bodyPr wrap="square" lIns="0" rIns="0" tIns="0" bIns="0" anchor="t">
            <a:spAutoFit/>
          </a:bodyPr>
          <a:lstStyle/>
          <a:p>
            <a:pPr algn="l">
              <a:lnSpc>
                <a:spcPct val="115000"/>
              </a:lnSpc>
              <a:spcAft>
                <a:spcPts val="0"/>
              </a:spcAft>
            </a:pPr>
            <a:r>
              <a:rPr sz="1100" b="1" i="0">
                <a:solidFill>
                  <a:srgbClr val="E76F51"/>
                </a:solidFill>
                <a:latin typeface="Calibri"/>
              </a:rPr>
              <a:t>BAB IV  •  PERANCANGAN</a:t>
            </a:r>
          </a:p>
        </p:txBody>
      </p:sp>
      <p:sp>
        <p:nvSpPr>
          <p:cNvPr id="5" name="TextBox 4"/>
          <p:cNvSpPr txBox="1"/>
          <p:nvPr/>
        </p:nvSpPr>
        <p:spPr>
          <a:xfrm>
            <a:off x="548640" y="777240"/>
            <a:ext cx="10515600" cy="640080"/>
          </a:xfrm>
          <a:prstGeom prst="rect">
            <a:avLst/>
          </a:prstGeom>
          <a:noFill/>
        </p:spPr>
        <p:txBody>
          <a:bodyPr wrap="square" lIns="0" rIns="0" tIns="0" bIns="0" anchor="t">
            <a:spAutoFit/>
          </a:bodyPr>
          <a:lstStyle/>
          <a:p>
            <a:pPr algn="l">
              <a:lnSpc>
                <a:spcPct val="115000"/>
              </a:lnSpc>
              <a:spcAft>
                <a:spcPts val="0"/>
              </a:spcAft>
            </a:pPr>
            <a:r>
              <a:rPr sz="3200" b="1" i="0">
                <a:solidFill>
                  <a:srgbClr val="0F4C5C"/>
                </a:solidFill>
                <a:latin typeface="Georgia"/>
              </a:rPr>
              <a:t>Flowchart Sistem Lama &amp; Baru</a:t>
            </a:r>
          </a:p>
        </p:txBody>
      </p:sp>
      <p:sp>
        <p:nvSpPr>
          <p:cNvPr id="6" name="Rectangle 5"/>
          <p:cNvSpPr/>
          <p:nvPr/>
        </p:nvSpPr>
        <p:spPr>
          <a:xfrm>
            <a:off x="502920" y="1691640"/>
            <a:ext cx="5486400" cy="429768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02920" y="1691640"/>
            <a:ext cx="5486400" cy="502920"/>
          </a:xfrm>
          <a:prstGeom prst="rect">
            <a:avLst/>
          </a:prstGeom>
          <a:solidFill>
            <a:srgbClr val="C14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1691640"/>
            <a:ext cx="1828800" cy="502920"/>
          </a:xfrm>
          <a:prstGeom prst="rect">
            <a:avLst/>
          </a:prstGeom>
          <a:noFill/>
        </p:spPr>
        <p:txBody>
          <a:bodyPr wrap="square" lIns="0" rIns="0" tIns="0" bIns="0" anchor="ctr">
            <a:spAutoFit/>
          </a:bodyPr>
          <a:lstStyle/>
          <a:p>
            <a:pPr algn="l">
              <a:lnSpc>
                <a:spcPct val="115000"/>
              </a:lnSpc>
              <a:spcAft>
                <a:spcPts val="0"/>
              </a:spcAft>
            </a:pPr>
            <a:r>
              <a:rPr sz="1100" b="1" i="0">
                <a:solidFill>
                  <a:srgbClr val="F7F3EC"/>
                </a:solidFill>
                <a:latin typeface="Calibri"/>
              </a:rPr>
              <a:t>BEFORE</a:t>
            </a:r>
          </a:p>
        </p:txBody>
      </p:sp>
      <p:sp>
        <p:nvSpPr>
          <p:cNvPr id="9" name="TextBox 8"/>
          <p:cNvSpPr txBox="1"/>
          <p:nvPr/>
        </p:nvSpPr>
        <p:spPr>
          <a:xfrm>
            <a:off x="502920" y="1691640"/>
            <a:ext cx="5486400" cy="502920"/>
          </a:xfrm>
          <a:prstGeom prst="rect">
            <a:avLst/>
          </a:prstGeom>
          <a:noFill/>
        </p:spPr>
        <p:txBody>
          <a:bodyPr wrap="square" lIns="0" rIns="0" tIns="0" bIns="0" anchor="ctr">
            <a:spAutoFit/>
          </a:bodyPr>
          <a:lstStyle/>
          <a:p>
            <a:pPr algn="ctr">
              <a:lnSpc>
                <a:spcPct val="115000"/>
              </a:lnSpc>
              <a:spcAft>
                <a:spcPts val="0"/>
              </a:spcAft>
            </a:pPr>
            <a:r>
              <a:rPr sz="1800" b="1" i="0">
                <a:solidFill>
                  <a:srgbClr val="F7F3EC"/>
                </a:solidFill>
                <a:latin typeface="Georgia"/>
              </a:rPr>
              <a:t>Sistem Lama</a:t>
            </a:r>
          </a:p>
        </p:txBody>
      </p:sp>
      <p:pic>
        <p:nvPicPr>
          <p:cNvPr id="10" name="Picture 9" descr="sistem_lama_tight.png"/>
          <p:cNvPicPr>
            <a:picLocks noChangeAspect="1"/>
          </p:cNvPicPr>
          <p:nvPr/>
        </p:nvPicPr>
        <p:blipFill>
          <a:blip r:embed="rId2"/>
          <a:stretch>
            <a:fillRect/>
          </a:stretch>
        </p:blipFill>
        <p:spPr>
          <a:xfrm>
            <a:off x="777240" y="2331720"/>
            <a:ext cx="898144" cy="3291840"/>
          </a:xfrm>
          <a:prstGeom prst="rect">
            <a:avLst/>
          </a:prstGeom>
        </p:spPr>
      </p:pic>
      <p:sp>
        <p:nvSpPr>
          <p:cNvPr id="11" name="Rectangle 10"/>
          <p:cNvSpPr/>
          <p:nvPr/>
        </p:nvSpPr>
        <p:spPr>
          <a:xfrm>
            <a:off x="6172200" y="1691640"/>
            <a:ext cx="5486400" cy="429768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172200" y="1691640"/>
            <a:ext cx="5486400" cy="50292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46520" y="1691640"/>
            <a:ext cx="1828800" cy="502920"/>
          </a:xfrm>
          <a:prstGeom prst="rect">
            <a:avLst/>
          </a:prstGeom>
          <a:noFill/>
        </p:spPr>
        <p:txBody>
          <a:bodyPr wrap="square" lIns="0" rIns="0" tIns="0" bIns="0" anchor="ctr">
            <a:spAutoFit/>
          </a:bodyPr>
          <a:lstStyle/>
          <a:p>
            <a:pPr algn="l">
              <a:lnSpc>
                <a:spcPct val="115000"/>
              </a:lnSpc>
              <a:spcAft>
                <a:spcPts val="0"/>
              </a:spcAft>
            </a:pPr>
            <a:r>
              <a:rPr sz="1100" b="1" i="0">
                <a:solidFill>
                  <a:srgbClr val="E9C46A"/>
                </a:solidFill>
                <a:latin typeface="Calibri"/>
              </a:rPr>
              <a:t>AFTER</a:t>
            </a:r>
          </a:p>
        </p:txBody>
      </p:sp>
      <p:sp>
        <p:nvSpPr>
          <p:cNvPr id="14" name="TextBox 13"/>
          <p:cNvSpPr txBox="1"/>
          <p:nvPr/>
        </p:nvSpPr>
        <p:spPr>
          <a:xfrm>
            <a:off x="6172200" y="1691640"/>
            <a:ext cx="5486400" cy="502920"/>
          </a:xfrm>
          <a:prstGeom prst="rect">
            <a:avLst/>
          </a:prstGeom>
          <a:noFill/>
        </p:spPr>
        <p:txBody>
          <a:bodyPr wrap="square" lIns="0" rIns="0" tIns="0" bIns="0" anchor="ctr">
            <a:spAutoFit/>
          </a:bodyPr>
          <a:lstStyle/>
          <a:p>
            <a:pPr algn="ctr">
              <a:lnSpc>
                <a:spcPct val="115000"/>
              </a:lnSpc>
              <a:spcAft>
                <a:spcPts val="0"/>
              </a:spcAft>
            </a:pPr>
            <a:r>
              <a:rPr sz="1800" b="1" i="0">
                <a:solidFill>
                  <a:srgbClr val="F7F3EC"/>
                </a:solidFill>
                <a:latin typeface="Georgia"/>
              </a:rPr>
              <a:t>Sistem Baru (Klinik Merpati)</a:t>
            </a:r>
          </a:p>
        </p:txBody>
      </p:sp>
      <p:pic>
        <p:nvPicPr>
          <p:cNvPr id="15" name="Picture 14" descr="sistem_baru_tight.png"/>
          <p:cNvPicPr>
            <a:picLocks noChangeAspect="1"/>
          </p:cNvPicPr>
          <p:nvPr/>
        </p:nvPicPr>
        <p:blipFill>
          <a:blip r:embed="rId3"/>
          <a:stretch>
            <a:fillRect/>
          </a:stretch>
        </p:blipFill>
        <p:spPr>
          <a:xfrm>
            <a:off x="6446520" y="2331720"/>
            <a:ext cx="1991360" cy="3291840"/>
          </a:xfrm>
          <a:prstGeom prst="rect">
            <a:avLst/>
          </a:prstGeom>
        </p:spPr>
      </p:pic>
      <p:sp>
        <p:nvSpPr>
          <p:cNvPr id="16" name="Rectangle 15"/>
          <p:cNvSpPr/>
          <p:nvPr/>
        </p:nvSpPr>
        <p:spPr>
          <a:xfrm>
            <a:off x="502920" y="5943600"/>
            <a:ext cx="5486400" cy="36576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02920" y="5943600"/>
            <a:ext cx="5486400" cy="365760"/>
          </a:xfrm>
          <a:prstGeom prst="rect">
            <a:avLst/>
          </a:prstGeom>
          <a:noFill/>
        </p:spPr>
        <p:txBody>
          <a:bodyPr wrap="square" lIns="0" rIns="0" tIns="0" bIns="0" anchor="ctr">
            <a:spAutoFit/>
          </a:bodyPr>
          <a:lstStyle/>
          <a:p>
            <a:pPr algn="ctr">
              <a:lnSpc>
                <a:spcPct val="115000"/>
              </a:lnSpc>
              <a:spcAft>
                <a:spcPts val="0"/>
              </a:spcAft>
            </a:pPr>
            <a:r>
              <a:rPr sz="1100" b="0" i="1">
                <a:solidFill>
                  <a:srgbClr val="1B263B"/>
                </a:solidFill>
                <a:latin typeface="Calibri"/>
              </a:rPr>
              <a:t>✕  Diagnosa manual oleh peternak</a:t>
            </a:r>
          </a:p>
        </p:txBody>
      </p:sp>
      <p:sp>
        <p:nvSpPr>
          <p:cNvPr id="18" name="Rectangle 17"/>
          <p:cNvSpPr/>
          <p:nvPr/>
        </p:nvSpPr>
        <p:spPr>
          <a:xfrm>
            <a:off x="6172200" y="5943600"/>
            <a:ext cx="5486400" cy="3657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172200" y="5943600"/>
            <a:ext cx="5486400" cy="365760"/>
          </a:xfrm>
          <a:prstGeom prst="rect">
            <a:avLst/>
          </a:prstGeom>
          <a:noFill/>
        </p:spPr>
        <p:txBody>
          <a:bodyPr wrap="square" lIns="0" rIns="0" tIns="0" bIns="0" anchor="ctr">
            <a:spAutoFit/>
          </a:bodyPr>
          <a:lstStyle/>
          <a:p>
            <a:pPr algn="ctr">
              <a:lnSpc>
                <a:spcPct val="115000"/>
              </a:lnSpc>
              <a:spcAft>
                <a:spcPts val="0"/>
              </a:spcAft>
            </a:pPr>
            <a:r>
              <a:rPr sz="1100" b="1" i="0">
                <a:solidFill>
                  <a:srgbClr val="F7F3EC"/>
                </a:solidFill>
                <a:latin typeface="Calibri"/>
              </a:rPr>
              <a:t>✓  Diagnosa otomatis Forward Chaining</a:t>
            </a:r>
          </a:p>
        </p:txBody>
      </p:sp>
      <p:sp>
        <p:nvSpPr>
          <p:cNvPr id="20" name="TextBox 19"/>
          <p:cNvSpPr txBox="1"/>
          <p:nvPr/>
        </p:nvSpPr>
        <p:spPr>
          <a:xfrm>
            <a:off x="10911535" y="6400800"/>
            <a:ext cx="914400" cy="274320"/>
          </a:xfrm>
          <a:prstGeom prst="rect">
            <a:avLst/>
          </a:prstGeom>
          <a:noFill/>
        </p:spPr>
        <p:txBody>
          <a:bodyPr wrap="square" lIns="0" rIns="0" tIns="0" bIns="0" anchor="t">
            <a:spAutoFit/>
          </a:bodyPr>
          <a:lstStyle/>
          <a:p>
            <a:pPr algn="r">
              <a:lnSpc>
                <a:spcPct val="115000"/>
              </a:lnSpc>
              <a:spcAft>
                <a:spcPts val="0"/>
              </a:spcAft>
            </a:pPr>
            <a:r>
              <a:rPr sz="1000" b="1" i="0">
                <a:solidFill>
                  <a:srgbClr val="5C6B7A"/>
                </a:solidFill>
                <a:latin typeface="Calibri"/>
              </a:rPr>
              <a:t>09 / 15</a:t>
            </a:r>
          </a:p>
        </p:txBody>
      </p:sp>
      <p:sp>
        <p:nvSpPr>
          <p:cNvPr id="21" name="TextBox 20"/>
          <p:cNvSpPr txBox="1"/>
          <p:nvPr/>
        </p:nvSpPr>
        <p:spPr>
          <a:xfrm>
            <a:off x="457200" y="6400800"/>
            <a:ext cx="7315200" cy="274320"/>
          </a:xfrm>
          <a:prstGeom prst="rect">
            <a:avLst/>
          </a:prstGeom>
          <a:noFill/>
        </p:spPr>
        <p:txBody>
          <a:bodyPr wrap="square" lIns="0" rIns="0" tIns="0" bIns="0" anchor="t">
            <a:spAutoFit/>
          </a:bodyPr>
          <a:lstStyle/>
          <a:p>
            <a:pPr algn="l">
              <a:lnSpc>
                <a:spcPct val="115000"/>
              </a:lnSpc>
              <a:spcAft>
                <a:spcPts val="0"/>
              </a:spcAft>
            </a:pPr>
            <a:r>
              <a:rPr sz="1000" b="1" i="0">
                <a:solidFill>
                  <a:srgbClr val="5C6B7A"/>
                </a:solidFill>
                <a:latin typeface="Calibri"/>
              </a:rPr>
              <a:t>Klinik Merpati  •  Sistem Pakar Diagnosa Avian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502920"/>
            <a:ext cx="164592" cy="1645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11480"/>
            <a:ext cx="7315200" cy="320040"/>
          </a:xfrm>
          <a:prstGeom prst="rect">
            <a:avLst/>
          </a:prstGeom>
          <a:noFill/>
        </p:spPr>
        <p:txBody>
          <a:bodyPr wrap="square" lIns="0" rIns="0" tIns="0" bIns="0" anchor="t">
            <a:spAutoFit/>
          </a:bodyPr>
          <a:lstStyle/>
          <a:p>
            <a:pPr algn="l">
              <a:lnSpc>
                <a:spcPct val="115000"/>
              </a:lnSpc>
              <a:spcAft>
                <a:spcPts val="0"/>
              </a:spcAft>
            </a:pPr>
            <a:r>
              <a:rPr sz="1100" b="1" i="0">
                <a:solidFill>
                  <a:srgbClr val="E76F51"/>
                </a:solidFill>
                <a:latin typeface="Calibri"/>
              </a:rPr>
              <a:t>BAB IV  •  PERANCANGAN</a:t>
            </a:r>
          </a:p>
        </p:txBody>
      </p:sp>
      <p:sp>
        <p:nvSpPr>
          <p:cNvPr id="5" name="TextBox 4"/>
          <p:cNvSpPr txBox="1"/>
          <p:nvPr/>
        </p:nvSpPr>
        <p:spPr>
          <a:xfrm>
            <a:off x="548640" y="777240"/>
            <a:ext cx="10515600" cy="640080"/>
          </a:xfrm>
          <a:prstGeom prst="rect">
            <a:avLst/>
          </a:prstGeom>
          <a:noFill/>
        </p:spPr>
        <p:txBody>
          <a:bodyPr wrap="square" lIns="0" rIns="0" tIns="0" bIns="0" anchor="t">
            <a:spAutoFit/>
          </a:bodyPr>
          <a:lstStyle/>
          <a:p>
            <a:pPr algn="l">
              <a:lnSpc>
                <a:spcPct val="115000"/>
              </a:lnSpc>
              <a:spcAft>
                <a:spcPts val="0"/>
              </a:spcAft>
            </a:pPr>
            <a:r>
              <a:rPr sz="3200" b="1" i="0">
                <a:solidFill>
                  <a:srgbClr val="0F4C5C"/>
                </a:solidFill>
                <a:latin typeface="Georgia"/>
              </a:rPr>
              <a:t>Diagram Use Case</a:t>
            </a:r>
          </a:p>
        </p:txBody>
      </p:sp>
      <p:sp>
        <p:nvSpPr>
          <p:cNvPr id="6" name="Rectangle 5"/>
          <p:cNvSpPr/>
          <p:nvPr/>
        </p:nvSpPr>
        <p:spPr>
          <a:xfrm>
            <a:off x="548640" y="1645920"/>
            <a:ext cx="6400800" cy="466344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use_case.png"/>
          <p:cNvPicPr>
            <a:picLocks noChangeAspect="1"/>
          </p:cNvPicPr>
          <p:nvPr/>
        </p:nvPicPr>
        <p:blipFill>
          <a:blip r:embed="rId2"/>
          <a:stretch>
            <a:fillRect/>
          </a:stretch>
        </p:blipFill>
        <p:spPr>
          <a:xfrm>
            <a:off x="731520" y="1828800"/>
            <a:ext cx="6035040" cy="4297680"/>
          </a:xfrm>
          <a:prstGeom prst="rect">
            <a:avLst/>
          </a:prstGeom>
        </p:spPr>
      </p:pic>
      <p:sp>
        <p:nvSpPr>
          <p:cNvPr id="8" name="TextBox 7"/>
          <p:cNvSpPr txBox="1"/>
          <p:nvPr/>
        </p:nvSpPr>
        <p:spPr>
          <a:xfrm>
            <a:off x="7178040" y="1645920"/>
            <a:ext cx="4480560" cy="365760"/>
          </a:xfrm>
          <a:prstGeom prst="rect">
            <a:avLst/>
          </a:prstGeom>
          <a:noFill/>
        </p:spPr>
        <p:txBody>
          <a:bodyPr wrap="square" lIns="0" rIns="0" tIns="0" bIns="0" anchor="t">
            <a:spAutoFit/>
          </a:bodyPr>
          <a:lstStyle/>
          <a:p>
            <a:pPr algn="l">
              <a:lnSpc>
                <a:spcPct val="115000"/>
              </a:lnSpc>
              <a:spcAft>
                <a:spcPts val="0"/>
              </a:spcAft>
            </a:pPr>
            <a:r>
              <a:rPr sz="1100" b="1" i="0">
                <a:solidFill>
                  <a:srgbClr val="E76F51"/>
                </a:solidFill>
                <a:latin typeface="Calibri"/>
              </a:rPr>
              <a:t>AKTOR &amp; FITUR UTAMA</a:t>
            </a:r>
          </a:p>
        </p:txBody>
      </p:sp>
      <p:sp>
        <p:nvSpPr>
          <p:cNvPr id="9" name="Rectangle 8"/>
          <p:cNvSpPr/>
          <p:nvPr/>
        </p:nvSpPr>
        <p:spPr>
          <a:xfrm>
            <a:off x="7178040" y="1965960"/>
            <a:ext cx="457200" cy="36576"/>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7178040" y="2194560"/>
            <a:ext cx="4480560" cy="141732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7360920" y="2331720"/>
            <a:ext cx="502920" cy="502920"/>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360920" y="2331720"/>
            <a:ext cx="502920" cy="502920"/>
          </a:xfrm>
          <a:prstGeom prst="rect">
            <a:avLst/>
          </a:prstGeom>
          <a:noFill/>
        </p:spPr>
        <p:txBody>
          <a:bodyPr wrap="square" lIns="0" rIns="0" tIns="0" bIns="0" anchor="ctr">
            <a:spAutoFit/>
          </a:bodyPr>
          <a:lstStyle/>
          <a:p>
            <a:pPr algn="ctr">
              <a:lnSpc>
                <a:spcPct val="115000"/>
              </a:lnSpc>
              <a:spcAft>
                <a:spcPts val="0"/>
              </a:spcAft>
            </a:pPr>
            <a:r>
              <a:rPr sz="2000" b="1" i="0">
                <a:solidFill>
                  <a:srgbClr val="F7F3EC"/>
                </a:solidFill>
                <a:latin typeface="Georgia"/>
              </a:rPr>
              <a:t>U</a:t>
            </a:r>
          </a:p>
        </p:txBody>
      </p:sp>
      <p:sp>
        <p:nvSpPr>
          <p:cNvPr id="13" name="TextBox 12"/>
          <p:cNvSpPr txBox="1"/>
          <p:nvPr/>
        </p:nvSpPr>
        <p:spPr>
          <a:xfrm>
            <a:off x="8001000" y="2286000"/>
            <a:ext cx="3566160" cy="365760"/>
          </a:xfrm>
          <a:prstGeom prst="rect">
            <a:avLst/>
          </a:prstGeom>
          <a:noFill/>
        </p:spPr>
        <p:txBody>
          <a:bodyPr wrap="square" lIns="0" rIns="0" tIns="0" bIns="0" anchor="t">
            <a:spAutoFit/>
          </a:bodyPr>
          <a:lstStyle/>
          <a:p>
            <a:pPr algn="l">
              <a:lnSpc>
                <a:spcPct val="115000"/>
              </a:lnSpc>
              <a:spcAft>
                <a:spcPts val="0"/>
              </a:spcAft>
            </a:pPr>
            <a:r>
              <a:rPr sz="1500" b="1" i="0">
                <a:solidFill>
                  <a:srgbClr val="0F4C5C"/>
                </a:solidFill>
                <a:latin typeface="Calibri"/>
              </a:rPr>
              <a:t>User (Pengunjung)</a:t>
            </a:r>
          </a:p>
        </p:txBody>
      </p:sp>
      <p:sp>
        <p:nvSpPr>
          <p:cNvPr id="14" name="TextBox 13"/>
          <p:cNvSpPr txBox="1"/>
          <p:nvPr/>
        </p:nvSpPr>
        <p:spPr>
          <a:xfrm>
            <a:off x="8001000" y="2606040"/>
            <a:ext cx="3566160" cy="914400"/>
          </a:xfrm>
          <a:prstGeom prst="rect">
            <a:avLst/>
          </a:prstGeom>
          <a:noFill/>
        </p:spPr>
        <p:txBody>
          <a:bodyPr wrap="square" lIns="0" rIns="0" tIns="0" bIns="0" anchor="t">
            <a:spAutoFit/>
          </a:bodyPr>
          <a:lstStyle/>
          <a:p>
            <a:pPr algn="l">
              <a:lnSpc>
                <a:spcPct val="140000"/>
              </a:lnSpc>
              <a:spcAft>
                <a:spcPts val="0"/>
              </a:spcAft>
            </a:pPr>
            <a:r>
              <a:rPr sz="1050" b="0" i="0">
                <a:solidFill>
                  <a:srgbClr val="5C6B7A"/>
                </a:solidFill>
                <a:latin typeface="Calibri"/>
              </a:rPr>
              <a:t>• Melihat katalog penyakit</a:t>
            </a:r>
          </a:p>
          <a:p>
            <a:pPr algn="l">
              <a:lnSpc>
                <a:spcPct val="140000"/>
              </a:lnSpc>
              <a:spcAft>
                <a:spcPts val="0"/>
              </a:spcAft>
            </a:pPr>
            <a:r>
              <a:rPr sz="1050" b="0" i="0">
                <a:solidFill>
                  <a:srgbClr val="5C6B7A"/>
                </a:solidFill>
                <a:latin typeface="Calibri"/>
              </a:rPr>
              <a:t>• Melakukan konsultasi gejala</a:t>
            </a:r>
          </a:p>
          <a:p>
            <a:pPr algn="l">
              <a:lnSpc>
                <a:spcPct val="140000"/>
              </a:lnSpc>
              <a:spcAft>
                <a:spcPts val="0"/>
              </a:spcAft>
            </a:pPr>
            <a:r>
              <a:rPr sz="1050" b="0" i="0">
                <a:solidFill>
                  <a:srgbClr val="5C6B7A"/>
                </a:solidFill>
                <a:latin typeface="Calibri"/>
              </a:rPr>
              <a:t>• Melihat hasil diagnosa &amp; riwayat</a:t>
            </a:r>
          </a:p>
        </p:txBody>
      </p:sp>
      <p:sp>
        <p:nvSpPr>
          <p:cNvPr id="15" name="Rectangle 14"/>
          <p:cNvSpPr/>
          <p:nvPr/>
        </p:nvSpPr>
        <p:spPr>
          <a:xfrm>
            <a:off x="7178040" y="3749039"/>
            <a:ext cx="4480560" cy="141732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7360920" y="3886200"/>
            <a:ext cx="502920" cy="502920"/>
          </a:xfrm>
          <a:prstGeom prst="ellipse">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360920" y="3886200"/>
            <a:ext cx="502920" cy="502920"/>
          </a:xfrm>
          <a:prstGeom prst="rect">
            <a:avLst/>
          </a:prstGeom>
          <a:noFill/>
        </p:spPr>
        <p:txBody>
          <a:bodyPr wrap="square" lIns="0" rIns="0" tIns="0" bIns="0" anchor="ctr">
            <a:spAutoFit/>
          </a:bodyPr>
          <a:lstStyle/>
          <a:p>
            <a:pPr algn="ctr">
              <a:lnSpc>
                <a:spcPct val="115000"/>
              </a:lnSpc>
              <a:spcAft>
                <a:spcPts val="0"/>
              </a:spcAft>
            </a:pPr>
            <a:r>
              <a:rPr sz="2000" b="1" i="0">
                <a:solidFill>
                  <a:srgbClr val="093542"/>
                </a:solidFill>
                <a:latin typeface="Georgia"/>
              </a:rPr>
              <a:t>A</a:t>
            </a:r>
          </a:p>
        </p:txBody>
      </p:sp>
      <p:sp>
        <p:nvSpPr>
          <p:cNvPr id="18" name="TextBox 17"/>
          <p:cNvSpPr txBox="1"/>
          <p:nvPr/>
        </p:nvSpPr>
        <p:spPr>
          <a:xfrm>
            <a:off x="8001000" y="3840480"/>
            <a:ext cx="3566160" cy="365760"/>
          </a:xfrm>
          <a:prstGeom prst="rect">
            <a:avLst/>
          </a:prstGeom>
          <a:noFill/>
        </p:spPr>
        <p:txBody>
          <a:bodyPr wrap="square" lIns="0" rIns="0" tIns="0" bIns="0" anchor="t">
            <a:spAutoFit/>
          </a:bodyPr>
          <a:lstStyle/>
          <a:p>
            <a:pPr algn="l">
              <a:lnSpc>
                <a:spcPct val="115000"/>
              </a:lnSpc>
              <a:spcAft>
                <a:spcPts val="0"/>
              </a:spcAft>
            </a:pPr>
            <a:r>
              <a:rPr sz="1500" b="1" i="0">
                <a:solidFill>
                  <a:srgbClr val="0F4C5C"/>
                </a:solidFill>
                <a:latin typeface="Calibri"/>
              </a:rPr>
              <a:t>Admin</a:t>
            </a:r>
          </a:p>
        </p:txBody>
      </p:sp>
      <p:sp>
        <p:nvSpPr>
          <p:cNvPr id="19" name="TextBox 18"/>
          <p:cNvSpPr txBox="1"/>
          <p:nvPr/>
        </p:nvSpPr>
        <p:spPr>
          <a:xfrm>
            <a:off x="8001000" y="4160520"/>
            <a:ext cx="3566160" cy="914400"/>
          </a:xfrm>
          <a:prstGeom prst="rect">
            <a:avLst/>
          </a:prstGeom>
          <a:noFill/>
        </p:spPr>
        <p:txBody>
          <a:bodyPr wrap="square" lIns="0" rIns="0" tIns="0" bIns="0" anchor="t">
            <a:spAutoFit/>
          </a:bodyPr>
          <a:lstStyle/>
          <a:p>
            <a:pPr algn="l">
              <a:lnSpc>
                <a:spcPct val="140000"/>
              </a:lnSpc>
              <a:spcAft>
                <a:spcPts val="0"/>
              </a:spcAft>
            </a:pPr>
            <a:r>
              <a:rPr sz="1050" b="0" i="0">
                <a:solidFill>
                  <a:srgbClr val="5C6B7A"/>
                </a:solidFill>
                <a:latin typeface="Calibri"/>
              </a:rPr>
              <a:t>• Mengelola data gejala</a:t>
            </a:r>
          </a:p>
          <a:p>
            <a:pPr algn="l">
              <a:lnSpc>
                <a:spcPct val="140000"/>
              </a:lnSpc>
              <a:spcAft>
                <a:spcPts val="0"/>
              </a:spcAft>
            </a:pPr>
            <a:r>
              <a:rPr sz="1050" b="0" i="0">
                <a:solidFill>
                  <a:srgbClr val="5C6B7A"/>
                </a:solidFill>
                <a:latin typeface="Calibri"/>
              </a:rPr>
              <a:t>• Mengelola data penyakit &amp; aturan</a:t>
            </a:r>
          </a:p>
          <a:p>
            <a:pPr algn="l">
              <a:lnSpc>
                <a:spcPct val="140000"/>
              </a:lnSpc>
              <a:spcAft>
                <a:spcPts val="0"/>
              </a:spcAft>
            </a:pPr>
            <a:r>
              <a:rPr sz="1050" b="0" i="0">
                <a:solidFill>
                  <a:srgbClr val="5C6B7A"/>
                </a:solidFill>
                <a:latin typeface="Calibri"/>
              </a:rPr>
              <a:t>• Melihat statistik pengunjung</a:t>
            </a:r>
          </a:p>
        </p:txBody>
      </p:sp>
      <p:sp>
        <p:nvSpPr>
          <p:cNvPr id="20" name="Rectangle 19"/>
          <p:cNvSpPr/>
          <p:nvPr/>
        </p:nvSpPr>
        <p:spPr>
          <a:xfrm>
            <a:off x="7178040" y="5303520"/>
            <a:ext cx="4480560" cy="10058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452360" y="5394960"/>
            <a:ext cx="1828800" cy="274320"/>
          </a:xfrm>
          <a:prstGeom prst="rect">
            <a:avLst/>
          </a:prstGeom>
          <a:noFill/>
        </p:spPr>
        <p:txBody>
          <a:bodyPr wrap="square" lIns="0" rIns="0" tIns="0" bIns="0" anchor="t">
            <a:spAutoFit/>
          </a:bodyPr>
          <a:lstStyle/>
          <a:p>
            <a:pPr algn="l">
              <a:lnSpc>
                <a:spcPct val="115000"/>
              </a:lnSpc>
              <a:spcAft>
                <a:spcPts val="0"/>
              </a:spcAft>
            </a:pPr>
            <a:r>
              <a:rPr sz="1000" b="1" i="0">
                <a:solidFill>
                  <a:srgbClr val="E9C46A"/>
                </a:solidFill>
                <a:latin typeface="Calibri"/>
              </a:rPr>
              <a:t>TOTAL USE CASE</a:t>
            </a:r>
          </a:p>
        </p:txBody>
      </p:sp>
      <p:sp>
        <p:nvSpPr>
          <p:cNvPr id="22" name="TextBox 21"/>
          <p:cNvSpPr txBox="1"/>
          <p:nvPr/>
        </p:nvSpPr>
        <p:spPr>
          <a:xfrm>
            <a:off x="7452360" y="5623560"/>
            <a:ext cx="1828800" cy="548640"/>
          </a:xfrm>
          <a:prstGeom prst="rect">
            <a:avLst/>
          </a:prstGeom>
          <a:noFill/>
        </p:spPr>
        <p:txBody>
          <a:bodyPr wrap="square" lIns="0" rIns="0" tIns="0" bIns="0" anchor="t">
            <a:spAutoFit/>
          </a:bodyPr>
          <a:lstStyle/>
          <a:p>
            <a:pPr algn="l">
              <a:lnSpc>
                <a:spcPct val="100000"/>
              </a:lnSpc>
              <a:spcAft>
                <a:spcPts val="0"/>
              </a:spcAft>
            </a:pPr>
            <a:r>
              <a:rPr sz="3200" b="1" i="0">
                <a:solidFill>
                  <a:srgbClr val="F7F3EC"/>
                </a:solidFill>
                <a:latin typeface="Georgia"/>
              </a:rPr>
              <a:t>14+</a:t>
            </a:r>
          </a:p>
        </p:txBody>
      </p:sp>
      <p:sp>
        <p:nvSpPr>
          <p:cNvPr id="23" name="TextBox 22"/>
          <p:cNvSpPr txBox="1"/>
          <p:nvPr/>
        </p:nvSpPr>
        <p:spPr>
          <a:xfrm>
            <a:off x="9006840" y="5486400"/>
            <a:ext cx="2468880" cy="777240"/>
          </a:xfrm>
          <a:prstGeom prst="rect">
            <a:avLst/>
          </a:prstGeom>
          <a:noFill/>
        </p:spPr>
        <p:txBody>
          <a:bodyPr wrap="square" lIns="0" rIns="0" tIns="0" bIns="0" anchor="t">
            <a:spAutoFit/>
          </a:bodyPr>
          <a:lstStyle/>
          <a:p>
            <a:pPr algn="l">
              <a:lnSpc>
                <a:spcPct val="130000"/>
              </a:lnSpc>
              <a:spcAft>
                <a:spcPts val="0"/>
              </a:spcAft>
            </a:pPr>
            <a:r>
              <a:rPr sz="1000" b="0" i="1">
                <a:solidFill>
                  <a:srgbClr val="E8D8C4"/>
                </a:solidFill>
                <a:latin typeface="Calibri"/>
              </a:rPr>
              <a:t>Interaksi sistem yang mencakup konsultasi, manajemen basis pengetahuan, dan pelacakan riwayat.</a:t>
            </a:r>
          </a:p>
        </p:txBody>
      </p:sp>
      <p:sp>
        <p:nvSpPr>
          <p:cNvPr id="24" name="TextBox 23"/>
          <p:cNvSpPr txBox="1"/>
          <p:nvPr/>
        </p:nvSpPr>
        <p:spPr>
          <a:xfrm>
            <a:off x="10911535" y="6400800"/>
            <a:ext cx="914400" cy="274320"/>
          </a:xfrm>
          <a:prstGeom prst="rect">
            <a:avLst/>
          </a:prstGeom>
          <a:noFill/>
        </p:spPr>
        <p:txBody>
          <a:bodyPr wrap="square" lIns="0" rIns="0" tIns="0" bIns="0" anchor="t">
            <a:spAutoFit/>
          </a:bodyPr>
          <a:lstStyle/>
          <a:p>
            <a:pPr algn="r">
              <a:lnSpc>
                <a:spcPct val="115000"/>
              </a:lnSpc>
              <a:spcAft>
                <a:spcPts val="0"/>
              </a:spcAft>
            </a:pPr>
            <a:r>
              <a:rPr sz="1000" b="1" i="0">
                <a:solidFill>
                  <a:srgbClr val="5C6B7A"/>
                </a:solidFill>
                <a:latin typeface="Calibri"/>
              </a:rPr>
              <a:t>10 / 15</a:t>
            </a:r>
          </a:p>
        </p:txBody>
      </p:sp>
      <p:sp>
        <p:nvSpPr>
          <p:cNvPr id="25" name="TextBox 24"/>
          <p:cNvSpPr txBox="1"/>
          <p:nvPr/>
        </p:nvSpPr>
        <p:spPr>
          <a:xfrm>
            <a:off x="457200" y="6400800"/>
            <a:ext cx="7315200" cy="274320"/>
          </a:xfrm>
          <a:prstGeom prst="rect">
            <a:avLst/>
          </a:prstGeom>
          <a:noFill/>
        </p:spPr>
        <p:txBody>
          <a:bodyPr wrap="square" lIns="0" rIns="0" tIns="0" bIns="0" anchor="t">
            <a:spAutoFit/>
          </a:bodyPr>
          <a:lstStyle/>
          <a:p>
            <a:pPr algn="l">
              <a:lnSpc>
                <a:spcPct val="115000"/>
              </a:lnSpc>
              <a:spcAft>
                <a:spcPts val="0"/>
              </a:spcAft>
            </a:pPr>
            <a:r>
              <a:rPr sz="1000" b="1" i="0">
                <a:solidFill>
                  <a:srgbClr val="5C6B7A"/>
                </a:solidFill>
                <a:latin typeface="Calibri"/>
              </a:rPr>
              <a:t>Klinik Merpati  •  Sistem Pakar Diagnosa Avian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502920"/>
            <a:ext cx="164592" cy="1645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11480"/>
            <a:ext cx="7315200" cy="320040"/>
          </a:xfrm>
          <a:prstGeom prst="rect">
            <a:avLst/>
          </a:prstGeom>
          <a:noFill/>
        </p:spPr>
        <p:txBody>
          <a:bodyPr wrap="square" lIns="0" rIns="0" tIns="0" bIns="0" anchor="t">
            <a:spAutoFit/>
          </a:bodyPr>
          <a:lstStyle/>
          <a:p>
            <a:pPr algn="l">
              <a:lnSpc>
                <a:spcPct val="115000"/>
              </a:lnSpc>
              <a:spcAft>
                <a:spcPts val="0"/>
              </a:spcAft>
            </a:pPr>
            <a:r>
              <a:rPr sz="1100" b="1" i="0">
                <a:solidFill>
                  <a:srgbClr val="E76F51"/>
                </a:solidFill>
                <a:latin typeface="Calibri"/>
              </a:rPr>
              <a:t>BAB IV  •  PERANCANGAN</a:t>
            </a:r>
          </a:p>
        </p:txBody>
      </p:sp>
      <p:sp>
        <p:nvSpPr>
          <p:cNvPr id="5" name="TextBox 4"/>
          <p:cNvSpPr txBox="1"/>
          <p:nvPr/>
        </p:nvSpPr>
        <p:spPr>
          <a:xfrm>
            <a:off x="548640" y="777240"/>
            <a:ext cx="10515600" cy="640080"/>
          </a:xfrm>
          <a:prstGeom prst="rect">
            <a:avLst/>
          </a:prstGeom>
          <a:noFill/>
        </p:spPr>
        <p:txBody>
          <a:bodyPr wrap="square" lIns="0" rIns="0" tIns="0" bIns="0" anchor="t">
            <a:spAutoFit/>
          </a:bodyPr>
          <a:lstStyle/>
          <a:p>
            <a:pPr algn="l">
              <a:lnSpc>
                <a:spcPct val="115000"/>
              </a:lnSpc>
              <a:spcAft>
                <a:spcPts val="0"/>
              </a:spcAft>
            </a:pPr>
            <a:r>
              <a:rPr sz="3200" b="1" i="0">
                <a:solidFill>
                  <a:srgbClr val="0F4C5C"/>
                </a:solidFill>
                <a:latin typeface="Georgia"/>
              </a:rPr>
              <a:t>Activity Diagram — Alur Konsultasi</a:t>
            </a:r>
          </a:p>
        </p:txBody>
      </p:sp>
      <p:sp>
        <p:nvSpPr>
          <p:cNvPr id="6" name="TextBox 5"/>
          <p:cNvSpPr txBox="1"/>
          <p:nvPr/>
        </p:nvSpPr>
        <p:spPr>
          <a:xfrm>
            <a:off x="548640" y="1554480"/>
            <a:ext cx="11064240" cy="457200"/>
          </a:xfrm>
          <a:prstGeom prst="rect">
            <a:avLst/>
          </a:prstGeom>
          <a:noFill/>
        </p:spPr>
        <p:txBody>
          <a:bodyPr wrap="square" lIns="0" rIns="0" tIns="0" bIns="0" anchor="t">
            <a:spAutoFit/>
          </a:bodyPr>
          <a:lstStyle/>
          <a:p>
            <a:pPr algn="l">
              <a:lnSpc>
                <a:spcPct val="140000"/>
              </a:lnSpc>
              <a:spcAft>
                <a:spcPts val="0"/>
              </a:spcAft>
            </a:pPr>
            <a:r>
              <a:rPr sz="1400" b="0" i="1">
                <a:solidFill>
                  <a:srgbClr val="5C6B7A"/>
                </a:solidFill>
                <a:latin typeface="Calibri"/>
              </a:rPr>
              <a:t>Alur aktivitas utama pada proses konsultasi dan diagnosa sistem pakar:</a:t>
            </a:r>
          </a:p>
        </p:txBody>
      </p:sp>
      <p:sp>
        <p:nvSpPr>
          <p:cNvPr id="7" name="Rectangle 6"/>
          <p:cNvSpPr/>
          <p:nvPr/>
        </p:nvSpPr>
        <p:spPr>
          <a:xfrm>
            <a:off x="609447" y="2331720"/>
            <a:ext cx="1691640" cy="192024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09447" y="2331720"/>
            <a:ext cx="1691640" cy="45720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09447" y="2331720"/>
            <a:ext cx="1691640" cy="457200"/>
          </a:xfrm>
          <a:prstGeom prst="rect">
            <a:avLst/>
          </a:prstGeom>
          <a:noFill/>
        </p:spPr>
        <p:txBody>
          <a:bodyPr wrap="square" lIns="0" rIns="0" tIns="0" bIns="0" anchor="ctr">
            <a:spAutoFit/>
          </a:bodyPr>
          <a:lstStyle/>
          <a:p>
            <a:pPr algn="ctr">
              <a:lnSpc>
                <a:spcPct val="115000"/>
              </a:lnSpc>
              <a:spcAft>
                <a:spcPts val="0"/>
              </a:spcAft>
            </a:pPr>
            <a:r>
              <a:rPr sz="900" b="1" i="0">
                <a:solidFill>
                  <a:srgbClr val="F7F3EC"/>
                </a:solidFill>
                <a:latin typeface="Calibri"/>
              </a:rPr>
              <a:t>LANGKAH 1</a:t>
            </a:r>
          </a:p>
        </p:txBody>
      </p:sp>
      <p:sp>
        <p:nvSpPr>
          <p:cNvPr id="10" name="Oval 9"/>
          <p:cNvSpPr/>
          <p:nvPr/>
        </p:nvSpPr>
        <p:spPr>
          <a:xfrm>
            <a:off x="1180947" y="2926080"/>
            <a:ext cx="548640" cy="548640"/>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180947" y="2926080"/>
            <a:ext cx="548640" cy="548640"/>
          </a:xfrm>
          <a:prstGeom prst="rect">
            <a:avLst/>
          </a:prstGeom>
          <a:noFill/>
        </p:spPr>
        <p:txBody>
          <a:bodyPr wrap="square" lIns="0" rIns="0" tIns="0" bIns="0" anchor="ctr">
            <a:spAutoFit/>
          </a:bodyPr>
          <a:lstStyle/>
          <a:p>
            <a:pPr algn="ctr">
              <a:lnSpc>
                <a:spcPct val="115000"/>
              </a:lnSpc>
              <a:spcAft>
                <a:spcPts val="0"/>
              </a:spcAft>
            </a:pPr>
            <a:r>
              <a:rPr sz="1800" b="1" i="0">
                <a:solidFill>
                  <a:srgbClr val="F7F3EC"/>
                </a:solidFill>
                <a:latin typeface="Georgia"/>
              </a:rPr>
              <a:t>1</a:t>
            </a:r>
          </a:p>
        </p:txBody>
      </p:sp>
      <p:sp>
        <p:nvSpPr>
          <p:cNvPr id="12" name="TextBox 11"/>
          <p:cNvSpPr txBox="1"/>
          <p:nvPr/>
        </p:nvSpPr>
        <p:spPr>
          <a:xfrm>
            <a:off x="700887" y="3538728"/>
            <a:ext cx="1508760" cy="274320"/>
          </a:xfrm>
          <a:prstGeom prst="rect">
            <a:avLst/>
          </a:prstGeom>
          <a:noFill/>
        </p:spPr>
        <p:txBody>
          <a:bodyPr wrap="square" lIns="0" rIns="0" tIns="0" bIns="0" anchor="t">
            <a:spAutoFit/>
          </a:bodyPr>
          <a:lstStyle/>
          <a:p>
            <a:pPr algn="ctr">
              <a:lnSpc>
                <a:spcPct val="115000"/>
              </a:lnSpc>
              <a:spcAft>
                <a:spcPts val="0"/>
              </a:spcAft>
            </a:pPr>
            <a:r>
              <a:rPr sz="1200" b="1" i="0">
                <a:solidFill>
                  <a:srgbClr val="0F4C5C"/>
                </a:solidFill>
                <a:latin typeface="Calibri"/>
              </a:rPr>
              <a:t>Mulai</a:t>
            </a:r>
          </a:p>
        </p:txBody>
      </p:sp>
      <p:sp>
        <p:nvSpPr>
          <p:cNvPr id="13" name="TextBox 12"/>
          <p:cNvSpPr txBox="1"/>
          <p:nvPr/>
        </p:nvSpPr>
        <p:spPr>
          <a:xfrm>
            <a:off x="700887" y="3749040"/>
            <a:ext cx="1508760" cy="502920"/>
          </a:xfrm>
          <a:prstGeom prst="rect">
            <a:avLst/>
          </a:prstGeom>
          <a:noFill/>
        </p:spPr>
        <p:txBody>
          <a:bodyPr wrap="square" lIns="0" rIns="0" tIns="0" bIns="0" anchor="t">
            <a:spAutoFit/>
          </a:bodyPr>
          <a:lstStyle/>
          <a:p>
            <a:pPr algn="ctr">
              <a:lnSpc>
                <a:spcPct val="125000"/>
              </a:lnSpc>
              <a:spcAft>
                <a:spcPts val="0"/>
              </a:spcAft>
            </a:pPr>
            <a:r>
              <a:rPr sz="800" b="0" i="0">
                <a:solidFill>
                  <a:srgbClr val="5C6B7A"/>
                </a:solidFill>
                <a:latin typeface="Calibri"/>
              </a:rPr>
              <a:t>User membuka halaman konsultasi</a:t>
            </a:r>
          </a:p>
        </p:txBody>
      </p:sp>
      <p:sp>
        <p:nvSpPr>
          <p:cNvPr id="14" name="TextBox 13"/>
          <p:cNvSpPr txBox="1"/>
          <p:nvPr/>
        </p:nvSpPr>
        <p:spPr>
          <a:xfrm>
            <a:off x="2301087" y="3154680"/>
            <a:ext cx="164592" cy="274320"/>
          </a:xfrm>
          <a:prstGeom prst="rect">
            <a:avLst/>
          </a:prstGeom>
          <a:noFill/>
        </p:spPr>
        <p:txBody>
          <a:bodyPr wrap="square" lIns="0" rIns="0" tIns="0" bIns="0" anchor="ctr">
            <a:spAutoFit/>
          </a:bodyPr>
          <a:lstStyle/>
          <a:p>
            <a:pPr algn="ctr">
              <a:lnSpc>
                <a:spcPct val="115000"/>
              </a:lnSpc>
              <a:spcAft>
                <a:spcPts val="0"/>
              </a:spcAft>
            </a:pPr>
            <a:r>
              <a:rPr sz="1400" b="1" i="0">
                <a:solidFill>
                  <a:srgbClr val="0F4C5C"/>
                </a:solidFill>
                <a:latin typeface="Calibri"/>
              </a:rPr>
              <a:t>▶</a:t>
            </a:r>
          </a:p>
        </p:txBody>
      </p:sp>
      <p:sp>
        <p:nvSpPr>
          <p:cNvPr id="15" name="Rectangle 14"/>
          <p:cNvSpPr/>
          <p:nvPr/>
        </p:nvSpPr>
        <p:spPr>
          <a:xfrm>
            <a:off x="2465679" y="2331720"/>
            <a:ext cx="1691640" cy="192024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2465679" y="2331720"/>
            <a:ext cx="1691640" cy="457200"/>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465679" y="2331720"/>
            <a:ext cx="1691640" cy="457200"/>
          </a:xfrm>
          <a:prstGeom prst="rect">
            <a:avLst/>
          </a:prstGeom>
          <a:noFill/>
        </p:spPr>
        <p:txBody>
          <a:bodyPr wrap="square" lIns="0" rIns="0" tIns="0" bIns="0" anchor="ctr">
            <a:spAutoFit/>
          </a:bodyPr>
          <a:lstStyle/>
          <a:p>
            <a:pPr algn="ctr">
              <a:lnSpc>
                <a:spcPct val="115000"/>
              </a:lnSpc>
              <a:spcAft>
                <a:spcPts val="0"/>
              </a:spcAft>
            </a:pPr>
            <a:r>
              <a:rPr sz="900" b="1" i="0">
                <a:solidFill>
                  <a:srgbClr val="F7F3EC"/>
                </a:solidFill>
                <a:latin typeface="Calibri"/>
              </a:rPr>
              <a:t>LANGKAH 2</a:t>
            </a:r>
          </a:p>
        </p:txBody>
      </p:sp>
      <p:sp>
        <p:nvSpPr>
          <p:cNvPr id="18" name="Oval 17"/>
          <p:cNvSpPr/>
          <p:nvPr/>
        </p:nvSpPr>
        <p:spPr>
          <a:xfrm>
            <a:off x="3037179" y="2926080"/>
            <a:ext cx="548640" cy="548640"/>
          </a:xfrm>
          <a:prstGeom prst="ellipse">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037179" y="2926080"/>
            <a:ext cx="548640" cy="548640"/>
          </a:xfrm>
          <a:prstGeom prst="rect">
            <a:avLst/>
          </a:prstGeom>
          <a:noFill/>
        </p:spPr>
        <p:txBody>
          <a:bodyPr wrap="square" lIns="0" rIns="0" tIns="0" bIns="0" anchor="ctr">
            <a:spAutoFit/>
          </a:bodyPr>
          <a:lstStyle/>
          <a:p>
            <a:pPr algn="ctr">
              <a:lnSpc>
                <a:spcPct val="115000"/>
              </a:lnSpc>
              <a:spcAft>
                <a:spcPts val="0"/>
              </a:spcAft>
            </a:pPr>
            <a:r>
              <a:rPr sz="1800" b="1" i="0">
                <a:solidFill>
                  <a:srgbClr val="F7F3EC"/>
                </a:solidFill>
                <a:latin typeface="Georgia"/>
              </a:rPr>
              <a:t>2</a:t>
            </a:r>
          </a:p>
        </p:txBody>
      </p:sp>
      <p:sp>
        <p:nvSpPr>
          <p:cNvPr id="20" name="TextBox 19"/>
          <p:cNvSpPr txBox="1"/>
          <p:nvPr/>
        </p:nvSpPr>
        <p:spPr>
          <a:xfrm>
            <a:off x="2557119" y="3538728"/>
            <a:ext cx="1508760" cy="274320"/>
          </a:xfrm>
          <a:prstGeom prst="rect">
            <a:avLst/>
          </a:prstGeom>
          <a:noFill/>
        </p:spPr>
        <p:txBody>
          <a:bodyPr wrap="square" lIns="0" rIns="0" tIns="0" bIns="0" anchor="t">
            <a:spAutoFit/>
          </a:bodyPr>
          <a:lstStyle/>
          <a:p>
            <a:pPr algn="ctr">
              <a:lnSpc>
                <a:spcPct val="115000"/>
              </a:lnSpc>
              <a:spcAft>
                <a:spcPts val="0"/>
              </a:spcAft>
            </a:pPr>
            <a:r>
              <a:rPr sz="1200" b="1" i="0">
                <a:solidFill>
                  <a:srgbClr val="0F4C5C"/>
                </a:solidFill>
                <a:latin typeface="Calibri"/>
              </a:rPr>
              <a:t>Input Nama</a:t>
            </a:r>
          </a:p>
        </p:txBody>
      </p:sp>
      <p:sp>
        <p:nvSpPr>
          <p:cNvPr id="21" name="TextBox 20"/>
          <p:cNvSpPr txBox="1"/>
          <p:nvPr/>
        </p:nvSpPr>
        <p:spPr>
          <a:xfrm>
            <a:off x="2557119" y="3749040"/>
            <a:ext cx="1508760" cy="502920"/>
          </a:xfrm>
          <a:prstGeom prst="rect">
            <a:avLst/>
          </a:prstGeom>
          <a:noFill/>
        </p:spPr>
        <p:txBody>
          <a:bodyPr wrap="square" lIns="0" rIns="0" tIns="0" bIns="0" anchor="t">
            <a:spAutoFit/>
          </a:bodyPr>
          <a:lstStyle/>
          <a:p>
            <a:pPr algn="ctr">
              <a:lnSpc>
                <a:spcPct val="125000"/>
              </a:lnSpc>
              <a:spcAft>
                <a:spcPts val="0"/>
              </a:spcAft>
            </a:pPr>
            <a:r>
              <a:rPr sz="800" b="0" i="0">
                <a:solidFill>
                  <a:srgbClr val="5C6B7A"/>
                </a:solidFill>
                <a:latin typeface="Calibri"/>
              </a:rPr>
              <a:t>Masukkan identitas pemilik merpati</a:t>
            </a:r>
          </a:p>
        </p:txBody>
      </p:sp>
      <p:sp>
        <p:nvSpPr>
          <p:cNvPr id="22" name="TextBox 21"/>
          <p:cNvSpPr txBox="1"/>
          <p:nvPr/>
        </p:nvSpPr>
        <p:spPr>
          <a:xfrm>
            <a:off x="4157319" y="3154680"/>
            <a:ext cx="164592" cy="274320"/>
          </a:xfrm>
          <a:prstGeom prst="rect">
            <a:avLst/>
          </a:prstGeom>
          <a:noFill/>
        </p:spPr>
        <p:txBody>
          <a:bodyPr wrap="square" lIns="0" rIns="0" tIns="0" bIns="0" anchor="ctr">
            <a:spAutoFit/>
          </a:bodyPr>
          <a:lstStyle/>
          <a:p>
            <a:pPr algn="ctr">
              <a:lnSpc>
                <a:spcPct val="115000"/>
              </a:lnSpc>
              <a:spcAft>
                <a:spcPts val="0"/>
              </a:spcAft>
            </a:pPr>
            <a:r>
              <a:rPr sz="1400" b="1" i="0">
                <a:solidFill>
                  <a:srgbClr val="0F4C5C"/>
                </a:solidFill>
                <a:latin typeface="Calibri"/>
              </a:rPr>
              <a:t>▶</a:t>
            </a:r>
          </a:p>
        </p:txBody>
      </p:sp>
      <p:sp>
        <p:nvSpPr>
          <p:cNvPr id="23" name="Rectangle 22"/>
          <p:cNvSpPr/>
          <p:nvPr/>
        </p:nvSpPr>
        <p:spPr>
          <a:xfrm>
            <a:off x="4321911" y="2331720"/>
            <a:ext cx="1691640" cy="192024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321911" y="2331720"/>
            <a:ext cx="1691640" cy="457200"/>
          </a:xfrm>
          <a:prstGeom prst="rect">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321911" y="2331720"/>
            <a:ext cx="1691640" cy="457200"/>
          </a:xfrm>
          <a:prstGeom prst="rect">
            <a:avLst/>
          </a:prstGeom>
          <a:noFill/>
        </p:spPr>
        <p:txBody>
          <a:bodyPr wrap="square" lIns="0" rIns="0" tIns="0" bIns="0" anchor="ctr">
            <a:spAutoFit/>
          </a:bodyPr>
          <a:lstStyle/>
          <a:p>
            <a:pPr algn="ctr">
              <a:lnSpc>
                <a:spcPct val="115000"/>
              </a:lnSpc>
              <a:spcAft>
                <a:spcPts val="0"/>
              </a:spcAft>
            </a:pPr>
            <a:r>
              <a:rPr sz="900" b="1" i="0">
                <a:solidFill>
                  <a:srgbClr val="F7F3EC"/>
                </a:solidFill>
                <a:latin typeface="Calibri"/>
              </a:rPr>
              <a:t>LANGKAH 3</a:t>
            </a:r>
          </a:p>
        </p:txBody>
      </p:sp>
      <p:sp>
        <p:nvSpPr>
          <p:cNvPr id="26" name="Oval 25"/>
          <p:cNvSpPr/>
          <p:nvPr/>
        </p:nvSpPr>
        <p:spPr>
          <a:xfrm>
            <a:off x="4893411" y="2926080"/>
            <a:ext cx="548640" cy="548640"/>
          </a:xfrm>
          <a:prstGeom prst="ellipse">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893411" y="2926080"/>
            <a:ext cx="548640" cy="548640"/>
          </a:xfrm>
          <a:prstGeom prst="rect">
            <a:avLst/>
          </a:prstGeom>
          <a:noFill/>
        </p:spPr>
        <p:txBody>
          <a:bodyPr wrap="square" lIns="0" rIns="0" tIns="0" bIns="0" anchor="ctr">
            <a:spAutoFit/>
          </a:bodyPr>
          <a:lstStyle/>
          <a:p>
            <a:pPr algn="ctr">
              <a:lnSpc>
                <a:spcPct val="115000"/>
              </a:lnSpc>
              <a:spcAft>
                <a:spcPts val="0"/>
              </a:spcAft>
            </a:pPr>
            <a:r>
              <a:rPr sz="1800" b="1" i="0">
                <a:solidFill>
                  <a:srgbClr val="F7F3EC"/>
                </a:solidFill>
                <a:latin typeface="Georgia"/>
              </a:rPr>
              <a:t>3</a:t>
            </a:r>
          </a:p>
        </p:txBody>
      </p:sp>
      <p:sp>
        <p:nvSpPr>
          <p:cNvPr id="28" name="TextBox 27"/>
          <p:cNvSpPr txBox="1"/>
          <p:nvPr/>
        </p:nvSpPr>
        <p:spPr>
          <a:xfrm>
            <a:off x="4413351" y="3538728"/>
            <a:ext cx="1508760" cy="274320"/>
          </a:xfrm>
          <a:prstGeom prst="rect">
            <a:avLst/>
          </a:prstGeom>
          <a:noFill/>
        </p:spPr>
        <p:txBody>
          <a:bodyPr wrap="square" lIns="0" rIns="0" tIns="0" bIns="0" anchor="t">
            <a:spAutoFit/>
          </a:bodyPr>
          <a:lstStyle/>
          <a:p>
            <a:pPr algn="ctr">
              <a:lnSpc>
                <a:spcPct val="115000"/>
              </a:lnSpc>
              <a:spcAft>
                <a:spcPts val="0"/>
              </a:spcAft>
            </a:pPr>
            <a:r>
              <a:rPr sz="1200" b="1" i="0">
                <a:solidFill>
                  <a:srgbClr val="0F4C5C"/>
                </a:solidFill>
                <a:latin typeface="Calibri"/>
              </a:rPr>
              <a:t>Pilih Gejala</a:t>
            </a:r>
          </a:p>
        </p:txBody>
      </p:sp>
      <p:sp>
        <p:nvSpPr>
          <p:cNvPr id="29" name="TextBox 28"/>
          <p:cNvSpPr txBox="1"/>
          <p:nvPr/>
        </p:nvSpPr>
        <p:spPr>
          <a:xfrm>
            <a:off x="4413351" y="3749040"/>
            <a:ext cx="1508760" cy="502920"/>
          </a:xfrm>
          <a:prstGeom prst="rect">
            <a:avLst/>
          </a:prstGeom>
          <a:noFill/>
        </p:spPr>
        <p:txBody>
          <a:bodyPr wrap="square" lIns="0" rIns="0" tIns="0" bIns="0" anchor="t">
            <a:spAutoFit/>
          </a:bodyPr>
          <a:lstStyle/>
          <a:p>
            <a:pPr algn="ctr">
              <a:lnSpc>
                <a:spcPct val="125000"/>
              </a:lnSpc>
              <a:spcAft>
                <a:spcPts val="0"/>
              </a:spcAft>
            </a:pPr>
            <a:r>
              <a:rPr sz="800" b="0" i="0">
                <a:solidFill>
                  <a:srgbClr val="5C6B7A"/>
                </a:solidFill>
                <a:latin typeface="Calibri"/>
              </a:rPr>
              <a:t>Tandai gejala yang teramati</a:t>
            </a:r>
          </a:p>
        </p:txBody>
      </p:sp>
      <p:sp>
        <p:nvSpPr>
          <p:cNvPr id="30" name="TextBox 29"/>
          <p:cNvSpPr txBox="1"/>
          <p:nvPr/>
        </p:nvSpPr>
        <p:spPr>
          <a:xfrm>
            <a:off x="6013551" y="3154680"/>
            <a:ext cx="164592" cy="274320"/>
          </a:xfrm>
          <a:prstGeom prst="rect">
            <a:avLst/>
          </a:prstGeom>
          <a:noFill/>
        </p:spPr>
        <p:txBody>
          <a:bodyPr wrap="square" lIns="0" rIns="0" tIns="0" bIns="0" anchor="ctr">
            <a:spAutoFit/>
          </a:bodyPr>
          <a:lstStyle/>
          <a:p>
            <a:pPr algn="ctr">
              <a:lnSpc>
                <a:spcPct val="115000"/>
              </a:lnSpc>
              <a:spcAft>
                <a:spcPts val="0"/>
              </a:spcAft>
            </a:pPr>
            <a:r>
              <a:rPr sz="1400" b="1" i="0">
                <a:solidFill>
                  <a:srgbClr val="0F4C5C"/>
                </a:solidFill>
                <a:latin typeface="Calibri"/>
              </a:rPr>
              <a:t>▶</a:t>
            </a:r>
          </a:p>
        </p:txBody>
      </p:sp>
      <p:sp>
        <p:nvSpPr>
          <p:cNvPr id="31" name="Rectangle 30"/>
          <p:cNvSpPr/>
          <p:nvPr/>
        </p:nvSpPr>
        <p:spPr>
          <a:xfrm>
            <a:off x="6178143" y="2331720"/>
            <a:ext cx="1691640" cy="192024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178143" y="2331720"/>
            <a:ext cx="1691640" cy="4572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178143" y="2331720"/>
            <a:ext cx="1691640" cy="457200"/>
          </a:xfrm>
          <a:prstGeom prst="rect">
            <a:avLst/>
          </a:prstGeom>
          <a:noFill/>
        </p:spPr>
        <p:txBody>
          <a:bodyPr wrap="square" lIns="0" rIns="0" tIns="0" bIns="0" anchor="ctr">
            <a:spAutoFit/>
          </a:bodyPr>
          <a:lstStyle/>
          <a:p>
            <a:pPr algn="ctr">
              <a:lnSpc>
                <a:spcPct val="115000"/>
              </a:lnSpc>
              <a:spcAft>
                <a:spcPts val="0"/>
              </a:spcAft>
            </a:pPr>
            <a:r>
              <a:rPr sz="900" b="1" i="0">
                <a:solidFill>
                  <a:srgbClr val="F7F3EC"/>
                </a:solidFill>
                <a:latin typeface="Calibri"/>
              </a:rPr>
              <a:t>LANGKAH 4</a:t>
            </a:r>
          </a:p>
        </p:txBody>
      </p:sp>
      <p:sp>
        <p:nvSpPr>
          <p:cNvPr id="34" name="Oval 33"/>
          <p:cNvSpPr/>
          <p:nvPr/>
        </p:nvSpPr>
        <p:spPr>
          <a:xfrm>
            <a:off x="6749643" y="2926080"/>
            <a:ext cx="548640" cy="548640"/>
          </a:xfrm>
          <a:prstGeom prst="ellipse">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749643" y="2926080"/>
            <a:ext cx="548640" cy="548640"/>
          </a:xfrm>
          <a:prstGeom prst="rect">
            <a:avLst/>
          </a:prstGeom>
          <a:noFill/>
        </p:spPr>
        <p:txBody>
          <a:bodyPr wrap="square" lIns="0" rIns="0" tIns="0" bIns="0" anchor="ctr">
            <a:spAutoFit/>
          </a:bodyPr>
          <a:lstStyle/>
          <a:p>
            <a:pPr algn="ctr">
              <a:lnSpc>
                <a:spcPct val="115000"/>
              </a:lnSpc>
              <a:spcAft>
                <a:spcPts val="0"/>
              </a:spcAft>
            </a:pPr>
            <a:r>
              <a:rPr sz="1800" b="1" i="0">
                <a:solidFill>
                  <a:srgbClr val="F7F3EC"/>
                </a:solidFill>
                <a:latin typeface="Georgia"/>
              </a:rPr>
              <a:t>4</a:t>
            </a:r>
          </a:p>
        </p:txBody>
      </p:sp>
      <p:sp>
        <p:nvSpPr>
          <p:cNvPr id="36" name="TextBox 35"/>
          <p:cNvSpPr txBox="1"/>
          <p:nvPr/>
        </p:nvSpPr>
        <p:spPr>
          <a:xfrm>
            <a:off x="6269583" y="3538728"/>
            <a:ext cx="1508760" cy="274320"/>
          </a:xfrm>
          <a:prstGeom prst="rect">
            <a:avLst/>
          </a:prstGeom>
          <a:noFill/>
        </p:spPr>
        <p:txBody>
          <a:bodyPr wrap="square" lIns="0" rIns="0" tIns="0" bIns="0" anchor="t">
            <a:spAutoFit/>
          </a:bodyPr>
          <a:lstStyle/>
          <a:p>
            <a:pPr algn="ctr">
              <a:lnSpc>
                <a:spcPct val="115000"/>
              </a:lnSpc>
              <a:spcAft>
                <a:spcPts val="0"/>
              </a:spcAft>
            </a:pPr>
            <a:r>
              <a:rPr sz="1200" b="1" i="0">
                <a:solidFill>
                  <a:srgbClr val="0F4C5C"/>
                </a:solidFill>
                <a:latin typeface="Calibri"/>
              </a:rPr>
              <a:t>Kirim Data</a:t>
            </a:r>
          </a:p>
        </p:txBody>
      </p:sp>
      <p:sp>
        <p:nvSpPr>
          <p:cNvPr id="37" name="TextBox 36"/>
          <p:cNvSpPr txBox="1"/>
          <p:nvPr/>
        </p:nvSpPr>
        <p:spPr>
          <a:xfrm>
            <a:off x="6269583" y="3749040"/>
            <a:ext cx="1508760" cy="502920"/>
          </a:xfrm>
          <a:prstGeom prst="rect">
            <a:avLst/>
          </a:prstGeom>
          <a:noFill/>
        </p:spPr>
        <p:txBody>
          <a:bodyPr wrap="square" lIns="0" rIns="0" tIns="0" bIns="0" anchor="t">
            <a:spAutoFit/>
          </a:bodyPr>
          <a:lstStyle/>
          <a:p>
            <a:pPr algn="ctr">
              <a:lnSpc>
                <a:spcPct val="125000"/>
              </a:lnSpc>
              <a:spcAft>
                <a:spcPts val="0"/>
              </a:spcAft>
            </a:pPr>
            <a:r>
              <a:rPr sz="800" b="0" i="0">
                <a:solidFill>
                  <a:srgbClr val="5C6B7A"/>
                </a:solidFill>
                <a:latin typeface="Calibri"/>
              </a:rPr>
              <a:t>Sistem menerima input gejala</a:t>
            </a:r>
          </a:p>
        </p:txBody>
      </p:sp>
      <p:sp>
        <p:nvSpPr>
          <p:cNvPr id="38" name="TextBox 37"/>
          <p:cNvSpPr txBox="1"/>
          <p:nvPr/>
        </p:nvSpPr>
        <p:spPr>
          <a:xfrm>
            <a:off x="7869783" y="3154680"/>
            <a:ext cx="164592" cy="274320"/>
          </a:xfrm>
          <a:prstGeom prst="rect">
            <a:avLst/>
          </a:prstGeom>
          <a:noFill/>
        </p:spPr>
        <p:txBody>
          <a:bodyPr wrap="square" lIns="0" rIns="0" tIns="0" bIns="0" anchor="ctr">
            <a:spAutoFit/>
          </a:bodyPr>
          <a:lstStyle/>
          <a:p>
            <a:pPr algn="ctr">
              <a:lnSpc>
                <a:spcPct val="115000"/>
              </a:lnSpc>
              <a:spcAft>
                <a:spcPts val="0"/>
              </a:spcAft>
            </a:pPr>
            <a:r>
              <a:rPr sz="1400" b="1" i="0">
                <a:solidFill>
                  <a:srgbClr val="0F4C5C"/>
                </a:solidFill>
                <a:latin typeface="Calibri"/>
              </a:rPr>
              <a:t>▶</a:t>
            </a:r>
          </a:p>
        </p:txBody>
      </p:sp>
      <p:sp>
        <p:nvSpPr>
          <p:cNvPr id="39" name="Rectangle 38"/>
          <p:cNvSpPr/>
          <p:nvPr/>
        </p:nvSpPr>
        <p:spPr>
          <a:xfrm>
            <a:off x="8034375" y="2331720"/>
            <a:ext cx="1691640" cy="192024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8034375" y="2331720"/>
            <a:ext cx="1691640" cy="457200"/>
          </a:xfrm>
          <a:prstGeom prst="rect">
            <a:avLst/>
          </a:prstGeom>
          <a:solidFill>
            <a:srgbClr val="1B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8034375" y="2331720"/>
            <a:ext cx="1691640" cy="457200"/>
          </a:xfrm>
          <a:prstGeom prst="rect">
            <a:avLst/>
          </a:prstGeom>
          <a:noFill/>
        </p:spPr>
        <p:txBody>
          <a:bodyPr wrap="square" lIns="0" rIns="0" tIns="0" bIns="0" anchor="ctr">
            <a:spAutoFit/>
          </a:bodyPr>
          <a:lstStyle/>
          <a:p>
            <a:pPr algn="ctr">
              <a:lnSpc>
                <a:spcPct val="115000"/>
              </a:lnSpc>
              <a:spcAft>
                <a:spcPts val="0"/>
              </a:spcAft>
            </a:pPr>
            <a:r>
              <a:rPr sz="900" b="1" i="0">
                <a:solidFill>
                  <a:srgbClr val="F7F3EC"/>
                </a:solidFill>
                <a:latin typeface="Calibri"/>
              </a:rPr>
              <a:t>LANGKAH 5</a:t>
            </a:r>
          </a:p>
        </p:txBody>
      </p:sp>
      <p:sp>
        <p:nvSpPr>
          <p:cNvPr id="42" name="Oval 41"/>
          <p:cNvSpPr/>
          <p:nvPr/>
        </p:nvSpPr>
        <p:spPr>
          <a:xfrm>
            <a:off x="8605875" y="2926080"/>
            <a:ext cx="548640" cy="548640"/>
          </a:xfrm>
          <a:prstGeom prst="ellipse">
            <a:avLst/>
          </a:prstGeom>
          <a:solidFill>
            <a:srgbClr val="1B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605875" y="2926080"/>
            <a:ext cx="548640" cy="548640"/>
          </a:xfrm>
          <a:prstGeom prst="rect">
            <a:avLst/>
          </a:prstGeom>
          <a:noFill/>
        </p:spPr>
        <p:txBody>
          <a:bodyPr wrap="square" lIns="0" rIns="0" tIns="0" bIns="0" anchor="ctr">
            <a:spAutoFit/>
          </a:bodyPr>
          <a:lstStyle/>
          <a:p>
            <a:pPr algn="ctr">
              <a:lnSpc>
                <a:spcPct val="115000"/>
              </a:lnSpc>
              <a:spcAft>
                <a:spcPts val="0"/>
              </a:spcAft>
            </a:pPr>
            <a:r>
              <a:rPr sz="1800" b="1" i="0">
                <a:solidFill>
                  <a:srgbClr val="F7F3EC"/>
                </a:solidFill>
                <a:latin typeface="Georgia"/>
              </a:rPr>
              <a:t>5</a:t>
            </a:r>
          </a:p>
        </p:txBody>
      </p:sp>
      <p:sp>
        <p:nvSpPr>
          <p:cNvPr id="44" name="TextBox 43"/>
          <p:cNvSpPr txBox="1"/>
          <p:nvPr/>
        </p:nvSpPr>
        <p:spPr>
          <a:xfrm>
            <a:off x="8125815" y="3538728"/>
            <a:ext cx="1508760" cy="274320"/>
          </a:xfrm>
          <a:prstGeom prst="rect">
            <a:avLst/>
          </a:prstGeom>
          <a:noFill/>
        </p:spPr>
        <p:txBody>
          <a:bodyPr wrap="square" lIns="0" rIns="0" tIns="0" bIns="0" anchor="t">
            <a:spAutoFit/>
          </a:bodyPr>
          <a:lstStyle/>
          <a:p>
            <a:pPr algn="ctr">
              <a:lnSpc>
                <a:spcPct val="115000"/>
              </a:lnSpc>
              <a:spcAft>
                <a:spcPts val="0"/>
              </a:spcAft>
            </a:pPr>
            <a:r>
              <a:rPr sz="1200" b="1" i="0">
                <a:solidFill>
                  <a:srgbClr val="0F4C5C"/>
                </a:solidFill>
                <a:latin typeface="Calibri"/>
              </a:rPr>
              <a:t>Proses</a:t>
            </a:r>
          </a:p>
        </p:txBody>
      </p:sp>
      <p:sp>
        <p:nvSpPr>
          <p:cNvPr id="45" name="TextBox 44"/>
          <p:cNvSpPr txBox="1"/>
          <p:nvPr/>
        </p:nvSpPr>
        <p:spPr>
          <a:xfrm>
            <a:off x="8125815" y="3749040"/>
            <a:ext cx="1508760" cy="502920"/>
          </a:xfrm>
          <a:prstGeom prst="rect">
            <a:avLst/>
          </a:prstGeom>
          <a:noFill/>
        </p:spPr>
        <p:txBody>
          <a:bodyPr wrap="square" lIns="0" rIns="0" tIns="0" bIns="0" anchor="t">
            <a:spAutoFit/>
          </a:bodyPr>
          <a:lstStyle/>
          <a:p>
            <a:pPr algn="ctr">
              <a:lnSpc>
                <a:spcPct val="125000"/>
              </a:lnSpc>
              <a:spcAft>
                <a:spcPts val="0"/>
              </a:spcAft>
            </a:pPr>
            <a:r>
              <a:rPr sz="800" b="0" i="0">
                <a:solidFill>
                  <a:srgbClr val="5C6B7A"/>
                </a:solidFill>
                <a:latin typeface="Calibri"/>
              </a:rPr>
              <a:t>Mesin inferensi mencocokkan aturan</a:t>
            </a:r>
          </a:p>
        </p:txBody>
      </p:sp>
      <p:sp>
        <p:nvSpPr>
          <p:cNvPr id="46" name="TextBox 45"/>
          <p:cNvSpPr txBox="1"/>
          <p:nvPr/>
        </p:nvSpPr>
        <p:spPr>
          <a:xfrm>
            <a:off x="9726015" y="3154680"/>
            <a:ext cx="164592" cy="274320"/>
          </a:xfrm>
          <a:prstGeom prst="rect">
            <a:avLst/>
          </a:prstGeom>
          <a:noFill/>
        </p:spPr>
        <p:txBody>
          <a:bodyPr wrap="square" lIns="0" rIns="0" tIns="0" bIns="0" anchor="ctr">
            <a:spAutoFit/>
          </a:bodyPr>
          <a:lstStyle/>
          <a:p>
            <a:pPr algn="ctr">
              <a:lnSpc>
                <a:spcPct val="115000"/>
              </a:lnSpc>
              <a:spcAft>
                <a:spcPts val="0"/>
              </a:spcAft>
            </a:pPr>
            <a:r>
              <a:rPr sz="1400" b="1" i="0">
                <a:solidFill>
                  <a:srgbClr val="0F4C5C"/>
                </a:solidFill>
                <a:latin typeface="Calibri"/>
              </a:rPr>
              <a:t>▶</a:t>
            </a:r>
          </a:p>
        </p:txBody>
      </p:sp>
      <p:sp>
        <p:nvSpPr>
          <p:cNvPr id="47" name="Rectangle 46"/>
          <p:cNvSpPr/>
          <p:nvPr/>
        </p:nvSpPr>
        <p:spPr>
          <a:xfrm>
            <a:off x="9890607" y="2331720"/>
            <a:ext cx="1691640" cy="192024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9890607" y="2331720"/>
            <a:ext cx="1691640" cy="45720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9890607" y="2331720"/>
            <a:ext cx="1691640" cy="457200"/>
          </a:xfrm>
          <a:prstGeom prst="rect">
            <a:avLst/>
          </a:prstGeom>
          <a:noFill/>
        </p:spPr>
        <p:txBody>
          <a:bodyPr wrap="square" lIns="0" rIns="0" tIns="0" bIns="0" anchor="ctr">
            <a:spAutoFit/>
          </a:bodyPr>
          <a:lstStyle/>
          <a:p>
            <a:pPr algn="ctr">
              <a:lnSpc>
                <a:spcPct val="115000"/>
              </a:lnSpc>
              <a:spcAft>
                <a:spcPts val="0"/>
              </a:spcAft>
            </a:pPr>
            <a:r>
              <a:rPr sz="900" b="1" i="0">
                <a:solidFill>
                  <a:srgbClr val="F7F3EC"/>
                </a:solidFill>
                <a:latin typeface="Calibri"/>
              </a:rPr>
              <a:t>LANGKAH 6</a:t>
            </a:r>
          </a:p>
        </p:txBody>
      </p:sp>
      <p:sp>
        <p:nvSpPr>
          <p:cNvPr id="50" name="Oval 49"/>
          <p:cNvSpPr/>
          <p:nvPr/>
        </p:nvSpPr>
        <p:spPr>
          <a:xfrm>
            <a:off x="10462107" y="2926080"/>
            <a:ext cx="548640" cy="548640"/>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10462107" y="2926080"/>
            <a:ext cx="548640" cy="548640"/>
          </a:xfrm>
          <a:prstGeom prst="rect">
            <a:avLst/>
          </a:prstGeom>
          <a:noFill/>
        </p:spPr>
        <p:txBody>
          <a:bodyPr wrap="square" lIns="0" rIns="0" tIns="0" bIns="0" anchor="ctr">
            <a:spAutoFit/>
          </a:bodyPr>
          <a:lstStyle/>
          <a:p>
            <a:pPr algn="ctr">
              <a:lnSpc>
                <a:spcPct val="115000"/>
              </a:lnSpc>
              <a:spcAft>
                <a:spcPts val="0"/>
              </a:spcAft>
            </a:pPr>
            <a:r>
              <a:rPr sz="1800" b="1" i="0">
                <a:solidFill>
                  <a:srgbClr val="F7F3EC"/>
                </a:solidFill>
                <a:latin typeface="Georgia"/>
              </a:rPr>
              <a:t>6</a:t>
            </a:r>
          </a:p>
        </p:txBody>
      </p:sp>
      <p:sp>
        <p:nvSpPr>
          <p:cNvPr id="52" name="TextBox 51"/>
          <p:cNvSpPr txBox="1"/>
          <p:nvPr/>
        </p:nvSpPr>
        <p:spPr>
          <a:xfrm>
            <a:off x="9982047" y="3538728"/>
            <a:ext cx="1508760" cy="274320"/>
          </a:xfrm>
          <a:prstGeom prst="rect">
            <a:avLst/>
          </a:prstGeom>
          <a:noFill/>
        </p:spPr>
        <p:txBody>
          <a:bodyPr wrap="square" lIns="0" rIns="0" tIns="0" bIns="0" anchor="t">
            <a:spAutoFit/>
          </a:bodyPr>
          <a:lstStyle/>
          <a:p>
            <a:pPr algn="ctr">
              <a:lnSpc>
                <a:spcPct val="115000"/>
              </a:lnSpc>
              <a:spcAft>
                <a:spcPts val="0"/>
              </a:spcAft>
            </a:pPr>
            <a:r>
              <a:rPr sz="1200" b="1" i="0">
                <a:solidFill>
                  <a:srgbClr val="0F4C5C"/>
                </a:solidFill>
                <a:latin typeface="Calibri"/>
              </a:rPr>
              <a:t>Hasil</a:t>
            </a:r>
          </a:p>
        </p:txBody>
      </p:sp>
      <p:sp>
        <p:nvSpPr>
          <p:cNvPr id="53" name="TextBox 52"/>
          <p:cNvSpPr txBox="1"/>
          <p:nvPr/>
        </p:nvSpPr>
        <p:spPr>
          <a:xfrm>
            <a:off x="9982047" y="3749040"/>
            <a:ext cx="1508760" cy="502920"/>
          </a:xfrm>
          <a:prstGeom prst="rect">
            <a:avLst/>
          </a:prstGeom>
          <a:noFill/>
        </p:spPr>
        <p:txBody>
          <a:bodyPr wrap="square" lIns="0" rIns="0" tIns="0" bIns="0" anchor="t">
            <a:spAutoFit/>
          </a:bodyPr>
          <a:lstStyle/>
          <a:p>
            <a:pPr algn="ctr">
              <a:lnSpc>
                <a:spcPct val="125000"/>
              </a:lnSpc>
              <a:spcAft>
                <a:spcPts val="0"/>
              </a:spcAft>
            </a:pPr>
            <a:r>
              <a:rPr sz="800" b="0" i="0">
                <a:solidFill>
                  <a:srgbClr val="5C6B7A"/>
                </a:solidFill>
                <a:latin typeface="Calibri"/>
              </a:rPr>
              <a:t>Tampil diagnosa &amp; tingkat keyakinan</a:t>
            </a:r>
          </a:p>
        </p:txBody>
      </p:sp>
      <p:sp>
        <p:nvSpPr>
          <p:cNvPr id="54" name="Rectangle 53"/>
          <p:cNvSpPr/>
          <p:nvPr/>
        </p:nvSpPr>
        <p:spPr>
          <a:xfrm>
            <a:off x="548640" y="4663440"/>
            <a:ext cx="6766560" cy="164592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868680" y="4800600"/>
            <a:ext cx="6400800" cy="365760"/>
          </a:xfrm>
          <a:prstGeom prst="rect">
            <a:avLst/>
          </a:prstGeom>
          <a:noFill/>
        </p:spPr>
        <p:txBody>
          <a:bodyPr wrap="square" lIns="0" rIns="0" tIns="0" bIns="0" anchor="t">
            <a:spAutoFit/>
          </a:bodyPr>
          <a:lstStyle/>
          <a:p>
            <a:pPr algn="l">
              <a:lnSpc>
                <a:spcPct val="115000"/>
              </a:lnSpc>
              <a:spcAft>
                <a:spcPts val="0"/>
              </a:spcAft>
            </a:pPr>
            <a:r>
              <a:rPr sz="1100" b="1" i="0">
                <a:solidFill>
                  <a:srgbClr val="E9C46A"/>
                </a:solidFill>
                <a:latin typeface="Calibri"/>
              </a:rPr>
              <a:t>KEPUTUSAN SISTEM</a:t>
            </a:r>
          </a:p>
        </p:txBody>
      </p:sp>
      <p:sp>
        <p:nvSpPr>
          <p:cNvPr id="56" name="TextBox 55"/>
          <p:cNvSpPr txBox="1"/>
          <p:nvPr/>
        </p:nvSpPr>
        <p:spPr>
          <a:xfrm>
            <a:off x="868680" y="5120640"/>
            <a:ext cx="6400800" cy="457200"/>
          </a:xfrm>
          <a:prstGeom prst="rect">
            <a:avLst/>
          </a:prstGeom>
          <a:noFill/>
        </p:spPr>
        <p:txBody>
          <a:bodyPr wrap="square" lIns="0" rIns="0" tIns="0" bIns="0" anchor="t">
            <a:spAutoFit/>
          </a:bodyPr>
          <a:lstStyle/>
          <a:p>
            <a:pPr algn="l">
              <a:lnSpc>
                <a:spcPct val="115000"/>
              </a:lnSpc>
              <a:spcAft>
                <a:spcPts val="0"/>
              </a:spcAft>
            </a:pPr>
            <a:r>
              <a:rPr sz="1800" b="1" i="1">
                <a:solidFill>
                  <a:srgbClr val="F7F3EC"/>
                </a:solidFill>
                <a:latin typeface="Georgia"/>
              </a:rPr>
              <a:t>Apakah ada aturan yang cocok?</a:t>
            </a:r>
          </a:p>
        </p:txBody>
      </p:sp>
      <p:sp>
        <p:nvSpPr>
          <p:cNvPr id="57" name="TextBox 56"/>
          <p:cNvSpPr txBox="1"/>
          <p:nvPr/>
        </p:nvSpPr>
        <p:spPr>
          <a:xfrm>
            <a:off x="868680" y="5623560"/>
            <a:ext cx="6400800" cy="640080"/>
          </a:xfrm>
          <a:prstGeom prst="rect">
            <a:avLst/>
          </a:prstGeom>
          <a:noFill/>
        </p:spPr>
        <p:txBody>
          <a:bodyPr wrap="square" lIns="0" rIns="0" tIns="0" bIns="0" anchor="t">
            <a:spAutoFit/>
          </a:bodyPr>
          <a:lstStyle/>
          <a:p>
            <a:pPr algn="l">
              <a:lnSpc>
                <a:spcPct val="140000"/>
              </a:lnSpc>
              <a:spcAft>
                <a:spcPts val="0"/>
              </a:spcAft>
            </a:pPr>
            <a:r>
              <a:rPr sz="1100" b="0" i="0">
                <a:solidFill>
                  <a:srgbClr val="E8D8C4"/>
                </a:solidFill>
                <a:latin typeface="Calibri"/>
              </a:rPr>
              <a:t>Jika YA → tampilkan penyakit, persentase, dan solusi.</a:t>
            </a:r>
          </a:p>
          <a:p>
            <a:pPr algn="l">
              <a:lnSpc>
                <a:spcPct val="140000"/>
              </a:lnSpc>
              <a:spcAft>
                <a:spcPts val="0"/>
              </a:spcAft>
            </a:pPr>
            <a:r>
              <a:rPr sz="1100" b="0" i="0">
                <a:solidFill>
                  <a:srgbClr val="E8D8C4"/>
                </a:solidFill>
                <a:latin typeface="Calibri"/>
              </a:rPr>
              <a:t>Jika TIDAK → tampilkan pesan 'Diagnosis Tidak Ditemukan'.</a:t>
            </a:r>
          </a:p>
        </p:txBody>
      </p:sp>
      <p:sp>
        <p:nvSpPr>
          <p:cNvPr id="58" name="Rectangle 57"/>
          <p:cNvSpPr/>
          <p:nvPr/>
        </p:nvSpPr>
        <p:spPr>
          <a:xfrm>
            <a:off x="7543800" y="4663440"/>
            <a:ext cx="4160520" cy="164592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7772400" y="4800600"/>
            <a:ext cx="3657600" cy="365760"/>
          </a:xfrm>
          <a:prstGeom prst="rect">
            <a:avLst/>
          </a:prstGeom>
          <a:noFill/>
        </p:spPr>
        <p:txBody>
          <a:bodyPr wrap="square" lIns="0" rIns="0" tIns="0" bIns="0" anchor="t">
            <a:spAutoFit/>
          </a:bodyPr>
          <a:lstStyle/>
          <a:p>
            <a:pPr algn="l">
              <a:lnSpc>
                <a:spcPct val="115000"/>
              </a:lnSpc>
              <a:spcAft>
                <a:spcPts val="0"/>
              </a:spcAft>
            </a:pPr>
            <a:r>
              <a:rPr sz="1100" b="1" i="0">
                <a:solidFill>
                  <a:srgbClr val="E76F51"/>
                </a:solidFill>
                <a:latin typeface="Calibri"/>
              </a:rPr>
              <a:t>OUTPUT SISTEM</a:t>
            </a:r>
          </a:p>
        </p:txBody>
      </p:sp>
      <p:sp>
        <p:nvSpPr>
          <p:cNvPr id="60" name="TextBox 59"/>
          <p:cNvSpPr txBox="1"/>
          <p:nvPr/>
        </p:nvSpPr>
        <p:spPr>
          <a:xfrm>
            <a:off x="7772400" y="5074920"/>
            <a:ext cx="3657600" cy="365760"/>
          </a:xfrm>
          <a:prstGeom prst="rect">
            <a:avLst/>
          </a:prstGeom>
          <a:noFill/>
        </p:spPr>
        <p:txBody>
          <a:bodyPr wrap="square" lIns="0" rIns="0" tIns="0" bIns="0" anchor="t">
            <a:spAutoFit/>
          </a:bodyPr>
          <a:lstStyle/>
          <a:p>
            <a:pPr algn="l">
              <a:lnSpc>
                <a:spcPct val="115000"/>
              </a:lnSpc>
              <a:spcAft>
                <a:spcPts val="0"/>
              </a:spcAft>
            </a:pPr>
            <a:r>
              <a:rPr sz="1500" b="1" i="0">
                <a:solidFill>
                  <a:srgbClr val="0F4C5C"/>
                </a:solidFill>
                <a:latin typeface="Calibri"/>
              </a:rPr>
              <a:t>Nama Penyakit</a:t>
            </a:r>
          </a:p>
        </p:txBody>
      </p:sp>
      <p:sp>
        <p:nvSpPr>
          <p:cNvPr id="61" name="TextBox 60"/>
          <p:cNvSpPr txBox="1"/>
          <p:nvPr/>
        </p:nvSpPr>
        <p:spPr>
          <a:xfrm>
            <a:off x="7772400" y="5394960"/>
            <a:ext cx="3657600" cy="365760"/>
          </a:xfrm>
          <a:prstGeom prst="rect">
            <a:avLst/>
          </a:prstGeom>
          <a:noFill/>
        </p:spPr>
        <p:txBody>
          <a:bodyPr wrap="square" lIns="0" rIns="0" tIns="0" bIns="0" anchor="t">
            <a:spAutoFit/>
          </a:bodyPr>
          <a:lstStyle/>
          <a:p>
            <a:pPr algn="l">
              <a:lnSpc>
                <a:spcPct val="115000"/>
              </a:lnSpc>
              <a:spcAft>
                <a:spcPts val="0"/>
              </a:spcAft>
            </a:pPr>
            <a:r>
              <a:rPr sz="1100" b="0" i="0">
                <a:solidFill>
                  <a:srgbClr val="1B263B"/>
                </a:solidFill>
                <a:latin typeface="Calibri"/>
              </a:rPr>
              <a:t>Tingkat Kecocokan (%)</a:t>
            </a:r>
          </a:p>
        </p:txBody>
      </p:sp>
      <p:sp>
        <p:nvSpPr>
          <p:cNvPr id="62" name="TextBox 61"/>
          <p:cNvSpPr txBox="1"/>
          <p:nvPr/>
        </p:nvSpPr>
        <p:spPr>
          <a:xfrm>
            <a:off x="7772400" y="5669280"/>
            <a:ext cx="3657600" cy="365760"/>
          </a:xfrm>
          <a:prstGeom prst="rect">
            <a:avLst/>
          </a:prstGeom>
          <a:noFill/>
        </p:spPr>
        <p:txBody>
          <a:bodyPr wrap="square" lIns="0" rIns="0" tIns="0" bIns="0" anchor="t">
            <a:spAutoFit/>
          </a:bodyPr>
          <a:lstStyle/>
          <a:p>
            <a:pPr algn="l">
              <a:lnSpc>
                <a:spcPct val="115000"/>
              </a:lnSpc>
              <a:spcAft>
                <a:spcPts val="0"/>
              </a:spcAft>
            </a:pPr>
            <a:r>
              <a:rPr sz="1100" b="0" i="0">
                <a:solidFill>
                  <a:srgbClr val="1B263B"/>
                </a:solidFill>
                <a:latin typeface="Calibri"/>
              </a:rPr>
              <a:t>Solusi &amp; Pencegahan</a:t>
            </a:r>
          </a:p>
        </p:txBody>
      </p:sp>
      <p:sp>
        <p:nvSpPr>
          <p:cNvPr id="63" name="TextBox 62"/>
          <p:cNvSpPr txBox="1"/>
          <p:nvPr/>
        </p:nvSpPr>
        <p:spPr>
          <a:xfrm>
            <a:off x="7772400" y="5943600"/>
            <a:ext cx="3657600" cy="365760"/>
          </a:xfrm>
          <a:prstGeom prst="rect">
            <a:avLst/>
          </a:prstGeom>
          <a:noFill/>
        </p:spPr>
        <p:txBody>
          <a:bodyPr wrap="square" lIns="0" rIns="0" tIns="0" bIns="0" anchor="t">
            <a:spAutoFit/>
          </a:bodyPr>
          <a:lstStyle/>
          <a:p>
            <a:pPr algn="l">
              <a:lnSpc>
                <a:spcPct val="115000"/>
              </a:lnSpc>
              <a:spcAft>
                <a:spcPts val="0"/>
              </a:spcAft>
            </a:pPr>
            <a:r>
              <a:rPr sz="1100" b="0" i="0">
                <a:solidFill>
                  <a:srgbClr val="1B263B"/>
                </a:solidFill>
                <a:latin typeface="Calibri"/>
              </a:rPr>
              <a:t>Tersimpan ke Riwayat</a:t>
            </a:r>
          </a:p>
        </p:txBody>
      </p:sp>
      <p:sp>
        <p:nvSpPr>
          <p:cNvPr id="64" name="TextBox 63"/>
          <p:cNvSpPr txBox="1"/>
          <p:nvPr/>
        </p:nvSpPr>
        <p:spPr>
          <a:xfrm>
            <a:off x="10911535" y="6400800"/>
            <a:ext cx="914400" cy="274320"/>
          </a:xfrm>
          <a:prstGeom prst="rect">
            <a:avLst/>
          </a:prstGeom>
          <a:noFill/>
        </p:spPr>
        <p:txBody>
          <a:bodyPr wrap="square" lIns="0" rIns="0" tIns="0" bIns="0" anchor="t">
            <a:spAutoFit/>
          </a:bodyPr>
          <a:lstStyle/>
          <a:p>
            <a:pPr algn="r">
              <a:lnSpc>
                <a:spcPct val="115000"/>
              </a:lnSpc>
              <a:spcAft>
                <a:spcPts val="0"/>
              </a:spcAft>
            </a:pPr>
            <a:r>
              <a:rPr sz="1000" b="1" i="0">
                <a:solidFill>
                  <a:srgbClr val="5C6B7A"/>
                </a:solidFill>
                <a:latin typeface="Calibri"/>
              </a:rPr>
              <a:t>11 / 15</a:t>
            </a:r>
          </a:p>
        </p:txBody>
      </p:sp>
      <p:sp>
        <p:nvSpPr>
          <p:cNvPr id="65" name="TextBox 64"/>
          <p:cNvSpPr txBox="1"/>
          <p:nvPr/>
        </p:nvSpPr>
        <p:spPr>
          <a:xfrm>
            <a:off x="457200" y="6400800"/>
            <a:ext cx="7315200" cy="274320"/>
          </a:xfrm>
          <a:prstGeom prst="rect">
            <a:avLst/>
          </a:prstGeom>
          <a:noFill/>
        </p:spPr>
        <p:txBody>
          <a:bodyPr wrap="square" lIns="0" rIns="0" tIns="0" bIns="0" anchor="t">
            <a:spAutoFit/>
          </a:bodyPr>
          <a:lstStyle/>
          <a:p>
            <a:pPr algn="l">
              <a:lnSpc>
                <a:spcPct val="115000"/>
              </a:lnSpc>
              <a:spcAft>
                <a:spcPts val="0"/>
              </a:spcAft>
            </a:pPr>
            <a:r>
              <a:rPr sz="1000" b="1" i="0">
                <a:solidFill>
                  <a:srgbClr val="5C6B7A"/>
                </a:solidFill>
                <a:latin typeface="Calibri"/>
              </a:rPr>
              <a:t>Klinik Merpati  •  Sistem Pakar Diagnosa Avian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502920"/>
            <a:ext cx="164592" cy="1645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11480"/>
            <a:ext cx="7315200" cy="320040"/>
          </a:xfrm>
          <a:prstGeom prst="rect">
            <a:avLst/>
          </a:prstGeom>
          <a:noFill/>
        </p:spPr>
        <p:txBody>
          <a:bodyPr wrap="square" lIns="0" rIns="0" tIns="0" bIns="0" anchor="t">
            <a:spAutoFit/>
          </a:bodyPr>
          <a:lstStyle/>
          <a:p>
            <a:pPr algn="l">
              <a:lnSpc>
                <a:spcPct val="115000"/>
              </a:lnSpc>
              <a:spcAft>
                <a:spcPts val="0"/>
              </a:spcAft>
            </a:pPr>
            <a:r>
              <a:rPr sz="1100" b="1" i="0">
                <a:solidFill>
                  <a:srgbClr val="E76F51"/>
                </a:solidFill>
                <a:latin typeface="Calibri"/>
              </a:rPr>
              <a:t>BAB IV  •  PERANCANGAN</a:t>
            </a:r>
          </a:p>
        </p:txBody>
      </p:sp>
      <p:sp>
        <p:nvSpPr>
          <p:cNvPr id="5" name="TextBox 4"/>
          <p:cNvSpPr txBox="1"/>
          <p:nvPr/>
        </p:nvSpPr>
        <p:spPr>
          <a:xfrm>
            <a:off x="548640" y="777240"/>
            <a:ext cx="10515600" cy="640080"/>
          </a:xfrm>
          <a:prstGeom prst="rect">
            <a:avLst/>
          </a:prstGeom>
          <a:noFill/>
        </p:spPr>
        <p:txBody>
          <a:bodyPr wrap="square" lIns="0" rIns="0" tIns="0" bIns="0" anchor="t">
            <a:spAutoFit/>
          </a:bodyPr>
          <a:lstStyle/>
          <a:p>
            <a:pPr algn="l">
              <a:lnSpc>
                <a:spcPct val="115000"/>
              </a:lnSpc>
              <a:spcAft>
                <a:spcPts val="0"/>
              </a:spcAft>
            </a:pPr>
            <a:r>
              <a:rPr sz="3200" b="1" i="0">
                <a:solidFill>
                  <a:srgbClr val="0F4C5C"/>
                </a:solidFill>
                <a:latin typeface="Georgia"/>
              </a:rPr>
              <a:t>Entity Relationship Diagram (ERD)</a:t>
            </a:r>
          </a:p>
        </p:txBody>
      </p:sp>
      <p:sp>
        <p:nvSpPr>
          <p:cNvPr id="6" name="Rectangle 5"/>
          <p:cNvSpPr/>
          <p:nvPr/>
        </p:nvSpPr>
        <p:spPr>
          <a:xfrm>
            <a:off x="548640" y="1645920"/>
            <a:ext cx="7772400" cy="466344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erd.png"/>
          <p:cNvPicPr>
            <a:picLocks noChangeAspect="1"/>
          </p:cNvPicPr>
          <p:nvPr/>
        </p:nvPicPr>
        <p:blipFill>
          <a:blip r:embed="rId2"/>
          <a:stretch>
            <a:fillRect/>
          </a:stretch>
        </p:blipFill>
        <p:spPr>
          <a:xfrm>
            <a:off x="731520" y="2194560"/>
            <a:ext cx="7406640" cy="3668802"/>
          </a:xfrm>
          <a:prstGeom prst="rect">
            <a:avLst/>
          </a:prstGeom>
        </p:spPr>
      </p:pic>
      <p:sp>
        <p:nvSpPr>
          <p:cNvPr id="8" name="TextBox 7"/>
          <p:cNvSpPr txBox="1"/>
          <p:nvPr/>
        </p:nvSpPr>
        <p:spPr>
          <a:xfrm>
            <a:off x="8549640" y="1645920"/>
            <a:ext cx="3108960" cy="365760"/>
          </a:xfrm>
          <a:prstGeom prst="rect">
            <a:avLst/>
          </a:prstGeom>
          <a:noFill/>
        </p:spPr>
        <p:txBody>
          <a:bodyPr wrap="square" lIns="0" rIns="0" tIns="0" bIns="0" anchor="t">
            <a:spAutoFit/>
          </a:bodyPr>
          <a:lstStyle/>
          <a:p>
            <a:pPr algn="l">
              <a:lnSpc>
                <a:spcPct val="115000"/>
              </a:lnSpc>
              <a:spcAft>
                <a:spcPts val="0"/>
              </a:spcAft>
            </a:pPr>
            <a:r>
              <a:rPr sz="1100" b="1" i="0">
                <a:solidFill>
                  <a:srgbClr val="E76F51"/>
                </a:solidFill>
                <a:latin typeface="Calibri"/>
              </a:rPr>
              <a:t>ENTITAS UTAMA</a:t>
            </a:r>
          </a:p>
        </p:txBody>
      </p:sp>
      <p:sp>
        <p:nvSpPr>
          <p:cNvPr id="9" name="Rectangle 8"/>
          <p:cNvSpPr/>
          <p:nvPr/>
        </p:nvSpPr>
        <p:spPr>
          <a:xfrm>
            <a:off x="8549640" y="1965960"/>
            <a:ext cx="457200" cy="36576"/>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549640" y="2194560"/>
            <a:ext cx="3108960" cy="54864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8549640" y="2194560"/>
            <a:ext cx="73152" cy="548640"/>
          </a:xfrm>
          <a:prstGeom prst="rect">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778240" y="2258568"/>
            <a:ext cx="2834640" cy="274320"/>
          </a:xfrm>
          <a:prstGeom prst="rect">
            <a:avLst/>
          </a:prstGeom>
          <a:noFill/>
        </p:spPr>
        <p:txBody>
          <a:bodyPr wrap="square" lIns="0" rIns="0" tIns="0" bIns="0" anchor="t">
            <a:spAutoFit/>
          </a:bodyPr>
          <a:lstStyle/>
          <a:p>
            <a:pPr algn="l">
              <a:lnSpc>
                <a:spcPct val="115000"/>
              </a:lnSpc>
              <a:spcAft>
                <a:spcPts val="0"/>
              </a:spcAft>
            </a:pPr>
            <a:r>
              <a:rPr sz="1200" b="1" i="0">
                <a:solidFill>
                  <a:srgbClr val="0F4C5C"/>
                </a:solidFill>
                <a:latin typeface="Calibri"/>
              </a:rPr>
              <a:t>Gejala</a:t>
            </a:r>
          </a:p>
        </p:txBody>
      </p:sp>
      <p:sp>
        <p:nvSpPr>
          <p:cNvPr id="13" name="TextBox 12"/>
          <p:cNvSpPr txBox="1"/>
          <p:nvPr/>
        </p:nvSpPr>
        <p:spPr>
          <a:xfrm>
            <a:off x="8778240" y="2487168"/>
            <a:ext cx="2834640" cy="274320"/>
          </a:xfrm>
          <a:prstGeom prst="rect">
            <a:avLst/>
          </a:prstGeom>
          <a:noFill/>
        </p:spPr>
        <p:txBody>
          <a:bodyPr wrap="square" lIns="0" rIns="0" tIns="0" bIns="0" anchor="t">
            <a:spAutoFit/>
          </a:bodyPr>
          <a:lstStyle/>
          <a:p>
            <a:pPr algn="l">
              <a:lnSpc>
                <a:spcPct val="115000"/>
              </a:lnSpc>
              <a:spcAft>
                <a:spcPts val="0"/>
              </a:spcAft>
            </a:pPr>
            <a:r>
              <a:rPr sz="900" b="0" i="1">
                <a:solidFill>
                  <a:srgbClr val="5C6B7A"/>
                </a:solidFill>
                <a:latin typeface="Calibri"/>
              </a:rPr>
              <a:t>30 data</a:t>
            </a:r>
          </a:p>
        </p:txBody>
      </p:sp>
      <p:sp>
        <p:nvSpPr>
          <p:cNvPr id="14" name="Rectangle 13"/>
          <p:cNvSpPr/>
          <p:nvPr/>
        </p:nvSpPr>
        <p:spPr>
          <a:xfrm>
            <a:off x="8549640" y="2834640"/>
            <a:ext cx="3108960" cy="54864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8549640" y="2834640"/>
            <a:ext cx="73152" cy="54864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778240" y="2898648"/>
            <a:ext cx="2834640" cy="274320"/>
          </a:xfrm>
          <a:prstGeom prst="rect">
            <a:avLst/>
          </a:prstGeom>
          <a:noFill/>
        </p:spPr>
        <p:txBody>
          <a:bodyPr wrap="square" lIns="0" rIns="0" tIns="0" bIns="0" anchor="t">
            <a:spAutoFit/>
          </a:bodyPr>
          <a:lstStyle/>
          <a:p>
            <a:pPr algn="l">
              <a:lnSpc>
                <a:spcPct val="115000"/>
              </a:lnSpc>
              <a:spcAft>
                <a:spcPts val="0"/>
              </a:spcAft>
            </a:pPr>
            <a:r>
              <a:rPr sz="1200" b="1" i="0">
                <a:solidFill>
                  <a:srgbClr val="0F4C5C"/>
                </a:solidFill>
                <a:latin typeface="Calibri"/>
              </a:rPr>
              <a:t>Penyakit</a:t>
            </a:r>
          </a:p>
        </p:txBody>
      </p:sp>
      <p:sp>
        <p:nvSpPr>
          <p:cNvPr id="17" name="TextBox 16"/>
          <p:cNvSpPr txBox="1"/>
          <p:nvPr/>
        </p:nvSpPr>
        <p:spPr>
          <a:xfrm>
            <a:off x="8778240" y="3127248"/>
            <a:ext cx="2834640" cy="274320"/>
          </a:xfrm>
          <a:prstGeom prst="rect">
            <a:avLst/>
          </a:prstGeom>
          <a:noFill/>
        </p:spPr>
        <p:txBody>
          <a:bodyPr wrap="square" lIns="0" rIns="0" tIns="0" bIns="0" anchor="t">
            <a:spAutoFit/>
          </a:bodyPr>
          <a:lstStyle/>
          <a:p>
            <a:pPr algn="l">
              <a:lnSpc>
                <a:spcPct val="115000"/>
              </a:lnSpc>
              <a:spcAft>
                <a:spcPts val="0"/>
              </a:spcAft>
            </a:pPr>
            <a:r>
              <a:rPr sz="900" b="0" i="1">
                <a:solidFill>
                  <a:srgbClr val="5C6B7A"/>
                </a:solidFill>
                <a:latin typeface="Calibri"/>
              </a:rPr>
              <a:t>10 data</a:t>
            </a:r>
          </a:p>
        </p:txBody>
      </p:sp>
      <p:sp>
        <p:nvSpPr>
          <p:cNvPr id="18" name="Rectangle 17"/>
          <p:cNvSpPr/>
          <p:nvPr/>
        </p:nvSpPr>
        <p:spPr>
          <a:xfrm>
            <a:off x="8549640" y="3474720"/>
            <a:ext cx="3108960" cy="54864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549640" y="3474720"/>
            <a:ext cx="73152" cy="548640"/>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778240" y="3538728"/>
            <a:ext cx="2834640" cy="274320"/>
          </a:xfrm>
          <a:prstGeom prst="rect">
            <a:avLst/>
          </a:prstGeom>
          <a:noFill/>
        </p:spPr>
        <p:txBody>
          <a:bodyPr wrap="square" lIns="0" rIns="0" tIns="0" bIns="0" anchor="t">
            <a:spAutoFit/>
          </a:bodyPr>
          <a:lstStyle/>
          <a:p>
            <a:pPr algn="l">
              <a:lnSpc>
                <a:spcPct val="115000"/>
              </a:lnSpc>
              <a:spcAft>
                <a:spcPts val="0"/>
              </a:spcAft>
            </a:pPr>
            <a:r>
              <a:rPr sz="1200" b="1" i="0">
                <a:solidFill>
                  <a:srgbClr val="0F4C5C"/>
                </a:solidFill>
                <a:latin typeface="Calibri"/>
              </a:rPr>
              <a:t>Aturan</a:t>
            </a:r>
          </a:p>
        </p:txBody>
      </p:sp>
      <p:sp>
        <p:nvSpPr>
          <p:cNvPr id="21" name="TextBox 20"/>
          <p:cNvSpPr txBox="1"/>
          <p:nvPr/>
        </p:nvSpPr>
        <p:spPr>
          <a:xfrm>
            <a:off x="8778240" y="3767328"/>
            <a:ext cx="2834640" cy="274320"/>
          </a:xfrm>
          <a:prstGeom prst="rect">
            <a:avLst/>
          </a:prstGeom>
          <a:noFill/>
        </p:spPr>
        <p:txBody>
          <a:bodyPr wrap="square" lIns="0" rIns="0" tIns="0" bIns="0" anchor="t">
            <a:spAutoFit/>
          </a:bodyPr>
          <a:lstStyle/>
          <a:p>
            <a:pPr algn="l">
              <a:lnSpc>
                <a:spcPct val="115000"/>
              </a:lnSpc>
              <a:spcAft>
                <a:spcPts val="0"/>
              </a:spcAft>
            </a:pPr>
            <a:r>
              <a:rPr sz="900" b="0" i="1">
                <a:solidFill>
                  <a:srgbClr val="5C6B7A"/>
                </a:solidFill>
                <a:latin typeface="Calibri"/>
              </a:rPr>
              <a:t>30 data</a:t>
            </a:r>
          </a:p>
        </p:txBody>
      </p:sp>
      <p:sp>
        <p:nvSpPr>
          <p:cNvPr id="22" name="Rectangle 21"/>
          <p:cNvSpPr/>
          <p:nvPr/>
        </p:nvSpPr>
        <p:spPr>
          <a:xfrm>
            <a:off x="8549640" y="4114800"/>
            <a:ext cx="3108960" cy="54864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8549640" y="4114800"/>
            <a:ext cx="73152" cy="548640"/>
          </a:xfrm>
          <a:prstGeom prst="rect">
            <a:avLst/>
          </a:prstGeom>
          <a:solidFill>
            <a:srgbClr val="1B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778240" y="4178808"/>
            <a:ext cx="2834640" cy="274320"/>
          </a:xfrm>
          <a:prstGeom prst="rect">
            <a:avLst/>
          </a:prstGeom>
          <a:noFill/>
        </p:spPr>
        <p:txBody>
          <a:bodyPr wrap="square" lIns="0" rIns="0" tIns="0" bIns="0" anchor="t">
            <a:spAutoFit/>
          </a:bodyPr>
          <a:lstStyle/>
          <a:p>
            <a:pPr algn="l">
              <a:lnSpc>
                <a:spcPct val="115000"/>
              </a:lnSpc>
              <a:spcAft>
                <a:spcPts val="0"/>
              </a:spcAft>
            </a:pPr>
            <a:r>
              <a:rPr sz="1200" b="1" i="0">
                <a:solidFill>
                  <a:srgbClr val="0F4C5C"/>
                </a:solidFill>
                <a:latin typeface="Calibri"/>
              </a:rPr>
              <a:t>Detail Aturan</a:t>
            </a:r>
          </a:p>
        </p:txBody>
      </p:sp>
      <p:sp>
        <p:nvSpPr>
          <p:cNvPr id="25" name="TextBox 24"/>
          <p:cNvSpPr txBox="1"/>
          <p:nvPr/>
        </p:nvSpPr>
        <p:spPr>
          <a:xfrm>
            <a:off x="8778240" y="4407408"/>
            <a:ext cx="2834640" cy="274320"/>
          </a:xfrm>
          <a:prstGeom prst="rect">
            <a:avLst/>
          </a:prstGeom>
          <a:noFill/>
        </p:spPr>
        <p:txBody>
          <a:bodyPr wrap="square" lIns="0" rIns="0" tIns="0" bIns="0" anchor="t">
            <a:spAutoFit/>
          </a:bodyPr>
          <a:lstStyle/>
          <a:p>
            <a:pPr algn="l">
              <a:lnSpc>
                <a:spcPct val="115000"/>
              </a:lnSpc>
              <a:spcAft>
                <a:spcPts val="0"/>
              </a:spcAft>
            </a:pPr>
            <a:r>
              <a:rPr sz="900" b="0" i="1">
                <a:solidFill>
                  <a:srgbClr val="5C6B7A"/>
                </a:solidFill>
                <a:latin typeface="Calibri"/>
              </a:rPr>
              <a:t>90 relasi</a:t>
            </a:r>
          </a:p>
        </p:txBody>
      </p:sp>
      <p:sp>
        <p:nvSpPr>
          <p:cNvPr id="26" name="Rectangle 25"/>
          <p:cNvSpPr/>
          <p:nvPr/>
        </p:nvSpPr>
        <p:spPr>
          <a:xfrm>
            <a:off x="8549640" y="4754880"/>
            <a:ext cx="3108960" cy="54864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8549640" y="4754880"/>
            <a:ext cx="73152" cy="5486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778240" y="4818888"/>
            <a:ext cx="2834640" cy="274320"/>
          </a:xfrm>
          <a:prstGeom prst="rect">
            <a:avLst/>
          </a:prstGeom>
          <a:noFill/>
        </p:spPr>
        <p:txBody>
          <a:bodyPr wrap="square" lIns="0" rIns="0" tIns="0" bIns="0" anchor="t">
            <a:spAutoFit/>
          </a:bodyPr>
          <a:lstStyle/>
          <a:p>
            <a:pPr algn="l">
              <a:lnSpc>
                <a:spcPct val="115000"/>
              </a:lnSpc>
              <a:spcAft>
                <a:spcPts val="0"/>
              </a:spcAft>
            </a:pPr>
            <a:r>
              <a:rPr sz="1200" b="1" i="0">
                <a:solidFill>
                  <a:srgbClr val="0F4C5C"/>
                </a:solidFill>
                <a:latin typeface="Calibri"/>
              </a:rPr>
              <a:t>Diagnosa</a:t>
            </a:r>
          </a:p>
        </p:txBody>
      </p:sp>
      <p:sp>
        <p:nvSpPr>
          <p:cNvPr id="29" name="TextBox 28"/>
          <p:cNvSpPr txBox="1"/>
          <p:nvPr/>
        </p:nvSpPr>
        <p:spPr>
          <a:xfrm>
            <a:off x="8778240" y="5047488"/>
            <a:ext cx="2834640" cy="274320"/>
          </a:xfrm>
          <a:prstGeom prst="rect">
            <a:avLst/>
          </a:prstGeom>
          <a:noFill/>
        </p:spPr>
        <p:txBody>
          <a:bodyPr wrap="square" lIns="0" rIns="0" tIns="0" bIns="0" anchor="t">
            <a:spAutoFit/>
          </a:bodyPr>
          <a:lstStyle/>
          <a:p>
            <a:pPr algn="l">
              <a:lnSpc>
                <a:spcPct val="115000"/>
              </a:lnSpc>
              <a:spcAft>
                <a:spcPts val="0"/>
              </a:spcAft>
            </a:pPr>
            <a:r>
              <a:rPr sz="900" b="0" i="1">
                <a:solidFill>
                  <a:srgbClr val="5C6B7A"/>
                </a:solidFill>
                <a:latin typeface="Calibri"/>
              </a:rPr>
              <a:t>Riwayat</a:t>
            </a:r>
          </a:p>
        </p:txBody>
      </p:sp>
      <p:sp>
        <p:nvSpPr>
          <p:cNvPr id="30" name="Rectangle 29"/>
          <p:cNvSpPr/>
          <p:nvPr/>
        </p:nvSpPr>
        <p:spPr>
          <a:xfrm>
            <a:off x="8549640" y="5394960"/>
            <a:ext cx="3108960" cy="54864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549640" y="5394960"/>
            <a:ext cx="73152" cy="548640"/>
          </a:xfrm>
          <a:prstGeom prst="rect">
            <a:avLst/>
          </a:prstGeom>
          <a:solidFill>
            <a:srgbClr val="C14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778240" y="5458968"/>
            <a:ext cx="2834640" cy="274320"/>
          </a:xfrm>
          <a:prstGeom prst="rect">
            <a:avLst/>
          </a:prstGeom>
          <a:noFill/>
        </p:spPr>
        <p:txBody>
          <a:bodyPr wrap="square" lIns="0" rIns="0" tIns="0" bIns="0" anchor="t">
            <a:spAutoFit/>
          </a:bodyPr>
          <a:lstStyle/>
          <a:p>
            <a:pPr algn="l">
              <a:lnSpc>
                <a:spcPct val="115000"/>
              </a:lnSpc>
              <a:spcAft>
                <a:spcPts val="0"/>
              </a:spcAft>
            </a:pPr>
            <a:r>
              <a:rPr sz="1200" b="1" i="0">
                <a:solidFill>
                  <a:srgbClr val="0F4C5C"/>
                </a:solidFill>
                <a:latin typeface="Calibri"/>
              </a:rPr>
              <a:t>Admin</a:t>
            </a:r>
          </a:p>
        </p:txBody>
      </p:sp>
      <p:sp>
        <p:nvSpPr>
          <p:cNvPr id="33" name="TextBox 32"/>
          <p:cNvSpPr txBox="1"/>
          <p:nvPr/>
        </p:nvSpPr>
        <p:spPr>
          <a:xfrm>
            <a:off x="8778240" y="5687568"/>
            <a:ext cx="2834640" cy="274320"/>
          </a:xfrm>
          <a:prstGeom prst="rect">
            <a:avLst/>
          </a:prstGeom>
          <a:noFill/>
        </p:spPr>
        <p:txBody>
          <a:bodyPr wrap="square" lIns="0" rIns="0" tIns="0" bIns="0" anchor="t">
            <a:spAutoFit/>
          </a:bodyPr>
          <a:lstStyle/>
          <a:p>
            <a:pPr algn="l">
              <a:lnSpc>
                <a:spcPct val="115000"/>
              </a:lnSpc>
              <a:spcAft>
                <a:spcPts val="0"/>
              </a:spcAft>
            </a:pPr>
            <a:r>
              <a:rPr sz="900" b="0" i="1">
                <a:solidFill>
                  <a:srgbClr val="5C6B7A"/>
                </a:solidFill>
                <a:latin typeface="Calibri"/>
              </a:rPr>
              <a:t>1 akun</a:t>
            </a:r>
          </a:p>
        </p:txBody>
      </p:sp>
      <p:sp>
        <p:nvSpPr>
          <p:cNvPr id="34" name="TextBox 33"/>
          <p:cNvSpPr txBox="1"/>
          <p:nvPr/>
        </p:nvSpPr>
        <p:spPr>
          <a:xfrm>
            <a:off x="10911535" y="6400800"/>
            <a:ext cx="914400" cy="274320"/>
          </a:xfrm>
          <a:prstGeom prst="rect">
            <a:avLst/>
          </a:prstGeom>
          <a:noFill/>
        </p:spPr>
        <p:txBody>
          <a:bodyPr wrap="square" lIns="0" rIns="0" tIns="0" bIns="0" anchor="t">
            <a:spAutoFit/>
          </a:bodyPr>
          <a:lstStyle/>
          <a:p>
            <a:pPr algn="r">
              <a:lnSpc>
                <a:spcPct val="115000"/>
              </a:lnSpc>
              <a:spcAft>
                <a:spcPts val="0"/>
              </a:spcAft>
            </a:pPr>
            <a:r>
              <a:rPr sz="1000" b="1" i="0">
                <a:solidFill>
                  <a:srgbClr val="5C6B7A"/>
                </a:solidFill>
                <a:latin typeface="Calibri"/>
              </a:rPr>
              <a:t>12 / 15</a:t>
            </a:r>
          </a:p>
        </p:txBody>
      </p:sp>
      <p:sp>
        <p:nvSpPr>
          <p:cNvPr id="35" name="TextBox 34"/>
          <p:cNvSpPr txBox="1"/>
          <p:nvPr/>
        </p:nvSpPr>
        <p:spPr>
          <a:xfrm>
            <a:off x="457200" y="6400800"/>
            <a:ext cx="7315200" cy="274320"/>
          </a:xfrm>
          <a:prstGeom prst="rect">
            <a:avLst/>
          </a:prstGeom>
          <a:noFill/>
        </p:spPr>
        <p:txBody>
          <a:bodyPr wrap="square" lIns="0" rIns="0" tIns="0" bIns="0" anchor="t">
            <a:spAutoFit/>
          </a:bodyPr>
          <a:lstStyle/>
          <a:p>
            <a:pPr algn="l">
              <a:lnSpc>
                <a:spcPct val="115000"/>
              </a:lnSpc>
              <a:spcAft>
                <a:spcPts val="0"/>
              </a:spcAft>
            </a:pPr>
            <a:r>
              <a:rPr sz="1000" b="1" i="0">
                <a:solidFill>
                  <a:srgbClr val="5C6B7A"/>
                </a:solidFill>
                <a:latin typeface="Calibri"/>
              </a:rPr>
              <a:t>Klinik Merpati  •  Sistem Pakar Diagnosa Avian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35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137160"/>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502920"/>
            <a:ext cx="164592" cy="164592"/>
          </a:xfrm>
          <a:prstGeom prst="rect">
            <a:avLst/>
          </a:prstGeom>
          <a:noFill/>
        </p:spPr>
        <p:txBody>
          <a:bodyPr wrap="square" lIns="0" rIns="0" tIns="0" bIns="0" anchor="t">
            <a:spAutoFit/>
          </a:bodyPr>
          <a:lstStyle/>
          <a:p>
            <a:pPr algn="l">
              <a:lnSpc>
                <a:spcPct val="115000"/>
              </a:lnSpc>
              <a:spcAft>
                <a:spcPts val="0"/>
              </a:spcAft>
            </a:pPr>
            <a:r>
              <a:rPr sz="1100" b="0" i="0">
                <a:solidFill>
                  <a:srgbClr val="1B263B"/>
                </a:solidFill>
                <a:latin typeface="Calibri"/>
              </a:rPr>
              <a:t/>
            </a:r>
          </a:p>
        </p:txBody>
      </p:sp>
      <p:sp>
        <p:nvSpPr>
          <p:cNvPr id="5" name="Rectangle 4"/>
          <p:cNvSpPr/>
          <p:nvPr/>
        </p:nvSpPr>
        <p:spPr>
          <a:xfrm>
            <a:off x="548640" y="502920"/>
            <a:ext cx="164592" cy="1645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411480"/>
            <a:ext cx="7315200" cy="320040"/>
          </a:xfrm>
          <a:prstGeom prst="rect">
            <a:avLst/>
          </a:prstGeom>
          <a:noFill/>
        </p:spPr>
        <p:txBody>
          <a:bodyPr wrap="square" lIns="0" rIns="0" tIns="0" bIns="0" anchor="t">
            <a:spAutoFit/>
          </a:bodyPr>
          <a:lstStyle/>
          <a:p>
            <a:pPr algn="l">
              <a:lnSpc>
                <a:spcPct val="115000"/>
              </a:lnSpc>
              <a:spcAft>
                <a:spcPts val="0"/>
              </a:spcAft>
            </a:pPr>
            <a:r>
              <a:rPr sz="1100" b="1" i="0">
                <a:solidFill>
                  <a:srgbClr val="E76F51"/>
                </a:solidFill>
                <a:latin typeface="Calibri"/>
              </a:rPr>
              <a:t>DEMO SISTEM</a:t>
            </a:r>
          </a:p>
        </p:txBody>
      </p:sp>
      <p:sp>
        <p:nvSpPr>
          <p:cNvPr id="7" name="TextBox 6"/>
          <p:cNvSpPr txBox="1"/>
          <p:nvPr/>
        </p:nvSpPr>
        <p:spPr>
          <a:xfrm>
            <a:off x="548640" y="777240"/>
            <a:ext cx="10972800" cy="640080"/>
          </a:xfrm>
          <a:prstGeom prst="rect">
            <a:avLst/>
          </a:prstGeom>
          <a:noFill/>
        </p:spPr>
        <p:txBody>
          <a:bodyPr wrap="square" lIns="0" rIns="0" tIns="0" bIns="0" anchor="t">
            <a:spAutoFit/>
          </a:bodyPr>
          <a:lstStyle/>
          <a:p>
            <a:pPr algn="l">
              <a:lnSpc>
                <a:spcPct val="115000"/>
              </a:lnSpc>
              <a:spcAft>
                <a:spcPts val="0"/>
              </a:spcAft>
            </a:pPr>
            <a:r>
              <a:rPr sz="3200" b="1" i="0">
                <a:solidFill>
                  <a:srgbClr val="F7F3EC"/>
                </a:solidFill>
                <a:latin typeface="Georgia"/>
              </a:rPr>
              <a:t>Demonstrasi Aplikasi Klinik Merpati</a:t>
            </a:r>
          </a:p>
        </p:txBody>
      </p:sp>
      <p:sp>
        <p:nvSpPr>
          <p:cNvPr id="8" name="Oval 7"/>
          <p:cNvSpPr/>
          <p:nvPr/>
        </p:nvSpPr>
        <p:spPr>
          <a:xfrm>
            <a:off x="10515600" y="274320"/>
            <a:ext cx="2286000" cy="2286000"/>
          </a:xfrm>
          <a:prstGeom prst="ellipse">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691640"/>
            <a:ext cx="7772400" cy="402336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48640" y="1691640"/>
            <a:ext cx="7772400" cy="4114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731520" y="1801368"/>
            <a:ext cx="182880" cy="182880"/>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005840" y="1801368"/>
            <a:ext cx="182880" cy="182880"/>
          </a:xfrm>
          <a:prstGeom prst="ellipse">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280160" y="1801368"/>
            <a:ext cx="182880" cy="182880"/>
          </a:xfrm>
          <a:prstGeom prst="ellipse">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737360" y="1783080"/>
            <a:ext cx="5943600" cy="228600"/>
          </a:xfrm>
          <a:prstGeom prst="rect">
            <a:avLst/>
          </a:prstGeom>
          <a:solidFill>
            <a:srgbClr val="0935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828800" y="1783080"/>
            <a:ext cx="5852160" cy="228600"/>
          </a:xfrm>
          <a:prstGeom prst="rect">
            <a:avLst/>
          </a:prstGeom>
          <a:noFill/>
        </p:spPr>
        <p:txBody>
          <a:bodyPr wrap="square" lIns="0" rIns="0" tIns="0" bIns="0" anchor="ctr">
            <a:spAutoFit/>
          </a:bodyPr>
          <a:lstStyle/>
          <a:p>
            <a:pPr algn="l">
              <a:lnSpc>
                <a:spcPct val="115000"/>
              </a:lnSpc>
              <a:spcAft>
                <a:spcPts val="0"/>
              </a:spcAft>
            </a:pPr>
            <a:r>
              <a:rPr sz="900" b="0" i="1">
                <a:solidFill>
                  <a:srgbClr val="F7F3EC"/>
                </a:solidFill>
                <a:latin typeface="Calibri"/>
              </a:rPr>
              <a:t>klinik-merpati.local/konsultasi.php</a:t>
            </a:r>
          </a:p>
        </p:txBody>
      </p:sp>
      <p:sp>
        <p:nvSpPr>
          <p:cNvPr id="16" name="TextBox 15"/>
          <p:cNvSpPr txBox="1"/>
          <p:nvPr/>
        </p:nvSpPr>
        <p:spPr>
          <a:xfrm>
            <a:off x="914400" y="2331720"/>
            <a:ext cx="7040880" cy="457200"/>
          </a:xfrm>
          <a:prstGeom prst="rect">
            <a:avLst/>
          </a:prstGeom>
          <a:noFill/>
        </p:spPr>
        <p:txBody>
          <a:bodyPr wrap="square" lIns="0" rIns="0" tIns="0" bIns="0" anchor="t">
            <a:spAutoFit/>
          </a:bodyPr>
          <a:lstStyle/>
          <a:p>
            <a:pPr algn="l">
              <a:lnSpc>
                <a:spcPct val="115000"/>
              </a:lnSpc>
              <a:spcAft>
                <a:spcPts val="0"/>
              </a:spcAft>
            </a:pPr>
            <a:r>
              <a:rPr sz="2200" b="1" i="0">
                <a:solidFill>
                  <a:srgbClr val="0F4C5C"/>
                </a:solidFill>
                <a:latin typeface="Georgia"/>
              </a:rPr>
              <a:t>Analisis Kesehatan Avian</a:t>
            </a:r>
          </a:p>
        </p:txBody>
      </p:sp>
      <p:sp>
        <p:nvSpPr>
          <p:cNvPr id="17" name="TextBox 16"/>
          <p:cNvSpPr txBox="1"/>
          <p:nvPr/>
        </p:nvSpPr>
        <p:spPr>
          <a:xfrm>
            <a:off x="914400" y="2788920"/>
            <a:ext cx="7040880" cy="457200"/>
          </a:xfrm>
          <a:prstGeom prst="rect">
            <a:avLst/>
          </a:prstGeom>
          <a:noFill/>
        </p:spPr>
        <p:txBody>
          <a:bodyPr wrap="square" lIns="0" rIns="0" tIns="0" bIns="0" anchor="t">
            <a:spAutoFit/>
          </a:bodyPr>
          <a:lstStyle/>
          <a:p>
            <a:pPr algn="l">
              <a:lnSpc>
                <a:spcPct val="115000"/>
              </a:lnSpc>
              <a:spcAft>
                <a:spcPts val="0"/>
              </a:spcAft>
            </a:pPr>
            <a:r>
              <a:rPr sz="1200" b="0" i="0">
                <a:solidFill>
                  <a:srgbClr val="5C6B7A"/>
                </a:solidFill>
                <a:latin typeface="Calibri"/>
              </a:rPr>
              <a:t>Pilih gejala yang teramati pada merpati Anda:</a:t>
            </a:r>
          </a:p>
        </p:txBody>
      </p:sp>
      <p:sp>
        <p:nvSpPr>
          <p:cNvPr id="18" name="TextBox 17"/>
          <p:cNvSpPr txBox="1"/>
          <p:nvPr/>
        </p:nvSpPr>
        <p:spPr>
          <a:xfrm>
            <a:off x="914400" y="3246120"/>
            <a:ext cx="2286000" cy="274320"/>
          </a:xfrm>
          <a:prstGeom prst="rect">
            <a:avLst/>
          </a:prstGeom>
          <a:noFill/>
        </p:spPr>
        <p:txBody>
          <a:bodyPr wrap="square" lIns="0" rIns="0" tIns="0" bIns="0" anchor="t">
            <a:spAutoFit/>
          </a:bodyPr>
          <a:lstStyle/>
          <a:p>
            <a:pPr algn="l">
              <a:lnSpc>
                <a:spcPct val="115000"/>
              </a:lnSpc>
              <a:spcAft>
                <a:spcPts val="0"/>
              </a:spcAft>
            </a:pPr>
            <a:r>
              <a:rPr sz="1000" b="1" i="0">
                <a:solidFill>
                  <a:srgbClr val="0F4C5C"/>
                </a:solidFill>
                <a:latin typeface="Calibri"/>
              </a:rPr>
              <a:t>Nama Pemilik</a:t>
            </a:r>
          </a:p>
        </p:txBody>
      </p:sp>
      <p:sp>
        <p:nvSpPr>
          <p:cNvPr id="19" name="Rectangle 18"/>
          <p:cNvSpPr/>
          <p:nvPr/>
        </p:nvSpPr>
        <p:spPr>
          <a:xfrm>
            <a:off x="914400" y="3520440"/>
            <a:ext cx="7040880" cy="365760"/>
          </a:xfrm>
          <a:prstGeom prst="rect">
            <a:avLst/>
          </a:prstGeom>
          <a:solidFill>
            <a:srgbClr val="FFFFFF"/>
          </a:solidFill>
          <a:ln w="9525">
            <a:solidFill>
              <a:srgbClr val="D6C9B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520440"/>
            <a:ext cx="6858000" cy="365760"/>
          </a:xfrm>
          <a:prstGeom prst="rect">
            <a:avLst/>
          </a:prstGeom>
          <a:noFill/>
        </p:spPr>
        <p:txBody>
          <a:bodyPr wrap="square" lIns="0" rIns="0" tIns="0" bIns="0" anchor="ctr">
            <a:spAutoFit/>
          </a:bodyPr>
          <a:lstStyle/>
          <a:p>
            <a:pPr algn="l">
              <a:lnSpc>
                <a:spcPct val="115000"/>
              </a:lnSpc>
              <a:spcAft>
                <a:spcPts val="0"/>
              </a:spcAft>
            </a:pPr>
            <a:r>
              <a:rPr sz="1000" b="0" i="1">
                <a:solidFill>
                  <a:srgbClr val="1B263B"/>
                </a:solidFill>
                <a:latin typeface="Calibri"/>
              </a:rPr>
              <a:t>Pak Hadi - Peternak Merpati</a:t>
            </a:r>
          </a:p>
        </p:txBody>
      </p:sp>
      <p:sp>
        <p:nvSpPr>
          <p:cNvPr id="21" name="Rectangle 20"/>
          <p:cNvSpPr/>
          <p:nvPr/>
        </p:nvSpPr>
        <p:spPr>
          <a:xfrm>
            <a:off x="914400" y="4023360"/>
            <a:ext cx="3383280" cy="292608"/>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005840" y="4087368"/>
            <a:ext cx="164592" cy="164592"/>
          </a:xfrm>
          <a:prstGeom prst="rect">
            <a:avLst/>
          </a:prstGeom>
          <a:solidFill>
            <a:srgbClr val="0F4C5C"/>
          </a:solidFill>
          <a:ln w="9525">
            <a:solidFill>
              <a:srgbClr val="0F4C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05840" y="4050792"/>
            <a:ext cx="164592" cy="201168"/>
          </a:xfrm>
          <a:prstGeom prst="rect">
            <a:avLst/>
          </a:prstGeom>
          <a:noFill/>
        </p:spPr>
        <p:txBody>
          <a:bodyPr wrap="square" lIns="0" rIns="0" tIns="0" bIns="0" anchor="t">
            <a:spAutoFit/>
          </a:bodyPr>
          <a:lstStyle/>
          <a:p>
            <a:pPr algn="ctr">
              <a:lnSpc>
                <a:spcPct val="115000"/>
              </a:lnSpc>
              <a:spcAft>
                <a:spcPts val="0"/>
              </a:spcAft>
            </a:pPr>
            <a:r>
              <a:rPr sz="1000" b="1" i="0">
                <a:solidFill>
                  <a:srgbClr val="F7F3EC"/>
                </a:solidFill>
                <a:latin typeface="Calibri"/>
              </a:rPr>
              <a:t>✓</a:t>
            </a:r>
          </a:p>
        </p:txBody>
      </p:sp>
      <p:sp>
        <p:nvSpPr>
          <p:cNvPr id="24" name="TextBox 23"/>
          <p:cNvSpPr txBox="1"/>
          <p:nvPr/>
        </p:nvSpPr>
        <p:spPr>
          <a:xfrm>
            <a:off x="1261872" y="4023360"/>
            <a:ext cx="2926080" cy="292608"/>
          </a:xfrm>
          <a:prstGeom prst="rect">
            <a:avLst/>
          </a:prstGeom>
          <a:noFill/>
        </p:spPr>
        <p:txBody>
          <a:bodyPr wrap="square" lIns="0" rIns="0" tIns="0" bIns="0" anchor="ctr">
            <a:spAutoFit/>
          </a:bodyPr>
          <a:lstStyle/>
          <a:p>
            <a:pPr algn="l">
              <a:lnSpc>
                <a:spcPct val="115000"/>
              </a:lnSpc>
              <a:spcAft>
                <a:spcPts val="0"/>
              </a:spcAft>
            </a:pPr>
            <a:r>
              <a:rPr sz="1000" b="0" i="0">
                <a:solidFill>
                  <a:srgbClr val="1B263B"/>
                </a:solidFill>
                <a:latin typeface="Calibri"/>
              </a:rPr>
              <a:t>G03 - Diare</a:t>
            </a:r>
          </a:p>
        </p:txBody>
      </p:sp>
      <p:sp>
        <p:nvSpPr>
          <p:cNvPr id="25" name="Rectangle 24"/>
          <p:cNvSpPr/>
          <p:nvPr/>
        </p:nvSpPr>
        <p:spPr>
          <a:xfrm>
            <a:off x="4480560" y="4023360"/>
            <a:ext cx="3383280" cy="292608"/>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4572000" y="4087368"/>
            <a:ext cx="164592" cy="164592"/>
          </a:xfrm>
          <a:prstGeom prst="rect">
            <a:avLst/>
          </a:prstGeom>
          <a:solidFill>
            <a:srgbClr val="0F4C5C"/>
          </a:solidFill>
          <a:ln w="9525">
            <a:solidFill>
              <a:srgbClr val="0F4C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572000" y="4050792"/>
            <a:ext cx="164592" cy="201168"/>
          </a:xfrm>
          <a:prstGeom prst="rect">
            <a:avLst/>
          </a:prstGeom>
          <a:noFill/>
        </p:spPr>
        <p:txBody>
          <a:bodyPr wrap="square" lIns="0" rIns="0" tIns="0" bIns="0" anchor="t">
            <a:spAutoFit/>
          </a:bodyPr>
          <a:lstStyle/>
          <a:p>
            <a:pPr algn="ctr">
              <a:lnSpc>
                <a:spcPct val="115000"/>
              </a:lnSpc>
              <a:spcAft>
                <a:spcPts val="0"/>
              </a:spcAft>
            </a:pPr>
            <a:r>
              <a:rPr sz="1000" b="1" i="0">
                <a:solidFill>
                  <a:srgbClr val="F7F3EC"/>
                </a:solidFill>
                <a:latin typeface="Calibri"/>
              </a:rPr>
              <a:t>✓</a:t>
            </a:r>
          </a:p>
        </p:txBody>
      </p:sp>
      <p:sp>
        <p:nvSpPr>
          <p:cNvPr id="28" name="TextBox 27"/>
          <p:cNvSpPr txBox="1"/>
          <p:nvPr/>
        </p:nvSpPr>
        <p:spPr>
          <a:xfrm>
            <a:off x="4828032" y="4023360"/>
            <a:ext cx="2926080" cy="292608"/>
          </a:xfrm>
          <a:prstGeom prst="rect">
            <a:avLst/>
          </a:prstGeom>
          <a:noFill/>
        </p:spPr>
        <p:txBody>
          <a:bodyPr wrap="square" lIns="0" rIns="0" tIns="0" bIns="0" anchor="ctr">
            <a:spAutoFit/>
          </a:bodyPr>
          <a:lstStyle/>
          <a:p>
            <a:pPr algn="l">
              <a:lnSpc>
                <a:spcPct val="115000"/>
              </a:lnSpc>
              <a:spcAft>
                <a:spcPts val="0"/>
              </a:spcAft>
            </a:pPr>
            <a:r>
              <a:rPr sz="1000" b="0" i="0">
                <a:solidFill>
                  <a:srgbClr val="1B263B"/>
                </a:solidFill>
                <a:latin typeface="Calibri"/>
              </a:rPr>
              <a:t>G05 - Berat badan menurun</a:t>
            </a:r>
          </a:p>
        </p:txBody>
      </p:sp>
      <p:sp>
        <p:nvSpPr>
          <p:cNvPr id="29" name="Rectangle 28"/>
          <p:cNvSpPr/>
          <p:nvPr/>
        </p:nvSpPr>
        <p:spPr>
          <a:xfrm>
            <a:off x="914400" y="4389120"/>
            <a:ext cx="3383280" cy="292608"/>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1005840" y="4453128"/>
            <a:ext cx="164592" cy="164592"/>
          </a:xfrm>
          <a:prstGeom prst="rect">
            <a:avLst/>
          </a:prstGeom>
          <a:solidFill>
            <a:srgbClr val="FFFFFF"/>
          </a:solidFill>
          <a:ln w="9525">
            <a:solidFill>
              <a:srgbClr val="0F4C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261872" y="4389120"/>
            <a:ext cx="2926080" cy="292608"/>
          </a:xfrm>
          <a:prstGeom prst="rect">
            <a:avLst/>
          </a:prstGeom>
          <a:noFill/>
        </p:spPr>
        <p:txBody>
          <a:bodyPr wrap="square" lIns="0" rIns="0" tIns="0" bIns="0" anchor="ctr">
            <a:spAutoFit/>
          </a:bodyPr>
          <a:lstStyle/>
          <a:p>
            <a:pPr algn="l">
              <a:lnSpc>
                <a:spcPct val="115000"/>
              </a:lnSpc>
              <a:spcAft>
                <a:spcPts val="0"/>
              </a:spcAft>
            </a:pPr>
            <a:r>
              <a:rPr sz="1000" b="0" i="0">
                <a:solidFill>
                  <a:srgbClr val="1B263B"/>
                </a:solidFill>
                <a:latin typeface="Calibri"/>
              </a:rPr>
              <a:t>G04 - Diare berdarah</a:t>
            </a:r>
          </a:p>
        </p:txBody>
      </p:sp>
      <p:sp>
        <p:nvSpPr>
          <p:cNvPr id="32" name="Rectangle 31"/>
          <p:cNvSpPr/>
          <p:nvPr/>
        </p:nvSpPr>
        <p:spPr>
          <a:xfrm>
            <a:off x="4480560" y="4389120"/>
            <a:ext cx="3383280" cy="292608"/>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4572000" y="4453128"/>
            <a:ext cx="164592" cy="164592"/>
          </a:xfrm>
          <a:prstGeom prst="rect">
            <a:avLst/>
          </a:prstGeom>
          <a:solidFill>
            <a:srgbClr val="0F4C5C"/>
          </a:solidFill>
          <a:ln w="9525">
            <a:solidFill>
              <a:srgbClr val="0F4C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4572000" y="4416552"/>
            <a:ext cx="164592" cy="201168"/>
          </a:xfrm>
          <a:prstGeom prst="rect">
            <a:avLst/>
          </a:prstGeom>
          <a:noFill/>
        </p:spPr>
        <p:txBody>
          <a:bodyPr wrap="square" lIns="0" rIns="0" tIns="0" bIns="0" anchor="t">
            <a:spAutoFit/>
          </a:bodyPr>
          <a:lstStyle/>
          <a:p>
            <a:pPr algn="ctr">
              <a:lnSpc>
                <a:spcPct val="115000"/>
              </a:lnSpc>
              <a:spcAft>
                <a:spcPts val="0"/>
              </a:spcAft>
            </a:pPr>
            <a:r>
              <a:rPr sz="1000" b="1" i="0">
                <a:solidFill>
                  <a:srgbClr val="F7F3EC"/>
                </a:solidFill>
                <a:latin typeface="Calibri"/>
              </a:rPr>
              <a:t>✓</a:t>
            </a:r>
          </a:p>
        </p:txBody>
      </p:sp>
      <p:sp>
        <p:nvSpPr>
          <p:cNvPr id="35" name="TextBox 34"/>
          <p:cNvSpPr txBox="1"/>
          <p:nvPr/>
        </p:nvSpPr>
        <p:spPr>
          <a:xfrm>
            <a:off x="4828032" y="4389120"/>
            <a:ext cx="2926080" cy="292608"/>
          </a:xfrm>
          <a:prstGeom prst="rect">
            <a:avLst/>
          </a:prstGeom>
          <a:noFill/>
        </p:spPr>
        <p:txBody>
          <a:bodyPr wrap="square" lIns="0" rIns="0" tIns="0" bIns="0" anchor="ctr">
            <a:spAutoFit/>
          </a:bodyPr>
          <a:lstStyle/>
          <a:p>
            <a:pPr algn="l">
              <a:lnSpc>
                <a:spcPct val="115000"/>
              </a:lnSpc>
              <a:spcAft>
                <a:spcPts val="0"/>
              </a:spcAft>
            </a:pPr>
            <a:r>
              <a:rPr sz="1000" b="0" i="0">
                <a:solidFill>
                  <a:srgbClr val="1B263B"/>
                </a:solidFill>
                <a:latin typeface="Calibri"/>
              </a:rPr>
              <a:t>G25 - Kotoran berlendir</a:t>
            </a:r>
          </a:p>
        </p:txBody>
      </p:sp>
      <p:sp>
        <p:nvSpPr>
          <p:cNvPr id="36" name="Rectangle 35"/>
          <p:cNvSpPr/>
          <p:nvPr/>
        </p:nvSpPr>
        <p:spPr>
          <a:xfrm>
            <a:off x="914400" y="4754880"/>
            <a:ext cx="3383280" cy="292608"/>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1005840" y="4818888"/>
            <a:ext cx="164592" cy="164592"/>
          </a:xfrm>
          <a:prstGeom prst="rect">
            <a:avLst/>
          </a:prstGeom>
          <a:solidFill>
            <a:srgbClr val="0F4C5C"/>
          </a:solidFill>
          <a:ln w="9525">
            <a:solidFill>
              <a:srgbClr val="0F4C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005840" y="4782312"/>
            <a:ext cx="164592" cy="201168"/>
          </a:xfrm>
          <a:prstGeom prst="rect">
            <a:avLst/>
          </a:prstGeom>
          <a:noFill/>
        </p:spPr>
        <p:txBody>
          <a:bodyPr wrap="square" lIns="0" rIns="0" tIns="0" bIns="0" anchor="t">
            <a:spAutoFit/>
          </a:bodyPr>
          <a:lstStyle/>
          <a:p>
            <a:pPr algn="ctr">
              <a:lnSpc>
                <a:spcPct val="115000"/>
              </a:lnSpc>
              <a:spcAft>
                <a:spcPts val="0"/>
              </a:spcAft>
            </a:pPr>
            <a:r>
              <a:rPr sz="1000" b="1" i="0">
                <a:solidFill>
                  <a:srgbClr val="F7F3EC"/>
                </a:solidFill>
                <a:latin typeface="Calibri"/>
              </a:rPr>
              <a:t>✓</a:t>
            </a:r>
          </a:p>
        </p:txBody>
      </p:sp>
      <p:sp>
        <p:nvSpPr>
          <p:cNvPr id="39" name="TextBox 38"/>
          <p:cNvSpPr txBox="1"/>
          <p:nvPr/>
        </p:nvSpPr>
        <p:spPr>
          <a:xfrm>
            <a:off x="1261872" y="4754880"/>
            <a:ext cx="2926080" cy="292608"/>
          </a:xfrm>
          <a:prstGeom prst="rect">
            <a:avLst/>
          </a:prstGeom>
          <a:noFill/>
        </p:spPr>
        <p:txBody>
          <a:bodyPr wrap="square" lIns="0" rIns="0" tIns="0" bIns="0" anchor="ctr">
            <a:spAutoFit/>
          </a:bodyPr>
          <a:lstStyle/>
          <a:p>
            <a:pPr algn="l">
              <a:lnSpc>
                <a:spcPct val="115000"/>
              </a:lnSpc>
              <a:spcAft>
                <a:spcPts val="0"/>
              </a:spcAft>
            </a:pPr>
            <a:r>
              <a:rPr sz="1000" b="0" i="0">
                <a:solidFill>
                  <a:srgbClr val="1B263B"/>
                </a:solidFill>
                <a:latin typeface="Calibri"/>
              </a:rPr>
              <a:t>G01 - Nafsu makan menurun</a:t>
            </a:r>
          </a:p>
        </p:txBody>
      </p:sp>
      <p:sp>
        <p:nvSpPr>
          <p:cNvPr id="40" name="Rectangle 39"/>
          <p:cNvSpPr/>
          <p:nvPr/>
        </p:nvSpPr>
        <p:spPr>
          <a:xfrm>
            <a:off x="4480560" y="4754880"/>
            <a:ext cx="3383280" cy="292608"/>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4572000" y="4818888"/>
            <a:ext cx="164592" cy="164592"/>
          </a:xfrm>
          <a:prstGeom prst="rect">
            <a:avLst/>
          </a:prstGeom>
          <a:solidFill>
            <a:srgbClr val="FFFFFF"/>
          </a:solidFill>
          <a:ln w="9525">
            <a:solidFill>
              <a:srgbClr val="0F4C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4828032" y="4754880"/>
            <a:ext cx="2926080" cy="292608"/>
          </a:xfrm>
          <a:prstGeom prst="rect">
            <a:avLst/>
          </a:prstGeom>
          <a:noFill/>
        </p:spPr>
        <p:txBody>
          <a:bodyPr wrap="square" lIns="0" rIns="0" tIns="0" bIns="0" anchor="ctr">
            <a:spAutoFit/>
          </a:bodyPr>
          <a:lstStyle/>
          <a:p>
            <a:pPr algn="l">
              <a:lnSpc>
                <a:spcPct val="115000"/>
              </a:lnSpc>
              <a:spcAft>
                <a:spcPts val="0"/>
              </a:spcAft>
            </a:pPr>
            <a:r>
              <a:rPr sz="1000" b="0" i="0">
                <a:solidFill>
                  <a:srgbClr val="1B263B"/>
                </a:solidFill>
                <a:latin typeface="Calibri"/>
              </a:rPr>
              <a:t>G02 - Burung terlihat lesu</a:t>
            </a:r>
          </a:p>
        </p:txBody>
      </p:sp>
      <p:sp>
        <p:nvSpPr>
          <p:cNvPr id="43" name="Rectangle 42"/>
          <p:cNvSpPr/>
          <p:nvPr/>
        </p:nvSpPr>
        <p:spPr>
          <a:xfrm>
            <a:off x="914400" y="5148072"/>
            <a:ext cx="2011680" cy="41148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914400" y="5148072"/>
            <a:ext cx="2011680" cy="411480"/>
          </a:xfrm>
          <a:prstGeom prst="rect">
            <a:avLst/>
          </a:prstGeom>
          <a:noFill/>
        </p:spPr>
        <p:txBody>
          <a:bodyPr wrap="square" lIns="0" rIns="0" tIns="0" bIns="0" anchor="ctr">
            <a:spAutoFit/>
          </a:bodyPr>
          <a:lstStyle/>
          <a:p>
            <a:pPr algn="ctr">
              <a:lnSpc>
                <a:spcPct val="115000"/>
              </a:lnSpc>
              <a:spcAft>
                <a:spcPts val="0"/>
              </a:spcAft>
            </a:pPr>
            <a:r>
              <a:rPr sz="1000" b="1" i="0">
                <a:solidFill>
                  <a:srgbClr val="F7F3EC"/>
                </a:solidFill>
                <a:latin typeface="Calibri"/>
              </a:rPr>
              <a:t>JALANKAN DIAGNOSA</a:t>
            </a:r>
          </a:p>
        </p:txBody>
      </p:sp>
      <p:sp>
        <p:nvSpPr>
          <p:cNvPr id="45" name="Rectangle 44"/>
          <p:cNvSpPr/>
          <p:nvPr/>
        </p:nvSpPr>
        <p:spPr>
          <a:xfrm>
            <a:off x="8595360" y="1691640"/>
            <a:ext cx="3108960" cy="40233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8869680" y="1920240"/>
            <a:ext cx="1828800" cy="274320"/>
          </a:xfrm>
          <a:prstGeom prst="rect">
            <a:avLst/>
          </a:prstGeom>
          <a:noFill/>
        </p:spPr>
        <p:txBody>
          <a:bodyPr wrap="square" lIns="0" rIns="0" tIns="0" bIns="0" anchor="t">
            <a:spAutoFit/>
          </a:bodyPr>
          <a:lstStyle/>
          <a:p>
            <a:pPr algn="l">
              <a:lnSpc>
                <a:spcPct val="115000"/>
              </a:lnSpc>
              <a:spcAft>
                <a:spcPts val="0"/>
              </a:spcAft>
            </a:pPr>
            <a:r>
              <a:rPr sz="1000" b="1" i="0">
                <a:solidFill>
                  <a:srgbClr val="E9C46A"/>
                </a:solidFill>
                <a:latin typeface="Calibri"/>
              </a:rPr>
              <a:t>HASIL DIAGNOSA</a:t>
            </a:r>
          </a:p>
        </p:txBody>
      </p:sp>
      <p:sp>
        <p:nvSpPr>
          <p:cNvPr id="47" name="Rectangle 46"/>
          <p:cNvSpPr/>
          <p:nvPr/>
        </p:nvSpPr>
        <p:spPr>
          <a:xfrm>
            <a:off x="8869680" y="2240280"/>
            <a:ext cx="365760" cy="36576"/>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8869680" y="2423160"/>
            <a:ext cx="2560320" cy="274320"/>
          </a:xfrm>
          <a:prstGeom prst="rect">
            <a:avLst/>
          </a:prstGeom>
          <a:noFill/>
        </p:spPr>
        <p:txBody>
          <a:bodyPr wrap="square" lIns="0" rIns="0" tIns="0" bIns="0" anchor="t">
            <a:spAutoFit/>
          </a:bodyPr>
          <a:lstStyle/>
          <a:p>
            <a:pPr algn="l">
              <a:lnSpc>
                <a:spcPct val="110000"/>
              </a:lnSpc>
              <a:spcAft>
                <a:spcPts val="0"/>
              </a:spcAft>
            </a:pPr>
            <a:r>
              <a:rPr sz="1200" b="0" i="0">
                <a:solidFill>
                  <a:srgbClr val="F7F3EC"/>
                </a:solidFill>
                <a:latin typeface="Calibri"/>
              </a:rPr>
              <a:t>Tingkat Kecocokan</a:t>
            </a:r>
          </a:p>
        </p:txBody>
      </p:sp>
      <p:sp>
        <p:nvSpPr>
          <p:cNvPr id="49" name="TextBox 48"/>
          <p:cNvSpPr txBox="1"/>
          <p:nvPr/>
        </p:nvSpPr>
        <p:spPr>
          <a:xfrm>
            <a:off x="8869680" y="2743200"/>
            <a:ext cx="2560320" cy="822960"/>
          </a:xfrm>
          <a:prstGeom prst="rect">
            <a:avLst/>
          </a:prstGeom>
          <a:noFill/>
        </p:spPr>
        <p:txBody>
          <a:bodyPr wrap="square" lIns="0" rIns="0" tIns="0" bIns="0" anchor="t">
            <a:spAutoFit/>
          </a:bodyPr>
          <a:lstStyle/>
          <a:p>
            <a:pPr algn="l">
              <a:lnSpc>
                <a:spcPct val="100000"/>
              </a:lnSpc>
              <a:spcAft>
                <a:spcPts val="0"/>
              </a:spcAft>
            </a:pPr>
            <a:r>
              <a:rPr sz="4800" b="1" i="0">
                <a:solidFill>
                  <a:srgbClr val="E9C46A"/>
                </a:solidFill>
                <a:latin typeface="Georgia"/>
              </a:rPr>
              <a:t>100%</a:t>
            </a:r>
          </a:p>
        </p:txBody>
      </p:sp>
      <p:sp>
        <p:nvSpPr>
          <p:cNvPr id="50" name="Rectangle 49"/>
          <p:cNvSpPr/>
          <p:nvPr/>
        </p:nvSpPr>
        <p:spPr>
          <a:xfrm>
            <a:off x="8869680" y="3611880"/>
            <a:ext cx="2560320" cy="36576"/>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869680" y="3749040"/>
            <a:ext cx="2560320" cy="274320"/>
          </a:xfrm>
          <a:prstGeom prst="rect">
            <a:avLst/>
          </a:prstGeom>
          <a:noFill/>
        </p:spPr>
        <p:txBody>
          <a:bodyPr wrap="square" lIns="0" rIns="0" tIns="0" bIns="0" anchor="t">
            <a:spAutoFit/>
          </a:bodyPr>
          <a:lstStyle/>
          <a:p>
            <a:pPr algn="l">
              <a:lnSpc>
                <a:spcPct val="115000"/>
              </a:lnSpc>
              <a:spcAft>
                <a:spcPts val="0"/>
              </a:spcAft>
            </a:pPr>
            <a:r>
              <a:rPr sz="1000" b="1" i="0">
                <a:solidFill>
                  <a:srgbClr val="E9C46A"/>
                </a:solidFill>
                <a:latin typeface="Calibri"/>
              </a:rPr>
              <a:t>Penyakit Terdeteksi</a:t>
            </a:r>
          </a:p>
        </p:txBody>
      </p:sp>
      <p:sp>
        <p:nvSpPr>
          <p:cNvPr id="52" name="TextBox 51"/>
          <p:cNvSpPr txBox="1"/>
          <p:nvPr/>
        </p:nvSpPr>
        <p:spPr>
          <a:xfrm>
            <a:off x="8869680" y="3977640"/>
            <a:ext cx="2560320" cy="411480"/>
          </a:xfrm>
          <a:prstGeom prst="rect">
            <a:avLst/>
          </a:prstGeom>
          <a:noFill/>
        </p:spPr>
        <p:txBody>
          <a:bodyPr wrap="square" lIns="0" rIns="0" tIns="0" bIns="0" anchor="t">
            <a:spAutoFit/>
          </a:bodyPr>
          <a:lstStyle/>
          <a:p>
            <a:pPr algn="l">
              <a:lnSpc>
                <a:spcPct val="115000"/>
              </a:lnSpc>
              <a:spcAft>
                <a:spcPts val="0"/>
              </a:spcAft>
            </a:pPr>
            <a:r>
              <a:rPr sz="1800" b="1" i="0">
                <a:solidFill>
                  <a:srgbClr val="F7F3EC"/>
                </a:solidFill>
                <a:latin typeface="Georgia"/>
              </a:rPr>
              <a:t>Coccidiosis</a:t>
            </a:r>
          </a:p>
        </p:txBody>
      </p:sp>
      <p:sp>
        <p:nvSpPr>
          <p:cNvPr id="53" name="TextBox 52"/>
          <p:cNvSpPr txBox="1"/>
          <p:nvPr/>
        </p:nvSpPr>
        <p:spPr>
          <a:xfrm>
            <a:off x="8869680" y="4434840"/>
            <a:ext cx="2560320" cy="274320"/>
          </a:xfrm>
          <a:prstGeom prst="rect">
            <a:avLst/>
          </a:prstGeom>
          <a:noFill/>
        </p:spPr>
        <p:txBody>
          <a:bodyPr wrap="square" lIns="0" rIns="0" tIns="0" bIns="0" anchor="t">
            <a:spAutoFit/>
          </a:bodyPr>
          <a:lstStyle/>
          <a:p>
            <a:pPr algn="l">
              <a:lnSpc>
                <a:spcPct val="115000"/>
              </a:lnSpc>
              <a:spcAft>
                <a:spcPts val="0"/>
              </a:spcAft>
            </a:pPr>
            <a:r>
              <a:rPr sz="1000" b="0" i="1">
                <a:solidFill>
                  <a:srgbClr val="E9C46A"/>
                </a:solidFill>
                <a:latin typeface="Calibri"/>
              </a:rPr>
              <a:t>(P03)</a:t>
            </a:r>
          </a:p>
        </p:txBody>
      </p:sp>
      <p:sp>
        <p:nvSpPr>
          <p:cNvPr id="54" name="TextBox 53"/>
          <p:cNvSpPr txBox="1"/>
          <p:nvPr/>
        </p:nvSpPr>
        <p:spPr>
          <a:xfrm>
            <a:off x="8869680" y="4800600"/>
            <a:ext cx="2560320" cy="822960"/>
          </a:xfrm>
          <a:prstGeom prst="rect">
            <a:avLst/>
          </a:prstGeom>
          <a:noFill/>
        </p:spPr>
        <p:txBody>
          <a:bodyPr wrap="square" lIns="0" rIns="0" tIns="0" bIns="0" anchor="t">
            <a:spAutoFit/>
          </a:bodyPr>
          <a:lstStyle/>
          <a:p>
            <a:pPr algn="l">
              <a:lnSpc>
                <a:spcPct val="135000"/>
              </a:lnSpc>
              <a:spcAft>
                <a:spcPts val="0"/>
              </a:spcAft>
            </a:pPr>
            <a:r>
              <a:rPr sz="900" b="0" i="1">
                <a:solidFill>
                  <a:srgbClr val="E8D8C4"/>
                </a:solidFill>
                <a:latin typeface="Calibri"/>
              </a:rPr>
              <a:t>Solusi &amp; Pencegahan tersedia secara lengkap pada halaman hasil diagnosa.</a:t>
            </a:r>
          </a:p>
        </p:txBody>
      </p:sp>
      <p:sp>
        <p:nvSpPr>
          <p:cNvPr id="55" name="TextBox 54"/>
          <p:cNvSpPr txBox="1"/>
          <p:nvPr/>
        </p:nvSpPr>
        <p:spPr>
          <a:xfrm>
            <a:off x="10911535" y="6400800"/>
            <a:ext cx="914400" cy="274320"/>
          </a:xfrm>
          <a:prstGeom prst="rect">
            <a:avLst/>
          </a:prstGeom>
          <a:noFill/>
        </p:spPr>
        <p:txBody>
          <a:bodyPr wrap="square" lIns="0" rIns="0" tIns="0" bIns="0" anchor="t">
            <a:spAutoFit/>
          </a:bodyPr>
          <a:lstStyle/>
          <a:p>
            <a:pPr algn="r">
              <a:lnSpc>
                <a:spcPct val="115000"/>
              </a:lnSpc>
              <a:spcAft>
                <a:spcPts val="0"/>
              </a:spcAft>
            </a:pPr>
            <a:r>
              <a:rPr sz="1000" b="1" i="0">
                <a:solidFill>
                  <a:srgbClr val="5C6B7A"/>
                </a:solidFill>
                <a:latin typeface="Calibri"/>
              </a:rPr>
              <a:t>13 / 15</a:t>
            </a:r>
          </a:p>
        </p:txBody>
      </p:sp>
      <p:sp>
        <p:nvSpPr>
          <p:cNvPr id="56" name="TextBox 55"/>
          <p:cNvSpPr txBox="1"/>
          <p:nvPr/>
        </p:nvSpPr>
        <p:spPr>
          <a:xfrm>
            <a:off x="457200" y="6400800"/>
            <a:ext cx="7315200" cy="274320"/>
          </a:xfrm>
          <a:prstGeom prst="rect">
            <a:avLst/>
          </a:prstGeom>
          <a:noFill/>
        </p:spPr>
        <p:txBody>
          <a:bodyPr wrap="square" lIns="0" rIns="0" tIns="0" bIns="0" anchor="t">
            <a:spAutoFit/>
          </a:bodyPr>
          <a:lstStyle/>
          <a:p>
            <a:pPr algn="l">
              <a:lnSpc>
                <a:spcPct val="115000"/>
              </a:lnSpc>
              <a:spcAft>
                <a:spcPts val="0"/>
              </a:spcAft>
            </a:pPr>
            <a:r>
              <a:rPr sz="1000" b="1" i="0">
                <a:solidFill>
                  <a:srgbClr val="5C6B7A"/>
                </a:solidFill>
                <a:latin typeface="Calibri"/>
              </a:rPr>
              <a:t>Klinik Merpati  •  Sistem Pakar Diagnosa Avian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502920"/>
            <a:ext cx="164592" cy="1645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11480"/>
            <a:ext cx="7315200" cy="320040"/>
          </a:xfrm>
          <a:prstGeom prst="rect">
            <a:avLst/>
          </a:prstGeom>
          <a:noFill/>
        </p:spPr>
        <p:txBody>
          <a:bodyPr wrap="square" lIns="0" rIns="0" tIns="0" bIns="0" anchor="t">
            <a:spAutoFit/>
          </a:bodyPr>
          <a:lstStyle/>
          <a:p>
            <a:pPr algn="l">
              <a:lnSpc>
                <a:spcPct val="115000"/>
              </a:lnSpc>
              <a:spcAft>
                <a:spcPts val="0"/>
              </a:spcAft>
            </a:pPr>
            <a:r>
              <a:rPr sz="1100" b="1" i="0">
                <a:solidFill>
                  <a:srgbClr val="E76F51"/>
                </a:solidFill>
                <a:latin typeface="Calibri"/>
              </a:rPr>
              <a:t>BAB V  •  PENGUJIAN</a:t>
            </a:r>
          </a:p>
        </p:txBody>
      </p:sp>
      <p:sp>
        <p:nvSpPr>
          <p:cNvPr id="5" name="TextBox 4"/>
          <p:cNvSpPr txBox="1"/>
          <p:nvPr/>
        </p:nvSpPr>
        <p:spPr>
          <a:xfrm>
            <a:off x="548640" y="777240"/>
            <a:ext cx="10515600" cy="640080"/>
          </a:xfrm>
          <a:prstGeom prst="rect">
            <a:avLst/>
          </a:prstGeom>
          <a:noFill/>
        </p:spPr>
        <p:txBody>
          <a:bodyPr wrap="square" lIns="0" rIns="0" tIns="0" bIns="0" anchor="t">
            <a:spAutoFit/>
          </a:bodyPr>
          <a:lstStyle/>
          <a:p>
            <a:pPr algn="l">
              <a:lnSpc>
                <a:spcPct val="115000"/>
              </a:lnSpc>
              <a:spcAft>
                <a:spcPts val="0"/>
              </a:spcAft>
            </a:pPr>
            <a:r>
              <a:rPr sz="3200" b="1" i="0">
                <a:solidFill>
                  <a:srgbClr val="0F4C5C"/>
                </a:solidFill>
                <a:latin typeface="Georgia"/>
              </a:rPr>
              <a:t>Tabel Pengujian Black-Box</a:t>
            </a:r>
          </a:p>
        </p:txBody>
      </p:sp>
      <p:sp>
        <p:nvSpPr>
          <p:cNvPr id="6" name="Rectangle 5"/>
          <p:cNvSpPr/>
          <p:nvPr/>
        </p:nvSpPr>
        <p:spPr>
          <a:xfrm>
            <a:off x="7772400" y="1554480"/>
            <a:ext cx="1188720" cy="68580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0" y="1581912"/>
            <a:ext cx="1188720" cy="365760"/>
          </a:xfrm>
          <a:prstGeom prst="rect">
            <a:avLst/>
          </a:prstGeom>
          <a:noFill/>
        </p:spPr>
        <p:txBody>
          <a:bodyPr wrap="square" lIns="0" rIns="0" tIns="0" bIns="0" anchor="ctr">
            <a:spAutoFit/>
          </a:bodyPr>
          <a:lstStyle/>
          <a:p>
            <a:pPr algn="ctr">
              <a:lnSpc>
                <a:spcPct val="115000"/>
              </a:lnSpc>
              <a:spcAft>
                <a:spcPts val="0"/>
              </a:spcAft>
            </a:pPr>
            <a:r>
              <a:rPr sz="1800" b="1" i="0">
                <a:solidFill>
                  <a:srgbClr val="F7F3EC"/>
                </a:solidFill>
                <a:latin typeface="Georgia"/>
              </a:rPr>
              <a:t>19</a:t>
            </a:r>
          </a:p>
        </p:txBody>
      </p:sp>
      <p:sp>
        <p:nvSpPr>
          <p:cNvPr id="8" name="TextBox 7"/>
          <p:cNvSpPr txBox="1"/>
          <p:nvPr/>
        </p:nvSpPr>
        <p:spPr>
          <a:xfrm>
            <a:off x="7772400" y="1938528"/>
            <a:ext cx="1188720" cy="301752"/>
          </a:xfrm>
          <a:prstGeom prst="rect">
            <a:avLst/>
          </a:prstGeom>
          <a:noFill/>
        </p:spPr>
        <p:txBody>
          <a:bodyPr wrap="square" lIns="0" rIns="0" tIns="0" bIns="0" anchor="ctr">
            <a:spAutoFit/>
          </a:bodyPr>
          <a:lstStyle/>
          <a:p>
            <a:pPr algn="ctr">
              <a:lnSpc>
                <a:spcPct val="115000"/>
              </a:lnSpc>
              <a:spcAft>
                <a:spcPts val="0"/>
              </a:spcAft>
            </a:pPr>
            <a:r>
              <a:rPr sz="800" b="1" i="0">
                <a:solidFill>
                  <a:srgbClr val="F7F3EC"/>
                </a:solidFill>
                <a:latin typeface="Calibri"/>
              </a:rPr>
              <a:t>Skenario Pengujian</a:t>
            </a:r>
          </a:p>
        </p:txBody>
      </p:sp>
      <p:sp>
        <p:nvSpPr>
          <p:cNvPr id="9" name="Rectangle 8"/>
          <p:cNvSpPr/>
          <p:nvPr/>
        </p:nvSpPr>
        <p:spPr>
          <a:xfrm>
            <a:off x="9052560" y="1554480"/>
            <a:ext cx="1188720" cy="685800"/>
          </a:xfrm>
          <a:prstGeom prst="rect">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052560" y="1581912"/>
            <a:ext cx="1188720" cy="365760"/>
          </a:xfrm>
          <a:prstGeom prst="rect">
            <a:avLst/>
          </a:prstGeom>
          <a:noFill/>
        </p:spPr>
        <p:txBody>
          <a:bodyPr wrap="square" lIns="0" rIns="0" tIns="0" bIns="0" anchor="ctr">
            <a:spAutoFit/>
          </a:bodyPr>
          <a:lstStyle/>
          <a:p>
            <a:pPr algn="ctr">
              <a:lnSpc>
                <a:spcPct val="115000"/>
              </a:lnSpc>
              <a:spcAft>
                <a:spcPts val="0"/>
              </a:spcAft>
            </a:pPr>
            <a:r>
              <a:rPr sz="1800" b="1" i="0">
                <a:solidFill>
                  <a:srgbClr val="F7F3EC"/>
                </a:solidFill>
                <a:latin typeface="Georgia"/>
              </a:rPr>
              <a:t>100%</a:t>
            </a:r>
          </a:p>
        </p:txBody>
      </p:sp>
      <p:sp>
        <p:nvSpPr>
          <p:cNvPr id="11" name="TextBox 10"/>
          <p:cNvSpPr txBox="1"/>
          <p:nvPr/>
        </p:nvSpPr>
        <p:spPr>
          <a:xfrm>
            <a:off x="9052560" y="1938528"/>
            <a:ext cx="1188720" cy="301752"/>
          </a:xfrm>
          <a:prstGeom prst="rect">
            <a:avLst/>
          </a:prstGeom>
          <a:noFill/>
        </p:spPr>
        <p:txBody>
          <a:bodyPr wrap="square" lIns="0" rIns="0" tIns="0" bIns="0" anchor="ctr">
            <a:spAutoFit/>
          </a:bodyPr>
          <a:lstStyle/>
          <a:p>
            <a:pPr algn="ctr">
              <a:lnSpc>
                <a:spcPct val="115000"/>
              </a:lnSpc>
              <a:spcAft>
                <a:spcPts val="0"/>
              </a:spcAft>
            </a:pPr>
            <a:r>
              <a:rPr sz="800" b="1" i="0">
                <a:solidFill>
                  <a:srgbClr val="F7F3EC"/>
                </a:solidFill>
                <a:latin typeface="Calibri"/>
              </a:rPr>
              <a:t>Berhasil</a:t>
            </a:r>
          </a:p>
        </p:txBody>
      </p:sp>
      <p:sp>
        <p:nvSpPr>
          <p:cNvPr id="12" name="Rectangle 11"/>
          <p:cNvSpPr/>
          <p:nvPr/>
        </p:nvSpPr>
        <p:spPr>
          <a:xfrm>
            <a:off x="10332720" y="1554480"/>
            <a:ext cx="1188720" cy="685800"/>
          </a:xfrm>
          <a:prstGeom prst="rect">
            <a:avLst/>
          </a:prstGeom>
          <a:solidFill>
            <a:srgbClr val="C14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332720" y="1581912"/>
            <a:ext cx="1188720" cy="365760"/>
          </a:xfrm>
          <a:prstGeom prst="rect">
            <a:avLst/>
          </a:prstGeom>
          <a:noFill/>
        </p:spPr>
        <p:txBody>
          <a:bodyPr wrap="square" lIns="0" rIns="0" tIns="0" bIns="0" anchor="ctr">
            <a:spAutoFit/>
          </a:bodyPr>
          <a:lstStyle/>
          <a:p>
            <a:pPr algn="ctr">
              <a:lnSpc>
                <a:spcPct val="115000"/>
              </a:lnSpc>
              <a:spcAft>
                <a:spcPts val="0"/>
              </a:spcAft>
            </a:pPr>
            <a:r>
              <a:rPr sz="1800" b="1" i="0">
                <a:solidFill>
                  <a:srgbClr val="F7F3EC"/>
                </a:solidFill>
                <a:latin typeface="Georgia"/>
              </a:rPr>
              <a:t>0</a:t>
            </a:r>
          </a:p>
        </p:txBody>
      </p:sp>
      <p:sp>
        <p:nvSpPr>
          <p:cNvPr id="14" name="TextBox 13"/>
          <p:cNvSpPr txBox="1"/>
          <p:nvPr/>
        </p:nvSpPr>
        <p:spPr>
          <a:xfrm>
            <a:off x="10332720" y="1938528"/>
            <a:ext cx="1188720" cy="301752"/>
          </a:xfrm>
          <a:prstGeom prst="rect">
            <a:avLst/>
          </a:prstGeom>
          <a:noFill/>
        </p:spPr>
        <p:txBody>
          <a:bodyPr wrap="square" lIns="0" rIns="0" tIns="0" bIns="0" anchor="ctr">
            <a:spAutoFit/>
          </a:bodyPr>
          <a:lstStyle/>
          <a:p>
            <a:pPr algn="ctr">
              <a:lnSpc>
                <a:spcPct val="115000"/>
              </a:lnSpc>
              <a:spcAft>
                <a:spcPts val="0"/>
              </a:spcAft>
            </a:pPr>
            <a:r>
              <a:rPr sz="800" b="1" i="0">
                <a:solidFill>
                  <a:srgbClr val="F7F3EC"/>
                </a:solidFill>
                <a:latin typeface="Calibri"/>
              </a:rPr>
              <a:t>Gagal</a:t>
            </a:r>
          </a:p>
        </p:txBody>
      </p:sp>
      <p:sp>
        <p:nvSpPr>
          <p:cNvPr id="15" name="Rectangle 14"/>
          <p:cNvSpPr/>
          <p:nvPr/>
        </p:nvSpPr>
        <p:spPr>
          <a:xfrm>
            <a:off x="548640" y="2377440"/>
            <a:ext cx="11064240" cy="3657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31520" y="2377440"/>
            <a:ext cx="640080" cy="365760"/>
          </a:xfrm>
          <a:prstGeom prst="rect">
            <a:avLst/>
          </a:prstGeom>
          <a:noFill/>
        </p:spPr>
        <p:txBody>
          <a:bodyPr wrap="square" lIns="0" rIns="0" tIns="0" bIns="0" anchor="ctr">
            <a:spAutoFit/>
          </a:bodyPr>
          <a:lstStyle/>
          <a:p>
            <a:pPr algn="l">
              <a:lnSpc>
                <a:spcPct val="115000"/>
              </a:lnSpc>
              <a:spcAft>
                <a:spcPts val="0"/>
              </a:spcAft>
            </a:pPr>
            <a:r>
              <a:rPr sz="1100" b="1" i="0">
                <a:solidFill>
                  <a:srgbClr val="E9C46A"/>
                </a:solidFill>
                <a:latin typeface="Calibri"/>
              </a:rPr>
              <a:t>NO</a:t>
            </a:r>
          </a:p>
        </p:txBody>
      </p:sp>
      <p:sp>
        <p:nvSpPr>
          <p:cNvPr id="17" name="TextBox 16"/>
          <p:cNvSpPr txBox="1"/>
          <p:nvPr/>
        </p:nvSpPr>
        <p:spPr>
          <a:xfrm>
            <a:off x="1371600" y="2377440"/>
            <a:ext cx="7680960" cy="365760"/>
          </a:xfrm>
          <a:prstGeom prst="rect">
            <a:avLst/>
          </a:prstGeom>
          <a:noFill/>
        </p:spPr>
        <p:txBody>
          <a:bodyPr wrap="square" lIns="0" rIns="0" tIns="0" bIns="0" anchor="ctr">
            <a:spAutoFit/>
          </a:bodyPr>
          <a:lstStyle/>
          <a:p>
            <a:pPr algn="l">
              <a:lnSpc>
                <a:spcPct val="115000"/>
              </a:lnSpc>
              <a:spcAft>
                <a:spcPts val="0"/>
              </a:spcAft>
            </a:pPr>
            <a:r>
              <a:rPr sz="1100" b="1" i="0">
                <a:solidFill>
                  <a:srgbClr val="E9C46A"/>
                </a:solidFill>
                <a:latin typeface="Calibri"/>
              </a:rPr>
              <a:t>PENGUJIAN</a:t>
            </a:r>
          </a:p>
        </p:txBody>
      </p:sp>
      <p:sp>
        <p:nvSpPr>
          <p:cNvPr id="18" name="TextBox 17"/>
          <p:cNvSpPr txBox="1"/>
          <p:nvPr/>
        </p:nvSpPr>
        <p:spPr>
          <a:xfrm>
            <a:off x="9052560" y="2377440"/>
            <a:ext cx="2743200" cy="365760"/>
          </a:xfrm>
          <a:prstGeom prst="rect">
            <a:avLst/>
          </a:prstGeom>
          <a:noFill/>
        </p:spPr>
        <p:txBody>
          <a:bodyPr wrap="square" lIns="0" rIns="0" tIns="0" bIns="0" anchor="ctr">
            <a:spAutoFit/>
          </a:bodyPr>
          <a:lstStyle/>
          <a:p>
            <a:pPr algn="ctr">
              <a:lnSpc>
                <a:spcPct val="115000"/>
              </a:lnSpc>
              <a:spcAft>
                <a:spcPts val="0"/>
              </a:spcAft>
            </a:pPr>
            <a:r>
              <a:rPr sz="1100" b="1" i="0">
                <a:solidFill>
                  <a:srgbClr val="E9C46A"/>
                </a:solidFill>
                <a:latin typeface="Calibri"/>
              </a:rPr>
              <a:t>HASIL</a:t>
            </a:r>
          </a:p>
        </p:txBody>
      </p:sp>
      <p:sp>
        <p:nvSpPr>
          <p:cNvPr id="19" name="Rectangle 18"/>
          <p:cNvSpPr/>
          <p:nvPr/>
        </p:nvSpPr>
        <p:spPr>
          <a:xfrm>
            <a:off x="548640" y="2743200"/>
            <a:ext cx="1106424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31520" y="2743200"/>
            <a:ext cx="640080" cy="292608"/>
          </a:xfrm>
          <a:prstGeom prst="rect">
            <a:avLst/>
          </a:prstGeom>
          <a:noFill/>
        </p:spPr>
        <p:txBody>
          <a:bodyPr wrap="square" lIns="0" rIns="0" tIns="0" bIns="0" anchor="ctr">
            <a:spAutoFit/>
          </a:bodyPr>
          <a:lstStyle/>
          <a:p>
            <a:pPr algn="l">
              <a:lnSpc>
                <a:spcPct val="115000"/>
              </a:lnSpc>
              <a:spcAft>
                <a:spcPts val="0"/>
              </a:spcAft>
            </a:pPr>
            <a:r>
              <a:rPr sz="1000" b="1" i="0">
                <a:solidFill>
                  <a:srgbClr val="0F4C5C"/>
                </a:solidFill>
                <a:latin typeface="Calibri"/>
              </a:rPr>
              <a:t>1</a:t>
            </a:r>
          </a:p>
        </p:txBody>
      </p:sp>
      <p:sp>
        <p:nvSpPr>
          <p:cNvPr id="21" name="TextBox 20"/>
          <p:cNvSpPr txBox="1"/>
          <p:nvPr/>
        </p:nvSpPr>
        <p:spPr>
          <a:xfrm>
            <a:off x="1371600" y="2743200"/>
            <a:ext cx="7680960" cy="292608"/>
          </a:xfrm>
          <a:prstGeom prst="rect">
            <a:avLst/>
          </a:prstGeom>
          <a:noFill/>
        </p:spPr>
        <p:txBody>
          <a:bodyPr wrap="square" lIns="0" rIns="0" tIns="0" bIns="0" anchor="ctr">
            <a:spAutoFit/>
          </a:bodyPr>
          <a:lstStyle/>
          <a:p>
            <a:pPr algn="l">
              <a:lnSpc>
                <a:spcPct val="115000"/>
              </a:lnSpc>
              <a:spcAft>
                <a:spcPts val="0"/>
              </a:spcAft>
            </a:pPr>
            <a:r>
              <a:rPr sz="1000" b="0" i="0">
                <a:solidFill>
                  <a:srgbClr val="1B263B"/>
                </a:solidFill>
                <a:latin typeface="Calibri"/>
              </a:rPr>
              <a:t>Login Admin</a:t>
            </a:r>
          </a:p>
        </p:txBody>
      </p:sp>
      <p:sp>
        <p:nvSpPr>
          <p:cNvPr id="22" name="Rectangle 21"/>
          <p:cNvSpPr/>
          <p:nvPr/>
        </p:nvSpPr>
        <p:spPr>
          <a:xfrm>
            <a:off x="9235440" y="2779776"/>
            <a:ext cx="2011680" cy="219456"/>
          </a:xfrm>
          <a:prstGeom prst="rect">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235440" y="2779776"/>
            <a:ext cx="2011680" cy="219456"/>
          </a:xfrm>
          <a:prstGeom prst="rect">
            <a:avLst/>
          </a:prstGeom>
          <a:noFill/>
        </p:spPr>
        <p:txBody>
          <a:bodyPr wrap="square" lIns="0" rIns="0" tIns="0" bIns="0" anchor="ctr">
            <a:spAutoFit/>
          </a:bodyPr>
          <a:lstStyle/>
          <a:p>
            <a:pPr algn="ctr">
              <a:lnSpc>
                <a:spcPct val="115000"/>
              </a:lnSpc>
              <a:spcAft>
                <a:spcPts val="0"/>
              </a:spcAft>
            </a:pPr>
            <a:r>
              <a:rPr sz="900" b="1" i="0">
                <a:solidFill>
                  <a:srgbClr val="FFFFFF"/>
                </a:solidFill>
                <a:latin typeface="Calibri"/>
              </a:rPr>
              <a:t>✓ Berhasil</a:t>
            </a:r>
          </a:p>
        </p:txBody>
      </p:sp>
      <p:sp>
        <p:nvSpPr>
          <p:cNvPr id="24" name="Rectangle 23"/>
          <p:cNvSpPr/>
          <p:nvPr/>
        </p:nvSpPr>
        <p:spPr>
          <a:xfrm>
            <a:off x="548640" y="3035808"/>
            <a:ext cx="11064240" cy="292608"/>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1520" y="3035808"/>
            <a:ext cx="640080" cy="292608"/>
          </a:xfrm>
          <a:prstGeom prst="rect">
            <a:avLst/>
          </a:prstGeom>
          <a:noFill/>
        </p:spPr>
        <p:txBody>
          <a:bodyPr wrap="square" lIns="0" rIns="0" tIns="0" bIns="0" anchor="ctr">
            <a:spAutoFit/>
          </a:bodyPr>
          <a:lstStyle/>
          <a:p>
            <a:pPr algn="l">
              <a:lnSpc>
                <a:spcPct val="115000"/>
              </a:lnSpc>
              <a:spcAft>
                <a:spcPts val="0"/>
              </a:spcAft>
            </a:pPr>
            <a:r>
              <a:rPr sz="1000" b="1" i="0">
                <a:solidFill>
                  <a:srgbClr val="0F4C5C"/>
                </a:solidFill>
                <a:latin typeface="Calibri"/>
              </a:rPr>
              <a:t>2</a:t>
            </a:r>
          </a:p>
        </p:txBody>
      </p:sp>
      <p:sp>
        <p:nvSpPr>
          <p:cNvPr id="26" name="TextBox 25"/>
          <p:cNvSpPr txBox="1"/>
          <p:nvPr/>
        </p:nvSpPr>
        <p:spPr>
          <a:xfrm>
            <a:off x="1371600" y="3035808"/>
            <a:ext cx="7680960" cy="292608"/>
          </a:xfrm>
          <a:prstGeom prst="rect">
            <a:avLst/>
          </a:prstGeom>
          <a:noFill/>
        </p:spPr>
        <p:txBody>
          <a:bodyPr wrap="square" lIns="0" rIns="0" tIns="0" bIns="0" anchor="ctr">
            <a:spAutoFit/>
          </a:bodyPr>
          <a:lstStyle/>
          <a:p>
            <a:pPr algn="l">
              <a:lnSpc>
                <a:spcPct val="115000"/>
              </a:lnSpc>
              <a:spcAft>
                <a:spcPts val="0"/>
              </a:spcAft>
            </a:pPr>
            <a:r>
              <a:rPr sz="1000" b="0" i="0">
                <a:solidFill>
                  <a:srgbClr val="1B263B"/>
                </a:solidFill>
                <a:latin typeface="Calibri"/>
              </a:rPr>
              <a:t>Login Gagal</a:t>
            </a:r>
          </a:p>
        </p:txBody>
      </p:sp>
      <p:sp>
        <p:nvSpPr>
          <p:cNvPr id="27" name="Rectangle 26"/>
          <p:cNvSpPr/>
          <p:nvPr/>
        </p:nvSpPr>
        <p:spPr>
          <a:xfrm>
            <a:off x="9235440" y="3072384"/>
            <a:ext cx="2011680" cy="219456"/>
          </a:xfrm>
          <a:prstGeom prst="rect">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235440" y="3072384"/>
            <a:ext cx="2011680" cy="219456"/>
          </a:xfrm>
          <a:prstGeom prst="rect">
            <a:avLst/>
          </a:prstGeom>
          <a:noFill/>
        </p:spPr>
        <p:txBody>
          <a:bodyPr wrap="square" lIns="0" rIns="0" tIns="0" bIns="0" anchor="ctr">
            <a:spAutoFit/>
          </a:bodyPr>
          <a:lstStyle/>
          <a:p>
            <a:pPr algn="ctr">
              <a:lnSpc>
                <a:spcPct val="115000"/>
              </a:lnSpc>
              <a:spcAft>
                <a:spcPts val="0"/>
              </a:spcAft>
            </a:pPr>
            <a:r>
              <a:rPr sz="900" b="1" i="0">
                <a:solidFill>
                  <a:srgbClr val="FFFFFF"/>
                </a:solidFill>
                <a:latin typeface="Calibri"/>
              </a:rPr>
              <a:t>✓ Berhasil</a:t>
            </a:r>
          </a:p>
        </p:txBody>
      </p:sp>
      <p:sp>
        <p:nvSpPr>
          <p:cNvPr id="29" name="Rectangle 28"/>
          <p:cNvSpPr/>
          <p:nvPr/>
        </p:nvSpPr>
        <p:spPr>
          <a:xfrm>
            <a:off x="548640" y="3328416"/>
            <a:ext cx="1106424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31520" y="3328416"/>
            <a:ext cx="640080" cy="292608"/>
          </a:xfrm>
          <a:prstGeom prst="rect">
            <a:avLst/>
          </a:prstGeom>
          <a:noFill/>
        </p:spPr>
        <p:txBody>
          <a:bodyPr wrap="square" lIns="0" rIns="0" tIns="0" bIns="0" anchor="ctr">
            <a:spAutoFit/>
          </a:bodyPr>
          <a:lstStyle/>
          <a:p>
            <a:pPr algn="l">
              <a:lnSpc>
                <a:spcPct val="115000"/>
              </a:lnSpc>
              <a:spcAft>
                <a:spcPts val="0"/>
              </a:spcAft>
            </a:pPr>
            <a:r>
              <a:rPr sz="1000" b="1" i="0">
                <a:solidFill>
                  <a:srgbClr val="0F4C5C"/>
                </a:solidFill>
                <a:latin typeface="Calibri"/>
              </a:rPr>
              <a:t>3</a:t>
            </a:r>
          </a:p>
        </p:txBody>
      </p:sp>
      <p:sp>
        <p:nvSpPr>
          <p:cNvPr id="31" name="TextBox 30"/>
          <p:cNvSpPr txBox="1"/>
          <p:nvPr/>
        </p:nvSpPr>
        <p:spPr>
          <a:xfrm>
            <a:off x="1371600" y="3328416"/>
            <a:ext cx="7680960" cy="292608"/>
          </a:xfrm>
          <a:prstGeom prst="rect">
            <a:avLst/>
          </a:prstGeom>
          <a:noFill/>
        </p:spPr>
        <p:txBody>
          <a:bodyPr wrap="square" lIns="0" rIns="0" tIns="0" bIns="0" anchor="ctr">
            <a:spAutoFit/>
          </a:bodyPr>
          <a:lstStyle/>
          <a:p>
            <a:pPr algn="l">
              <a:lnSpc>
                <a:spcPct val="115000"/>
              </a:lnSpc>
              <a:spcAft>
                <a:spcPts val="0"/>
              </a:spcAft>
            </a:pPr>
            <a:r>
              <a:rPr sz="1000" b="0" i="0">
                <a:solidFill>
                  <a:srgbClr val="1B263B"/>
                </a:solidFill>
                <a:latin typeface="Calibri"/>
              </a:rPr>
              <a:t>Logout Admin</a:t>
            </a:r>
          </a:p>
        </p:txBody>
      </p:sp>
      <p:sp>
        <p:nvSpPr>
          <p:cNvPr id="32" name="Rectangle 31"/>
          <p:cNvSpPr/>
          <p:nvPr/>
        </p:nvSpPr>
        <p:spPr>
          <a:xfrm>
            <a:off x="9235440" y="3364992"/>
            <a:ext cx="2011680" cy="219456"/>
          </a:xfrm>
          <a:prstGeom prst="rect">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235440" y="3364992"/>
            <a:ext cx="2011680" cy="219456"/>
          </a:xfrm>
          <a:prstGeom prst="rect">
            <a:avLst/>
          </a:prstGeom>
          <a:noFill/>
        </p:spPr>
        <p:txBody>
          <a:bodyPr wrap="square" lIns="0" rIns="0" tIns="0" bIns="0" anchor="ctr">
            <a:spAutoFit/>
          </a:bodyPr>
          <a:lstStyle/>
          <a:p>
            <a:pPr algn="ctr">
              <a:lnSpc>
                <a:spcPct val="115000"/>
              </a:lnSpc>
              <a:spcAft>
                <a:spcPts val="0"/>
              </a:spcAft>
            </a:pPr>
            <a:r>
              <a:rPr sz="900" b="1" i="0">
                <a:solidFill>
                  <a:srgbClr val="FFFFFF"/>
                </a:solidFill>
                <a:latin typeface="Calibri"/>
              </a:rPr>
              <a:t>✓ Berhasil</a:t>
            </a:r>
          </a:p>
        </p:txBody>
      </p:sp>
      <p:sp>
        <p:nvSpPr>
          <p:cNvPr id="34" name="Rectangle 33"/>
          <p:cNvSpPr/>
          <p:nvPr/>
        </p:nvSpPr>
        <p:spPr>
          <a:xfrm>
            <a:off x="548640" y="3621024"/>
            <a:ext cx="11064240" cy="292608"/>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31520" y="3621024"/>
            <a:ext cx="640080" cy="292608"/>
          </a:xfrm>
          <a:prstGeom prst="rect">
            <a:avLst/>
          </a:prstGeom>
          <a:noFill/>
        </p:spPr>
        <p:txBody>
          <a:bodyPr wrap="square" lIns="0" rIns="0" tIns="0" bIns="0" anchor="ctr">
            <a:spAutoFit/>
          </a:bodyPr>
          <a:lstStyle/>
          <a:p>
            <a:pPr algn="l">
              <a:lnSpc>
                <a:spcPct val="115000"/>
              </a:lnSpc>
              <a:spcAft>
                <a:spcPts val="0"/>
              </a:spcAft>
            </a:pPr>
            <a:r>
              <a:rPr sz="1000" b="1" i="0">
                <a:solidFill>
                  <a:srgbClr val="0F4C5C"/>
                </a:solidFill>
                <a:latin typeface="Calibri"/>
              </a:rPr>
              <a:t>4</a:t>
            </a:r>
          </a:p>
        </p:txBody>
      </p:sp>
      <p:sp>
        <p:nvSpPr>
          <p:cNvPr id="36" name="TextBox 35"/>
          <p:cNvSpPr txBox="1"/>
          <p:nvPr/>
        </p:nvSpPr>
        <p:spPr>
          <a:xfrm>
            <a:off x="1371600" y="3621024"/>
            <a:ext cx="7680960" cy="292608"/>
          </a:xfrm>
          <a:prstGeom prst="rect">
            <a:avLst/>
          </a:prstGeom>
          <a:noFill/>
        </p:spPr>
        <p:txBody>
          <a:bodyPr wrap="square" lIns="0" rIns="0" tIns="0" bIns="0" anchor="ctr">
            <a:spAutoFit/>
          </a:bodyPr>
          <a:lstStyle/>
          <a:p>
            <a:pPr algn="l">
              <a:lnSpc>
                <a:spcPct val="115000"/>
              </a:lnSpc>
              <a:spcAft>
                <a:spcPts val="0"/>
              </a:spcAft>
            </a:pPr>
            <a:r>
              <a:rPr sz="1000" b="0" i="0">
                <a:solidFill>
                  <a:srgbClr val="1B263B"/>
                </a:solidFill>
                <a:latin typeface="Calibri"/>
              </a:rPr>
              <a:t>Tambah Gejala</a:t>
            </a:r>
          </a:p>
        </p:txBody>
      </p:sp>
      <p:sp>
        <p:nvSpPr>
          <p:cNvPr id="37" name="Rectangle 36"/>
          <p:cNvSpPr/>
          <p:nvPr/>
        </p:nvSpPr>
        <p:spPr>
          <a:xfrm>
            <a:off x="9235440" y="3657600"/>
            <a:ext cx="2011680" cy="219456"/>
          </a:xfrm>
          <a:prstGeom prst="rect">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235440" y="3657600"/>
            <a:ext cx="2011680" cy="219456"/>
          </a:xfrm>
          <a:prstGeom prst="rect">
            <a:avLst/>
          </a:prstGeom>
          <a:noFill/>
        </p:spPr>
        <p:txBody>
          <a:bodyPr wrap="square" lIns="0" rIns="0" tIns="0" bIns="0" anchor="ctr">
            <a:spAutoFit/>
          </a:bodyPr>
          <a:lstStyle/>
          <a:p>
            <a:pPr algn="ctr">
              <a:lnSpc>
                <a:spcPct val="115000"/>
              </a:lnSpc>
              <a:spcAft>
                <a:spcPts val="0"/>
              </a:spcAft>
            </a:pPr>
            <a:r>
              <a:rPr sz="900" b="1" i="0">
                <a:solidFill>
                  <a:srgbClr val="FFFFFF"/>
                </a:solidFill>
                <a:latin typeface="Calibri"/>
              </a:rPr>
              <a:t>✓ Berhasil</a:t>
            </a:r>
          </a:p>
        </p:txBody>
      </p:sp>
      <p:sp>
        <p:nvSpPr>
          <p:cNvPr id="39" name="Rectangle 38"/>
          <p:cNvSpPr/>
          <p:nvPr/>
        </p:nvSpPr>
        <p:spPr>
          <a:xfrm>
            <a:off x="548640" y="3913632"/>
            <a:ext cx="1106424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31520" y="3913632"/>
            <a:ext cx="640080" cy="292608"/>
          </a:xfrm>
          <a:prstGeom prst="rect">
            <a:avLst/>
          </a:prstGeom>
          <a:noFill/>
        </p:spPr>
        <p:txBody>
          <a:bodyPr wrap="square" lIns="0" rIns="0" tIns="0" bIns="0" anchor="ctr">
            <a:spAutoFit/>
          </a:bodyPr>
          <a:lstStyle/>
          <a:p>
            <a:pPr algn="l">
              <a:lnSpc>
                <a:spcPct val="115000"/>
              </a:lnSpc>
              <a:spcAft>
                <a:spcPts val="0"/>
              </a:spcAft>
            </a:pPr>
            <a:r>
              <a:rPr sz="1000" b="1" i="0">
                <a:solidFill>
                  <a:srgbClr val="0F4C5C"/>
                </a:solidFill>
                <a:latin typeface="Calibri"/>
              </a:rPr>
              <a:t>5</a:t>
            </a:r>
          </a:p>
        </p:txBody>
      </p:sp>
      <p:sp>
        <p:nvSpPr>
          <p:cNvPr id="41" name="TextBox 40"/>
          <p:cNvSpPr txBox="1"/>
          <p:nvPr/>
        </p:nvSpPr>
        <p:spPr>
          <a:xfrm>
            <a:off x="1371600" y="3913632"/>
            <a:ext cx="7680960" cy="292608"/>
          </a:xfrm>
          <a:prstGeom prst="rect">
            <a:avLst/>
          </a:prstGeom>
          <a:noFill/>
        </p:spPr>
        <p:txBody>
          <a:bodyPr wrap="square" lIns="0" rIns="0" tIns="0" bIns="0" anchor="ctr">
            <a:spAutoFit/>
          </a:bodyPr>
          <a:lstStyle/>
          <a:p>
            <a:pPr algn="l">
              <a:lnSpc>
                <a:spcPct val="115000"/>
              </a:lnSpc>
              <a:spcAft>
                <a:spcPts val="0"/>
              </a:spcAft>
            </a:pPr>
            <a:r>
              <a:rPr sz="1000" b="0" i="0">
                <a:solidFill>
                  <a:srgbClr val="1B263B"/>
                </a:solidFill>
                <a:latin typeface="Calibri"/>
              </a:rPr>
              <a:t>Edit Gejala</a:t>
            </a:r>
          </a:p>
        </p:txBody>
      </p:sp>
      <p:sp>
        <p:nvSpPr>
          <p:cNvPr id="42" name="Rectangle 41"/>
          <p:cNvSpPr/>
          <p:nvPr/>
        </p:nvSpPr>
        <p:spPr>
          <a:xfrm>
            <a:off x="9235440" y="3950208"/>
            <a:ext cx="2011680" cy="219456"/>
          </a:xfrm>
          <a:prstGeom prst="rect">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235440" y="3950208"/>
            <a:ext cx="2011680" cy="219456"/>
          </a:xfrm>
          <a:prstGeom prst="rect">
            <a:avLst/>
          </a:prstGeom>
          <a:noFill/>
        </p:spPr>
        <p:txBody>
          <a:bodyPr wrap="square" lIns="0" rIns="0" tIns="0" bIns="0" anchor="ctr">
            <a:spAutoFit/>
          </a:bodyPr>
          <a:lstStyle/>
          <a:p>
            <a:pPr algn="ctr">
              <a:lnSpc>
                <a:spcPct val="115000"/>
              </a:lnSpc>
              <a:spcAft>
                <a:spcPts val="0"/>
              </a:spcAft>
            </a:pPr>
            <a:r>
              <a:rPr sz="900" b="1" i="0">
                <a:solidFill>
                  <a:srgbClr val="FFFFFF"/>
                </a:solidFill>
                <a:latin typeface="Calibri"/>
              </a:rPr>
              <a:t>✓ Berhasil</a:t>
            </a:r>
          </a:p>
        </p:txBody>
      </p:sp>
      <p:sp>
        <p:nvSpPr>
          <p:cNvPr id="44" name="Rectangle 43"/>
          <p:cNvSpPr/>
          <p:nvPr/>
        </p:nvSpPr>
        <p:spPr>
          <a:xfrm>
            <a:off x="548640" y="4206240"/>
            <a:ext cx="11064240" cy="292608"/>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31520" y="4206240"/>
            <a:ext cx="640080" cy="292608"/>
          </a:xfrm>
          <a:prstGeom prst="rect">
            <a:avLst/>
          </a:prstGeom>
          <a:noFill/>
        </p:spPr>
        <p:txBody>
          <a:bodyPr wrap="square" lIns="0" rIns="0" tIns="0" bIns="0" anchor="ctr">
            <a:spAutoFit/>
          </a:bodyPr>
          <a:lstStyle/>
          <a:p>
            <a:pPr algn="l">
              <a:lnSpc>
                <a:spcPct val="115000"/>
              </a:lnSpc>
              <a:spcAft>
                <a:spcPts val="0"/>
              </a:spcAft>
            </a:pPr>
            <a:r>
              <a:rPr sz="1000" b="1" i="0">
                <a:solidFill>
                  <a:srgbClr val="0F4C5C"/>
                </a:solidFill>
                <a:latin typeface="Calibri"/>
              </a:rPr>
              <a:t>6</a:t>
            </a:r>
          </a:p>
        </p:txBody>
      </p:sp>
      <p:sp>
        <p:nvSpPr>
          <p:cNvPr id="46" name="TextBox 45"/>
          <p:cNvSpPr txBox="1"/>
          <p:nvPr/>
        </p:nvSpPr>
        <p:spPr>
          <a:xfrm>
            <a:off x="1371600" y="4206240"/>
            <a:ext cx="7680960" cy="292608"/>
          </a:xfrm>
          <a:prstGeom prst="rect">
            <a:avLst/>
          </a:prstGeom>
          <a:noFill/>
        </p:spPr>
        <p:txBody>
          <a:bodyPr wrap="square" lIns="0" rIns="0" tIns="0" bIns="0" anchor="ctr">
            <a:spAutoFit/>
          </a:bodyPr>
          <a:lstStyle/>
          <a:p>
            <a:pPr algn="l">
              <a:lnSpc>
                <a:spcPct val="115000"/>
              </a:lnSpc>
              <a:spcAft>
                <a:spcPts val="0"/>
              </a:spcAft>
            </a:pPr>
            <a:r>
              <a:rPr sz="1000" b="0" i="0">
                <a:solidFill>
                  <a:srgbClr val="1B263B"/>
                </a:solidFill>
                <a:latin typeface="Calibri"/>
              </a:rPr>
              <a:t>Hapus Gejala</a:t>
            </a:r>
          </a:p>
        </p:txBody>
      </p:sp>
      <p:sp>
        <p:nvSpPr>
          <p:cNvPr id="47" name="Rectangle 46"/>
          <p:cNvSpPr/>
          <p:nvPr/>
        </p:nvSpPr>
        <p:spPr>
          <a:xfrm>
            <a:off x="9235440" y="4242816"/>
            <a:ext cx="2011680" cy="219456"/>
          </a:xfrm>
          <a:prstGeom prst="rect">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9235440" y="4242816"/>
            <a:ext cx="2011680" cy="219456"/>
          </a:xfrm>
          <a:prstGeom prst="rect">
            <a:avLst/>
          </a:prstGeom>
          <a:noFill/>
        </p:spPr>
        <p:txBody>
          <a:bodyPr wrap="square" lIns="0" rIns="0" tIns="0" bIns="0" anchor="ctr">
            <a:spAutoFit/>
          </a:bodyPr>
          <a:lstStyle/>
          <a:p>
            <a:pPr algn="ctr">
              <a:lnSpc>
                <a:spcPct val="115000"/>
              </a:lnSpc>
              <a:spcAft>
                <a:spcPts val="0"/>
              </a:spcAft>
            </a:pPr>
            <a:r>
              <a:rPr sz="900" b="1" i="0">
                <a:solidFill>
                  <a:srgbClr val="FFFFFF"/>
                </a:solidFill>
                <a:latin typeface="Calibri"/>
              </a:rPr>
              <a:t>✓ Berhasil</a:t>
            </a:r>
          </a:p>
        </p:txBody>
      </p:sp>
      <p:sp>
        <p:nvSpPr>
          <p:cNvPr id="49" name="Rectangle 48"/>
          <p:cNvSpPr/>
          <p:nvPr/>
        </p:nvSpPr>
        <p:spPr>
          <a:xfrm>
            <a:off x="548640" y="4498848"/>
            <a:ext cx="1106424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731520" y="4498848"/>
            <a:ext cx="640080" cy="292608"/>
          </a:xfrm>
          <a:prstGeom prst="rect">
            <a:avLst/>
          </a:prstGeom>
          <a:noFill/>
        </p:spPr>
        <p:txBody>
          <a:bodyPr wrap="square" lIns="0" rIns="0" tIns="0" bIns="0" anchor="ctr">
            <a:spAutoFit/>
          </a:bodyPr>
          <a:lstStyle/>
          <a:p>
            <a:pPr algn="l">
              <a:lnSpc>
                <a:spcPct val="115000"/>
              </a:lnSpc>
              <a:spcAft>
                <a:spcPts val="0"/>
              </a:spcAft>
            </a:pPr>
            <a:r>
              <a:rPr sz="1000" b="1" i="0">
                <a:solidFill>
                  <a:srgbClr val="0F4C5C"/>
                </a:solidFill>
                <a:latin typeface="Calibri"/>
              </a:rPr>
              <a:t>7</a:t>
            </a:r>
          </a:p>
        </p:txBody>
      </p:sp>
      <p:sp>
        <p:nvSpPr>
          <p:cNvPr id="51" name="TextBox 50"/>
          <p:cNvSpPr txBox="1"/>
          <p:nvPr/>
        </p:nvSpPr>
        <p:spPr>
          <a:xfrm>
            <a:off x="1371600" y="4498848"/>
            <a:ext cx="7680960" cy="292608"/>
          </a:xfrm>
          <a:prstGeom prst="rect">
            <a:avLst/>
          </a:prstGeom>
          <a:noFill/>
        </p:spPr>
        <p:txBody>
          <a:bodyPr wrap="square" lIns="0" rIns="0" tIns="0" bIns="0" anchor="ctr">
            <a:spAutoFit/>
          </a:bodyPr>
          <a:lstStyle/>
          <a:p>
            <a:pPr algn="l">
              <a:lnSpc>
                <a:spcPct val="115000"/>
              </a:lnSpc>
              <a:spcAft>
                <a:spcPts val="0"/>
              </a:spcAft>
            </a:pPr>
            <a:r>
              <a:rPr sz="1000" b="0" i="0">
                <a:solidFill>
                  <a:srgbClr val="1B263B"/>
                </a:solidFill>
                <a:latin typeface="Calibri"/>
              </a:rPr>
              <a:t>Tambah Penyakit</a:t>
            </a:r>
          </a:p>
        </p:txBody>
      </p:sp>
      <p:sp>
        <p:nvSpPr>
          <p:cNvPr id="52" name="Rectangle 51"/>
          <p:cNvSpPr/>
          <p:nvPr/>
        </p:nvSpPr>
        <p:spPr>
          <a:xfrm>
            <a:off x="9235440" y="4535424"/>
            <a:ext cx="2011680" cy="219456"/>
          </a:xfrm>
          <a:prstGeom prst="rect">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9235440" y="4535424"/>
            <a:ext cx="2011680" cy="219456"/>
          </a:xfrm>
          <a:prstGeom prst="rect">
            <a:avLst/>
          </a:prstGeom>
          <a:noFill/>
        </p:spPr>
        <p:txBody>
          <a:bodyPr wrap="square" lIns="0" rIns="0" tIns="0" bIns="0" anchor="ctr">
            <a:spAutoFit/>
          </a:bodyPr>
          <a:lstStyle/>
          <a:p>
            <a:pPr algn="ctr">
              <a:lnSpc>
                <a:spcPct val="115000"/>
              </a:lnSpc>
              <a:spcAft>
                <a:spcPts val="0"/>
              </a:spcAft>
            </a:pPr>
            <a:r>
              <a:rPr sz="900" b="1" i="0">
                <a:solidFill>
                  <a:srgbClr val="FFFFFF"/>
                </a:solidFill>
                <a:latin typeface="Calibri"/>
              </a:rPr>
              <a:t>✓ Berhasil</a:t>
            </a:r>
          </a:p>
        </p:txBody>
      </p:sp>
      <p:sp>
        <p:nvSpPr>
          <p:cNvPr id="54" name="Rectangle 53"/>
          <p:cNvSpPr/>
          <p:nvPr/>
        </p:nvSpPr>
        <p:spPr>
          <a:xfrm>
            <a:off x="548640" y="4791456"/>
            <a:ext cx="11064240" cy="292608"/>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731520" y="4791456"/>
            <a:ext cx="640080" cy="292608"/>
          </a:xfrm>
          <a:prstGeom prst="rect">
            <a:avLst/>
          </a:prstGeom>
          <a:noFill/>
        </p:spPr>
        <p:txBody>
          <a:bodyPr wrap="square" lIns="0" rIns="0" tIns="0" bIns="0" anchor="ctr">
            <a:spAutoFit/>
          </a:bodyPr>
          <a:lstStyle/>
          <a:p>
            <a:pPr algn="l">
              <a:lnSpc>
                <a:spcPct val="115000"/>
              </a:lnSpc>
              <a:spcAft>
                <a:spcPts val="0"/>
              </a:spcAft>
            </a:pPr>
            <a:r>
              <a:rPr sz="1000" b="1" i="0">
                <a:solidFill>
                  <a:srgbClr val="0F4C5C"/>
                </a:solidFill>
                <a:latin typeface="Calibri"/>
              </a:rPr>
              <a:t>8</a:t>
            </a:r>
          </a:p>
        </p:txBody>
      </p:sp>
      <p:sp>
        <p:nvSpPr>
          <p:cNvPr id="56" name="TextBox 55"/>
          <p:cNvSpPr txBox="1"/>
          <p:nvPr/>
        </p:nvSpPr>
        <p:spPr>
          <a:xfrm>
            <a:off x="1371600" y="4791456"/>
            <a:ext cx="7680960" cy="292608"/>
          </a:xfrm>
          <a:prstGeom prst="rect">
            <a:avLst/>
          </a:prstGeom>
          <a:noFill/>
        </p:spPr>
        <p:txBody>
          <a:bodyPr wrap="square" lIns="0" rIns="0" tIns="0" bIns="0" anchor="ctr">
            <a:spAutoFit/>
          </a:bodyPr>
          <a:lstStyle/>
          <a:p>
            <a:pPr algn="l">
              <a:lnSpc>
                <a:spcPct val="115000"/>
              </a:lnSpc>
              <a:spcAft>
                <a:spcPts val="0"/>
              </a:spcAft>
            </a:pPr>
            <a:r>
              <a:rPr sz="1000" b="0" i="0">
                <a:solidFill>
                  <a:srgbClr val="1B263B"/>
                </a:solidFill>
                <a:latin typeface="Calibri"/>
              </a:rPr>
              <a:t>Konsultasi</a:t>
            </a:r>
          </a:p>
        </p:txBody>
      </p:sp>
      <p:sp>
        <p:nvSpPr>
          <p:cNvPr id="57" name="Rectangle 56"/>
          <p:cNvSpPr/>
          <p:nvPr/>
        </p:nvSpPr>
        <p:spPr>
          <a:xfrm>
            <a:off x="9235440" y="4828032"/>
            <a:ext cx="2011680" cy="219456"/>
          </a:xfrm>
          <a:prstGeom prst="rect">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9235440" y="4828032"/>
            <a:ext cx="2011680" cy="219456"/>
          </a:xfrm>
          <a:prstGeom prst="rect">
            <a:avLst/>
          </a:prstGeom>
          <a:noFill/>
        </p:spPr>
        <p:txBody>
          <a:bodyPr wrap="square" lIns="0" rIns="0" tIns="0" bIns="0" anchor="ctr">
            <a:spAutoFit/>
          </a:bodyPr>
          <a:lstStyle/>
          <a:p>
            <a:pPr algn="ctr">
              <a:lnSpc>
                <a:spcPct val="115000"/>
              </a:lnSpc>
              <a:spcAft>
                <a:spcPts val="0"/>
              </a:spcAft>
            </a:pPr>
            <a:r>
              <a:rPr sz="900" b="1" i="0">
                <a:solidFill>
                  <a:srgbClr val="FFFFFF"/>
                </a:solidFill>
                <a:latin typeface="Calibri"/>
              </a:rPr>
              <a:t>✓ Berhasil</a:t>
            </a:r>
          </a:p>
        </p:txBody>
      </p:sp>
      <p:sp>
        <p:nvSpPr>
          <p:cNvPr id="59" name="Rectangle 58"/>
          <p:cNvSpPr/>
          <p:nvPr/>
        </p:nvSpPr>
        <p:spPr>
          <a:xfrm>
            <a:off x="548640" y="5084064"/>
            <a:ext cx="1106424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731520" y="5084064"/>
            <a:ext cx="640080" cy="292608"/>
          </a:xfrm>
          <a:prstGeom prst="rect">
            <a:avLst/>
          </a:prstGeom>
          <a:noFill/>
        </p:spPr>
        <p:txBody>
          <a:bodyPr wrap="square" lIns="0" rIns="0" tIns="0" bIns="0" anchor="ctr">
            <a:spAutoFit/>
          </a:bodyPr>
          <a:lstStyle/>
          <a:p>
            <a:pPr algn="l">
              <a:lnSpc>
                <a:spcPct val="115000"/>
              </a:lnSpc>
              <a:spcAft>
                <a:spcPts val="0"/>
              </a:spcAft>
            </a:pPr>
            <a:r>
              <a:rPr sz="1000" b="1" i="0">
                <a:solidFill>
                  <a:srgbClr val="0F4C5C"/>
                </a:solidFill>
                <a:latin typeface="Calibri"/>
              </a:rPr>
              <a:t>9</a:t>
            </a:r>
          </a:p>
        </p:txBody>
      </p:sp>
      <p:sp>
        <p:nvSpPr>
          <p:cNvPr id="61" name="TextBox 60"/>
          <p:cNvSpPr txBox="1"/>
          <p:nvPr/>
        </p:nvSpPr>
        <p:spPr>
          <a:xfrm>
            <a:off x="1371600" y="5084064"/>
            <a:ext cx="7680960" cy="292608"/>
          </a:xfrm>
          <a:prstGeom prst="rect">
            <a:avLst/>
          </a:prstGeom>
          <a:noFill/>
        </p:spPr>
        <p:txBody>
          <a:bodyPr wrap="square" lIns="0" rIns="0" tIns="0" bIns="0" anchor="ctr">
            <a:spAutoFit/>
          </a:bodyPr>
          <a:lstStyle/>
          <a:p>
            <a:pPr algn="l">
              <a:lnSpc>
                <a:spcPct val="115000"/>
              </a:lnSpc>
              <a:spcAft>
                <a:spcPts val="0"/>
              </a:spcAft>
            </a:pPr>
            <a:r>
              <a:rPr sz="1000" b="0" i="0">
                <a:solidFill>
                  <a:srgbClr val="1B263B"/>
                </a:solidFill>
                <a:latin typeface="Calibri"/>
              </a:rPr>
              <a:t>Hasil Diagnosa</a:t>
            </a:r>
          </a:p>
        </p:txBody>
      </p:sp>
      <p:sp>
        <p:nvSpPr>
          <p:cNvPr id="62" name="Rectangle 61"/>
          <p:cNvSpPr/>
          <p:nvPr/>
        </p:nvSpPr>
        <p:spPr>
          <a:xfrm>
            <a:off x="9235440" y="5120640"/>
            <a:ext cx="2011680" cy="219456"/>
          </a:xfrm>
          <a:prstGeom prst="rect">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9235440" y="5120640"/>
            <a:ext cx="2011680" cy="219456"/>
          </a:xfrm>
          <a:prstGeom prst="rect">
            <a:avLst/>
          </a:prstGeom>
          <a:noFill/>
        </p:spPr>
        <p:txBody>
          <a:bodyPr wrap="square" lIns="0" rIns="0" tIns="0" bIns="0" anchor="ctr">
            <a:spAutoFit/>
          </a:bodyPr>
          <a:lstStyle/>
          <a:p>
            <a:pPr algn="ctr">
              <a:lnSpc>
                <a:spcPct val="115000"/>
              </a:lnSpc>
              <a:spcAft>
                <a:spcPts val="0"/>
              </a:spcAft>
            </a:pPr>
            <a:r>
              <a:rPr sz="900" b="1" i="0">
                <a:solidFill>
                  <a:srgbClr val="FFFFFF"/>
                </a:solidFill>
                <a:latin typeface="Calibri"/>
              </a:rPr>
              <a:t>✓ Berhasil</a:t>
            </a:r>
          </a:p>
        </p:txBody>
      </p:sp>
      <p:sp>
        <p:nvSpPr>
          <p:cNvPr id="64" name="Rectangle 63"/>
          <p:cNvSpPr/>
          <p:nvPr/>
        </p:nvSpPr>
        <p:spPr>
          <a:xfrm>
            <a:off x="548640" y="5376672"/>
            <a:ext cx="11064240" cy="292608"/>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731520" y="5376672"/>
            <a:ext cx="640080" cy="292608"/>
          </a:xfrm>
          <a:prstGeom prst="rect">
            <a:avLst/>
          </a:prstGeom>
          <a:noFill/>
        </p:spPr>
        <p:txBody>
          <a:bodyPr wrap="square" lIns="0" rIns="0" tIns="0" bIns="0" anchor="ctr">
            <a:spAutoFit/>
          </a:bodyPr>
          <a:lstStyle/>
          <a:p>
            <a:pPr algn="l">
              <a:lnSpc>
                <a:spcPct val="115000"/>
              </a:lnSpc>
              <a:spcAft>
                <a:spcPts val="0"/>
              </a:spcAft>
            </a:pPr>
            <a:r>
              <a:rPr sz="1000" b="1" i="0">
                <a:solidFill>
                  <a:srgbClr val="0F4C5C"/>
                </a:solidFill>
                <a:latin typeface="Calibri"/>
              </a:rPr>
              <a:t>10</a:t>
            </a:r>
          </a:p>
        </p:txBody>
      </p:sp>
      <p:sp>
        <p:nvSpPr>
          <p:cNvPr id="66" name="TextBox 65"/>
          <p:cNvSpPr txBox="1"/>
          <p:nvPr/>
        </p:nvSpPr>
        <p:spPr>
          <a:xfrm>
            <a:off x="1371600" y="5376672"/>
            <a:ext cx="7680960" cy="292608"/>
          </a:xfrm>
          <a:prstGeom prst="rect">
            <a:avLst/>
          </a:prstGeom>
          <a:noFill/>
        </p:spPr>
        <p:txBody>
          <a:bodyPr wrap="square" lIns="0" rIns="0" tIns="0" bIns="0" anchor="ctr">
            <a:spAutoFit/>
          </a:bodyPr>
          <a:lstStyle/>
          <a:p>
            <a:pPr algn="l">
              <a:lnSpc>
                <a:spcPct val="115000"/>
              </a:lnSpc>
              <a:spcAft>
                <a:spcPts val="0"/>
              </a:spcAft>
            </a:pPr>
            <a:r>
              <a:rPr sz="1000" b="0" i="0">
                <a:solidFill>
                  <a:srgbClr val="1B263B"/>
                </a:solidFill>
                <a:latin typeface="Calibri"/>
              </a:rPr>
              <a:t>Cari Riwayat</a:t>
            </a:r>
          </a:p>
        </p:txBody>
      </p:sp>
      <p:sp>
        <p:nvSpPr>
          <p:cNvPr id="67" name="Rectangle 66"/>
          <p:cNvSpPr/>
          <p:nvPr/>
        </p:nvSpPr>
        <p:spPr>
          <a:xfrm>
            <a:off x="9235440" y="5413248"/>
            <a:ext cx="2011680" cy="219456"/>
          </a:xfrm>
          <a:prstGeom prst="rect">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9235440" y="5413248"/>
            <a:ext cx="2011680" cy="219456"/>
          </a:xfrm>
          <a:prstGeom prst="rect">
            <a:avLst/>
          </a:prstGeom>
          <a:noFill/>
        </p:spPr>
        <p:txBody>
          <a:bodyPr wrap="square" lIns="0" rIns="0" tIns="0" bIns="0" anchor="ctr">
            <a:spAutoFit/>
          </a:bodyPr>
          <a:lstStyle/>
          <a:p>
            <a:pPr algn="ctr">
              <a:lnSpc>
                <a:spcPct val="115000"/>
              </a:lnSpc>
              <a:spcAft>
                <a:spcPts val="0"/>
              </a:spcAft>
            </a:pPr>
            <a:r>
              <a:rPr sz="900" b="1" i="0">
                <a:solidFill>
                  <a:srgbClr val="FFFFFF"/>
                </a:solidFill>
                <a:latin typeface="Calibri"/>
              </a:rPr>
              <a:t>✓ Berhasil</a:t>
            </a:r>
          </a:p>
        </p:txBody>
      </p:sp>
      <p:sp>
        <p:nvSpPr>
          <p:cNvPr id="69" name="Rectangle 68"/>
          <p:cNvSpPr/>
          <p:nvPr/>
        </p:nvSpPr>
        <p:spPr>
          <a:xfrm>
            <a:off x="548640" y="5852160"/>
            <a:ext cx="11064240" cy="4114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777240" y="5852160"/>
            <a:ext cx="10607040" cy="411480"/>
          </a:xfrm>
          <a:prstGeom prst="rect">
            <a:avLst/>
          </a:prstGeom>
          <a:noFill/>
        </p:spPr>
        <p:txBody>
          <a:bodyPr wrap="square" lIns="0" rIns="0" tIns="0" bIns="0" anchor="ctr">
            <a:spAutoFit/>
          </a:bodyPr>
          <a:lstStyle/>
          <a:p>
            <a:pPr algn="l">
              <a:lnSpc>
                <a:spcPct val="115000"/>
              </a:lnSpc>
              <a:spcAft>
                <a:spcPts val="0"/>
              </a:spcAft>
            </a:pPr>
            <a:r>
              <a:rPr sz="1100" b="0" i="1">
                <a:solidFill>
                  <a:srgbClr val="F7F3EC"/>
                </a:solidFill>
                <a:latin typeface="Calibri"/>
              </a:rPr>
              <a:t>Seluruh 19 skenario pengujian Black-Box menunjukkan status BERHASIL — sistem berfungsi sesuai spesifikasi.</a:t>
            </a:r>
          </a:p>
        </p:txBody>
      </p:sp>
      <p:sp>
        <p:nvSpPr>
          <p:cNvPr id="71" name="TextBox 70"/>
          <p:cNvSpPr txBox="1"/>
          <p:nvPr/>
        </p:nvSpPr>
        <p:spPr>
          <a:xfrm>
            <a:off x="10911535" y="6400800"/>
            <a:ext cx="914400" cy="274320"/>
          </a:xfrm>
          <a:prstGeom prst="rect">
            <a:avLst/>
          </a:prstGeom>
          <a:noFill/>
        </p:spPr>
        <p:txBody>
          <a:bodyPr wrap="square" lIns="0" rIns="0" tIns="0" bIns="0" anchor="t">
            <a:spAutoFit/>
          </a:bodyPr>
          <a:lstStyle/>
          <a:p>
            <a:pPr algn="r">
              <a:lnSpc>
                <a:spcPct val="115000"/>
              </a:lnSpc>
              <a:spcAft>
                <a:spcPts val="0"/>
              </a:spcAft>
            </a:pPr>
            <a:r>
              <a:rPr sz="1000" b="1" i="0">
                <a:solidFill>
                  <a:srgbClr val="5C6B7A"/>
                </a:solidFill>
                <a:latin typeface="Calibri"/>
              </a:rPr>
              <a:t>14 / 15</a:t>
            </a:r>
          </a:p>
        </p:txBody>
      </p:sp>
      <p:sp>
        <p:nvSpPr>
          <p:cNvPr id="72" name="TextBox 71"/>
          <p:cNvSpPr txBox="1"/>
          <p:nvPr/>
        </p:nvSpPr>
        <p:spPr>
          <a:xfrm>
            <a:off x="457200" y="6400800"/>
            <a:ext cx="7315200" cy="274320"/>
          </a:xfrm>
          <a:prstGeom prst="rect">
            <a:avLst/>
          </a:prstGeom>
          <a:noFill/>
        </p:spPr>
        <p:txBody>
          <a:bodyPr wrap="square" lIns="0" rIns="0" tIns="0" bIns="0" anchor="t">
            <a:spAutoFit/>
          </a:bodyPr>
          <a:lstStyle/>
          <a:p>
            <a:pPr algn="l">
              <a:lnSpc>
                <a:spcPct val="115000"/>
              </a:lnSpc>
              <a:spcAft>
                <a:spcPts val="0"/>
              </a:spcAft>
            </a:pPr>
            <a:r>
              <a:rPr sz="1000" b="1" i="0">
                <a:solidFill>
                  <a:srgbClr val="5C6B7A"/>
                </a:solidFill>
                <a:latin typeface="Calibri"/>
              </a:rPr>
              <a:t>Klinik Merpati  •  Sistem Pakar Diagnosa Avian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35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137160"/>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9601200" y="-2286000"/>
            <a:ext cx="4572000" cy="4572000"/>
          </a:xfrm>
          <a:prstGeom prst="ellipse">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71600" y="5029200"/>
            <a:ext cx="3200400" cy="3200400"/>
          </a:xfrm>
          <a:prstGeom prst="ellipse">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502920"/>
            <a:ext cx="164592" cy="1645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411480"/>
            <a:ext cx="7315200" cy="320040"/>
          </a:xfrm>
          <a:prstGeom prst="rect">
            <a:avLst/>
          </a:prstGeom>
          <a:noFill/>
        </p:spPr>
        <p:txBody>
          <a:bodyPr wrap="square" lIns="0" rIns="0" tIns="0" bIns="0" anchor="t">
            <a:spAutoFit/>
          </a:bodyPr>
          <a:lstStyle/>
          <a:p>
            <a:pPr algn="l">
              <a:lnSpc>
                <a:spcPct val="115000"/>
              </a:lnSpc>
              <a:spcAft>
                <a:spcPts val="0"/>
              </a:spcAft>
            </a:pPr>
            <a:r>
              <a:rPr sz="1100" b="1" i="0">
                <a:solidFill>
                  <a:srgbClr val="E76F51"/>
                </a:solidFill>
                <a:latin typeface="Calibri"/>
              </a:rPr>
              <a:t>BAB VI  •  Penutup</a:t>
            </a:r>
          </a:p>
        </p:txBody>
      </p:sp>
      <p:sp>
        <p:nvSpPr>
          <p:cNvPr id="8" name="TextBox 7"/>
          <p:cNvSpPr txBox="1"/>
          <p:nvPr/>
        </p:nvSpPr>
        <p:spPr>
          <a:xfrm>
            <a:off x="548640" y="777240"/>
            <a:ext cx="10058400" cy="640080"/>
          </a:xfrm>
          <a:prstGeom prst="rect">
            <a:avLst/>
          </a:prstGeom>
          <a:noFill/>
        </p:spPr>
        <p:txBody>
          <a:bodyPr wrap="square" lIns="0" rIns="0" tIns="0" bIns="0" anchor="t">
            <a:spAutoFit/>
          </a:bodyPr>
          <a:lstStyle/>
          <a:p>
            <a:pPr algn="l">
              <a:lnSpc>
                <a:spcPct val="115000"/>
              </a:lnSpc>
              <a:spcAft>
                <a:spcPts val="0"/>
              </a:spcAft>
            </a:pPr>
            <a:r>
              <a:rPr sz="3200" b="1" i="0">
                <a:solidFill>
                  <a:srgbClr val="F7F3EC"/>
                </a:solidFill>
                <a:latin typeface="Georgia"/>
              </a:rPr>
              <a:t>Kesimpulan &amp; Saran</a:t>
            </a:r>
          </a:p>
        </p:txBody>
      </p:sp>
      <p:sp>
        <p:nvSpPr>
          <p:cNvPr id="9" name="Rectangle 8"/>
          <p:cNvSpPr/>
          <p:nvPr/>
        </p:nvSpPr>
        <p:spPr>
          <a:xfrm>
            <a:off x="548640" y="1691640"/>
            <a:ext cx="5394960" cy="457200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48640" y="1691640"/>
            <a:ext cx="5394960" cy="548640"/>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60" y="1691640"/>
            <a:ext cx="1828800" cy="548640"/>
          </a:xfrm>
          <a:prstGeom prst="rect">
            <a:avLst/>
          </a:prstGeom>
          <a:noFill/>
        </p:spPr>
        <p:txBody>
          <a:bodyPr wrap="square" lIns="0" rIns="0" tIns="0" bIns="0" anchor="ctr">
            <a:spAutoFit/>
          </a:bodyPr>
          <a:lstStyle/>
          <a:p>
            <a:pPr algn="l">
              <a:lnSpc>
                <a:spcPct val="115000"/>
              </a:lnSpc>
              <a:spcAft>
                <a:spcPts val="0"/>
              </a:spcAft>
            </a:pPr>
            <a:r>
              <a:rPr sz="2000" b="1" i="0">
                <a:solidFill>
                  <a:srgbClr val="093542"/>
                </a:solidFill>
                <a:latin typeface="Georgia"/>
              </a:rPr>
              <a:t>01</a:t>
            </a:r>
          </a:p>
        </p:txBody>
      </p:sp>
      <p:sp>
        <p:nvSpPr>
          <p:cNvPr id="12" name="TextBox 11"/>
          <p:cNvSpPr txBox="1"/>
          <p:nvPr/>
        </p:nvSpPr>
        <p:spPr>
          <a:xfrm>
            <a:off x="548640" y="1691640"/>
            <a:ext cx="5394960" cy="548640"/>
          </a:xfrm>
          <a:prstGeom prst="rect">
            <a:avLst/>
          </a:prstGeom>
          <a:noFill/>
        </p:spPr>
        <p:txBody>
          <a:bodyPr wrap="square" lIns="0" rIns="0" tIns="0" bIns="0" anchor="ctr">
            <a:spAutoFit/>
          </a:bodyPr>
          <a:lstStyle/>
          <a:p>
            <a:pPr algn="ctr">
              <a:lnSpc>
                <a:spcPct val="115000"/>
              </a:lnSpc>
              <a:spcAft>
                <a:spcPts val="0"/>
              </a:spcAft>
            </a:pPr>
            <a:r>
              <a:rPr sz="1800" b="1" i="0">
                <a:solidFill>
                  <a:srgbClr val="093542"/>
                </a:solidFill>
                <a:latin typeface="Georgia"/>
              </a:rPr>
              <a:t>KESIMPULAN</a:t>
            </a:r>
          </a:p>
        </p:txBody>
      </p:sp>
      <p:sp>
        <p:nvSpPr>
          <p:cNvPr id="13" name="Oval 12"/>
          <p:cNvSpPr/>
          <p:nvPr/>
        </p:nvSpPr>
        <p:spPr>
          <a:xfrm>
            <a:off x="822960" y="2606040"/>
            <a:ext cx="137160" cy="137160"/>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97280" y="2468880"/>
            <a:ext cx="4663440" cy="868680"/>
          </a:xfrm>
          <a:prstGeom prst="rect">
            <a:avLst/>
          </a:prstGeom>
          <a:noFill/>
        </p:spPr>
        <p:txBody>
          <a:bodyPr wrap="square" lIns="0" rIns="0" tIns="0" bIns="0" anchor="t">
            <a:spAutoFit/>
          </a:bodyPr>
          <a:lstStyle/>
          <a:p>
            <a:pPr algn="l">
              <a:lnSpc>
                <a:spcPct val="140000"/>
              </a:lnSpc>
              <a:spcAft>
                <a:spcPts val="0"/>
              </a:spcAft>
            </a:pPr>
            <a:r>
              <a:rPr sz="1100" b="0" i="0">
                <a:solidFill>
                  <a:srgbClr val="1B263B"/>
                </a:solidFill>
                <a:latin typeface="Calibri"/>
              </a:rPr>
              <a:t>Sistem pakar Klinik Merpati berhasil dibangun berbasis web dengan PHP dan MySQL.</a:t>
            </a:r>
          </a:p>
        </p:txBody>
      </p:sp>
      <p:sp>
        <p:nvSpPr>
          <p:cNvPr id="15" name="Oval 14"/>
          <p:cNvSpPr/>
          <p:nvPr/>
        </p:nvSpPr>
        <p:spPr>
          <a:xfrm>
            <a:off x="822960" y="3474720"/>
            <a:ext cx="137160" cy="137160"/>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097280" y="3337560"/>
            <a:ext cx="4663440" cy="868680"/>
          </a:xfrm>
          <a:prstGeom prst="rect">
            <a:avLst/>
          </a:prstGeom>
          <a:noFill/>
        </p:spPr>
        <p:txBody>
          <a:bodyPr wrap="square" lIns="0" rIns="0" tIns="0" bIns="0" anchor="t">
            <a:spAutoFit/>
          </a:bodyPr>
          <a:lstStyle/>
          <a:p>
            <a:pPr algn="l">
              <a:lnSpc>
                <a:spcPct val="140000"/>
              </a:lnSpc>
              <a:spcAft>
                <a:spcPts val="0"/>
              </a:spcAft>
            </a:pPr>
            <a:r>
              <a:rPr sz="1100" b="0" i="0">
                <a:solidFill>
                  <a:srgbClr val="1B263B"/>
                </a:solidFill>
                <a:latin typeface="Calibri"/>
              </a:rPr>
              <a:t>Metode Forward Chaining terbukti efektif dalam mencocokkan gejala dengan basis aturan untuk menghasilkan diagnosa.</a:t>
            </a:r>
          </a:p>
        </p:txBody>
      </p:sp>
      <p:sp>
        <p:nvSpPr>
          <p:cNvPr id="17" name="Oval 16"/>
          <p:cNvSpPr/>
          <p:nvPr/>
        </p:nvSpPr>
        <p:spPr>
          <a:xfrm>
            <a:off x="822960" y="4343400"/>
            <a:ext cx="137160" cy="137160"/>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97280" y="4206240"/>
            <a:ext cx="4663440" cy="868680"/>
          </a:xfrm>
          <a:prstGeom prst="rect">
            <a:avLst/>
          </a:prstGeom>
          <a:noFill/>
        </p:spPr>
        <p:txBody>
          <a:bodyPr wrap="square" lIns="0" rIns="0" tIns="0" bIns="0" anchor="t">
            <a:spAutoFit/>
          </a:bodyPr>
          <a:lstStyle/>
          <a:p>
            <a:pPr algn="l">
              <a:lnSpc>
                <a:spcPct val="140000"/>
              </a:lnSpc>
              <a:spcAft>
                <a:spcPts val="0"/>
              </a:spcAft>
            </a:pPr>
            <a:r>
              <a:rPr sz="1100" b="0" i="0">
                <a:solidFill>
                  <a:srgbClr val="1B263B"/>
                </a:solidFill>
                <a:latin typeface="Calibri"/>
              </a:rPr>
              <a:t>Seluruh 19 skenario pengujian Black-Box menunjukkan hasil BERHASIL dengan tingkat validitas yang baik.</a:t>
            </a:r>
          </a:p>
        </p:txBody>
      </p:sp>
      <p:sp>
        <p:nvSpPr>
          <p:cNvPr id="19" name="Oval 18"/>
          <p:cNvSpPr/>
          <p:nvPr/>
        </p:nvSpPr>
        <p:spPr>
          <a:xfrm>
            <a:off x="822960" y="5212080"/>
            <a:ext cx="137160" cy="137160"/>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97280" y="5074920"/>
            <a:ext cx="4663440" cy="868680"/>
          </a:xfrm>
          <a:prstGeom prst="rect">
            <a:avLst/>
          </a:prstGeom>
          <a:noFill/>
        </p:spPr>
        <p:txBody>
          <a:bodyPr wrap="square" lIns="0" rIns="0" tIns="0" bIns="0" anchor="t">
            <a:spAutoFit/>
          </a:bodyPr>
          <a:lstStyle/>
          <a:p>
            <a:pPr algn="l">
              <a:lnSpc>
                <a:spcPct val="140000"/>
              </a:lnSpc>
              <a:spcAft>
                <a:spcPts val="0"/>
              </a:spcAft>
            </a:pPr>
            <a:r>
              <a:rPr sz="1100" b="0" i="0">
                <a:solidFill>
                  <a:srgbClr val="1B263B"/>
                </a:solidFill>
                <a:latin typeface="Calibri"/>
              </a:rPr>
              <a:t>Sistem mampu membantu peternak merpati melakukan deteksi dini secara mandiri, cepat, dan konsisten.</a:t>
            </a:r>
          </a:p>
        </p:txBody>
      </p:sp>
      <p:sp>
        <p:nvSpPr>
          <p:cNvPr id="21" name="Rectangle 20"/>
          <p:cNvSpPr/>
          <p:nvPr/>
        </p:nvSpPr>
        <p:spPr>
          <a:xfrm>
            <a:off x="6217920" y="1691640"/>
            <a:ext cx="5394960" cy="457200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17920" y="1691640"/>
            <a:ext cx="5394960" cy="54864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492240" y="1691640"/>
            <a:ext cx="1828800" cy="548640"/>
          </a:xfrm>
          <a:prstGeom prst="rect">
            <a:avLst/>
          </a:prstGeom>
          <a:noFill/>
        </p:spPr>
        <p:txBody>
          <a:bodyPr wrap="square" lIns="0" rIns="0" tIns="0" bIns="0" anchor="ctr">
            <a:spAutoFit/>
          </a:bodyPr>
          <a:lstStyle/>
          <a:p>
            <a:pPr algn="l">
              <a:lnSpc>
                <a:spcPct val="115000"/>
              </a:lnSpc>
              <a:spcAft>
                <a:spcPts val="0"/>
              </a:spcAft>
            </a:pPr>
            <a:r>
              <a:rPr sz="2000" b="1" i="0">
                <a:solidFill>
                  <a:srgbClr val="F7F3EC"/>
                </a:solidFill>
                <a:latin typeface="Georgia"/>
              </a:rPr>
              <a:t>02</a:t>
            </a:r>
          </a:p>
        </p:txBody>
      </p:sp>
      <p:sp>
        <p:nvSpPr>
          <p:cNvPr id="24" name="TextBox 23"/>
          <p:cNvSpPr txBox="1"/>
          <p:nvPr/>
        </p:nvSpPr>
        <p:spPr>
          <a:xfrm>
            <a:off x="6217920" y="1691640"/>
            <a:ext cx="5394960" cy="548640"/>
          </a:xfrm>
          <a:prstGeom prst="rect">
            <a:avLst/>
          </a:prstGeom>
          <a:noFill/>
        </p:spPr>
        <p:txBody>
          <a:bodyPr wrap="square" lIns="0" rIns="0" tIns="0" bIns="0" anchor="ctr">
            <a:spAutoFit/>
          </a:bodyPr>
          <a:lstStyle/>
          <a:p>
            <a:pPr algn="ctr">
              <a:lnSpc>
                <a:spcPct val="115000"/>
              </a:lnSpc>
              <a:spcAft>
                <a:spcPts val="0"/>
              </a:spcAft>
            </a:pPr>
            <a:r>
              <a:rPr sz="1800" b="1" i="0">
                <a:solidFill>
                  <a:srgbClr val="F7F3EC"/>
                </a:solidFill>
                <a:latin typeface="Georgia"/>
              </a:rPr>
              <a:t>SARAN PENGEMBANGAN</a:t>
            </a:r>
          </a:p>
        </p:txBody>
      </p:sp>
      <p:sp>
        <p:nvSpPr>
          <p:cNvPr id="25" name="Oval 24"/>
          <p:cNvSpPr/>
          <p:nvPr/>
        </p:nvSpPr>
        <p:spPr>
          <a:xfrm>
            <a:off x="6492240" y="2606040"/>
            <a:ext cx="137160" cy="137160"/>
          </a:xfrm>
          <a:prstGeom prst="ellipse">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766560" y="2468880"/>
            <a:ext cx="4663440" cy="868680"/>
          </a:xfrm>
          <a:prstGeom prst="rect">
            <a:avLst/>
          </a:prstGeom>
          <a:noFill/>
        </p:spPr>
        <p:txBody>
          <a:bodyPr wrap="square" lIns="0" rIns="0" tIns="0" bIns="0" anchor="t">
            <a:spAutoFit/>
          </a:bodyPr>
          <a:lstStyle/>
          <a:p>
            <a:pPr algn="l">
              <a:lnSpc>
                <a:spcPct val="140000"/>
              </a:lnSpc>
              <a:spcAft>
                <a:spcPts val="0"/>
              </a:spcAft>
            </a:pPr>
            <a:r>
              <a:rPr sz="1100" b="0" i="0">
                <a:solidFill>
                  <a:srgbClr val="1B263B"/>
                </a:solidFill>
                <a:latin typeface="Calibri"/>
              </a:rPr>
              <a:t>Penambahan jumlah penyakit dan gejala pada basis pengetahuan untuk cakupan yang lebih luas.</a:t>
            </a:r>
          </a:p>
        </p:txBody>
      </p:sp>
      <p:sp>
        <p:nvSpPr>
          <p:cNvPr id="27" name="Oval 26"/>
          <p:cNvSpPr/>
          <p:nvPr/>
        </p:nvSpPr>
        <p:spPr>
          <a:xfrm>
            <a:off x="6492240" y="3474720"/>
            <a:ext cx="137160" cy="137160"/>
          </a:xfrm>
          <a:prstGeom prst="ellipse">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766560" y="3337560"/>
            <a:ext cx="4663440" cy="868680"/>
          </a:xfrm>
          <a:prstGeom prst="rect">
            <a:avLst/>
          </a:prstGeom>
          <a:noFill/>
        </p:spPr>
        <p:txBody>
          <a:bodyPr wrap="square" lIns="0" rIns="0" tIns="0" bIns="0" anchor="t">
            <a:spAutoFit/>
          </a:bodyPr>
          <a:lstStyle/>
          <a:p>
            <a:pPr algn="l">
              <a:lnSpc>
                <a:spcPct val="140000"/>
              </a:lnSpc>
              <a:spcAft>
                <a:spcPts val="0"/>
              </a:spcAft>
            </a:pPr>
            <a:r>
              <a:rPr sz="1100" b="0" i="0">
                <a:solidFill>
                  <a:srgbClr val="1B263B"/>
                </a:solidFill>
                <a:latin typeface="Calibri"/>
              </a:rPr>
              <a:t>Implementasi metode Certainty Factor untuk menangani ketidakpastian dalam diagnosa.</a:t>
            </a:r>
          </a:p>
        </p:txBody>
      </p:sp>
      <p:sp>
        <p:nvSpPr>
          <p:cNvPr id="29" name="Oval 28"/>
          <p:cNvSpPr/>
          <p:nvPr/>
        </p:nvSpPr>
        <p:spPr>
          <a:xfrm>
            <a:off x="6492240" y="4343400"/>
            <a:ext cx="137160" cy="137160"/>
          </a:xfrm>
          <a:prstGeom prst="ellipse">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766560" y="4206240"/>
            <a:ext cx="4663440" cy="868680"/>
          </a:xfrm>
          <a:prstGeom prst="rect">
            <a:avLst/>
          </a:prstGeom>
          <a:noFill/>
        </p:spPr>
        <p:txBody>
          <a:bodyPr wrap="square" lIns="0" rIns="0" tIns="0" bIns="0" anchor="t">
            <a:spAutoFit/>
          </a:bodyPr>
          <a:lstStyle/>
          <a:p>
            <a:pPr algn="l">
              <a:lnSpc>
                <a:spcPct val="140000"/>
              </a:lnSpc>
              <a:spcAft>
                <a:spcPts val="0"/>
              </a:spcAft>
            </a:pPr>
            <a:r>
              <a:rPr sz="1100" b="0" i="0">
                <a:solidFill>
                  <a:srgbClr val="1B263B"/>
                </a:solidFill>
                <a:latin typeface="Calibri"/>
              </a:rPr>
              <a:t>Pengembangan aplikasi mobile berbasis Android atau iOS agar lebih mudah diakses di lapangan.</a:t>
            </a:r>
          </a:p>
        </p:txBody>
      </p:sp>
      <p:sp>
        <p:nvSpPr>
          <p:cNvPr id="31" name="Oval 30"/>
          <p:cNvSpPr/>
          <p:nvPr/>
        </p:nvSpPr>
        <p:spPr>
          <a:xfrm>
            <a:off x="6492240" y="5212080"/>
            <a:ext cx="137160" cy="137160"/>
          </a:xfrm>
          <a:prstGeom prst="ellipse">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766560" y="5074920"/>
            <a:ext cx="4663440" cy="868680"/>
          </a:xfrm>
          <a:prstGeom prst="rect">
            <a:avLst/>
          </a:prstGeom>
          <a:noFill/>
        </p:spPr>
        <p:txBody>
          <a:bodyPr wrap="square" lIns="0" rIns="0" tIns="0" bIns="0" anchor="t">
            <a:spAutoFit/>
          </a:bodyPr>
          <a:lstStyle/>
          <a:p>
            <a:pPr algn="l">
              <a:lnSpc>
                <a:spcPct val="140000"/>
              </a:lnSpc>
              <a:spcAft>
                <a:spcPts val="0"/>
              </a:spcAft>
            </a:pPr>
            <a:r>
              <a:rPr sz="1100" b="0" i="0">
                <a:solidFill>
                  <a:srgbClr val="1B263B"/>
                </a:solidFill>
                <a:latin typeface="Calibri"/>
              </a:rPr>
              <a:t>Integrasi dengan basis data veteriner nasional dan fitur tele-konsultasi dengan dokter hewan.</a:t>
            </a:r>
          </a:p>
        </p:txBody>
      </p:sp>
      <p:sp>
        <p:nvSpPr>
          <p:cNvPr id="33" name="Rectangle 32"/>
          <p:cNvSpPr/>
          <p:nvPr/>
        </p:nvSpPr>
        <p:spPr>
          <a:xfrm>
            <a:off x="0" y="6217920"/>
            <a:ext cx="12191695" cy="640080"/>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6217920"/>
            <a:ext cx="7315200" cy="640080"/>
          </a:xfrm>
          <a:prstGeom prst="rect">
            <a:avLst/>
          </a:prstGeom>
          <a:noFill/>
        </p:spPr>
        <p:txBody>
          <a:bodyPr wrap="square" lIns="0" rIns="0" tIns="0" bIns="0" anchor="ctr">
            <a:spAutoFit/>
          </a:bodyPr>
          <a:lstStyle/>
          <a:p>
            <a:pPr algn="l">
              <a:lnSpc>
                <a:spcPct val="115000"/>
              </a:lnSpc>
              <a:spcAft>
                <a:spcPts val="0"/>
              </a:spcAft>
            </a:pPr>
            <a:r>
              <a:rPr sz="1800" b="1" i="0">
                <a:solidFill>
                  <a:srgbClr val="093542"/>
                </a:solidFill>
                <a:latin typeface="Georgia"/>
              </a:rPr>
              <a:t>TERIMA KASIH  •  Thank You</a:t>
            </a:r>
          </a:p>
        </p:txBody>
      </p:sp>
      <p:sp>
        <p:nvSpPr>
          <p:cNvPr id="35" name="TextBox 34"/>
          <p:cNvSpPr txBox="1"/>
          <p:nvPr/>
        </p:nvSpPr>
        <p:spPr>
          <a:xfrm>
            <a:off x="7772400" y="6217920"/>
            <a:ext cx="3931920" cy="640080"/>
          </a:xfrm>
          <a:prstGeom prst="rect">
            <a:avLst/>
          </a:prstGeom>
          <a:noFill/>
        </p:spPr>
        <p:txBody>
          <a:bodyPr wrap="square" lIns="0" rIns="0" tIns="0" bIns="0" anchor="ctr">
            <a:spAutoFit/>
          </a:bodyPr>
          <a:lstStyle/>
          <a:p>
            <a:pPr algn="r">
              <a:lnSpc>
                <a:spcPct val="115000"/>
              </a:lnSpc>
              <a:spcAft>
                <a:spcPts val="0"/>
              </a:spcAft>
            </a:pPr>
            <a:r>
              <a:rPr sz="1100" b="1" i="0">
                <a:solidFill>
                  <a:srgbClr val="093542"/>
                </a:solidFill>
                <a:latin typeface="Calibri"/>
              </a:rPr>
              <a:t>Klinik Merpati  •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